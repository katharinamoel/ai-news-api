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eCcb7lwIcyl4/PIscwHCOHP0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4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python.datalumina.com/getting-started/interactive-python#interactive-pyth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github.com/lindseypeng/ai-news-api/tree/week-2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github.com/openai/openai-pytho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hyperlink" Target="https://openai.com/index/our-approach-to-the-model-spec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penai.com/api/pricing/" TargetMode="External"/><Relationship Id="rId4" Type="http://schemas.openxmlformats.org/officeDocument/2006/relationships/hyperlink" Target="https://llmpricecheck.com/calculator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x.com/gdb/status/187848968170231039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s.openai.com/api/docs/guides/prompt-generati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5" Type="http://schemas.openxmlformats.org/officeDocument/2006/relationships/image" Target="../media/image41.png"/><Relationship Id="rId6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5" Type="http://schemas.openxmlformats.org/officeDocument/2006/relationships/image" Target="../media/image41.png"/><Relationship Id="rId6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822960"/>
            <a:ext cx="3108960" cy="310896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openai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4238" y="78638"/>
            <a:ext cx="1305763" cy="130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BUILD &amp; LEARN · DATA SCIENCE SATURDAYS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Engineering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0632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WEEK 2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Setup   ·   OpenAI API   ·   Prompt Engineering   ·   Tokens   ·   Structured Output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22960" y="4892040"/>
            <a:ext cx="3108960" cy="0"/>
          </a:xfrm>
          <a:prstGeom prst="straightConnector1">
            <a:avLst/>
          </a:prstGeom>
          <a:noFill/>
          <a:ln cap="flat" cmpd="sng" w="12700">
            <a:solidFill>
              <a:srgbClr val="3A47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822960" y="5074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Saturday · 10:00–12:00 · Octopus Bar, Berlin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D2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7D2DE"/>
                </a:solidFill>
                <a:latin typeface="Calibri"/>
                <a:ea typeface="Calibri"/>
                <a:cs typeface="Calibri"/>
                <a:sym typeface="Calibri"/>
              </a:rPr>
              <a:t>Hosted by Lindsey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640080" y="457200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Week 2 Roadmap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08760"/>
            <a:ext cx="2103000" cy="26061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68680" y="1673352"/>
            <a:ext cx="1645800" cy="274200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95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8680" y="16733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2057400"/>
            <a:ext cx="731400" cy="7314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terminal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749808" y="2926080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4672" y="3429000"/>
            <a:ext cx="177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Notebooks, new libraries, playground scripts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880360" y="1508760"/>
            <a:ext cx="2103000" cy="26061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108960" y="1673352"/>
            <a:ext cx="1645800" cy="274200"/>
          </a:xfrm>
          <a:prstGeom prst="roundRect">
            <a:avLst>
              <a:gd fmla="val 50000" name="adj"/>
            </a:avLst>
          </a:prstGeom>
          <a:solidFill>
            <a:srgbClr val="FDF1DC"/>
          </a:solidFill>
          <a:ln cap="flat" cmpd="sng" w="9525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108960" y="16733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50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5750A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566160" y="2057400"/>
            <a:ext cx="731400" cy="7314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openai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2990088" y="2926080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OpenAI &amp; Prompt Engineering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044952" y="3429000"/>
            <a:ext cx="177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API basics, tokens, structured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120640" y="1508760"/>
            <a:ext cx="2103000" cy="26061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349240" y="1673352"/>
            <a:ext cx="1645800" cy="274200"/>
          </a:xfrm>
          <a:prstGeom prst="roundRect">
            <a:avLst>
              <a:gd fmla="val 50000" name="adj"/>
            </a:avLst>
          </a:prstGeom>
          <a:solidFill>
            <a:srgbClr val="EDEFF2"/>
          </a:solidFill>
          <a:ln cap="flat" cmpd="sng" w="9525">
            <a:solidFill>
              <a:srgbClr val="9AA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349240" y="16733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COMING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806440" y="2057400"/>
            <a:ext cx="731400" cy="7314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pider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932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230368" y="2926080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Build a Scraping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285232" y="3429000"/>
            <a:ext cx="177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Collect the raw data we'll transform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223745" y="1508760"/>
            <a:ext cx="2103000" cy="26061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452345" y="1673352"/>
            <a:ext cx="1645800" cy="274200"/>
          </a:xfrm>
          <a:prstGeom prst="roundRect">
            <a:avLst>
              <a:gd fmla="val 50000" name="adj"/>
            </a:avLst>
          </a:prstGeom>
          <a:solidFill>
            <a:srgbClr val="EDEFF2"/>
          </a:solidFill>
          <a:ln cap="flat" cmpd="sng" w="9525">
            <a:solidFill>
              <a:srgbClr val="9AA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452345" y="16733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COMING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909545" y="2057400"/>
            <a:ext cx="731400" cy="7314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ilealt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425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7333473" y="2926080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Data Contracts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924812" y="6172200"/>
            <a:ext cx="177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Define the shared NewsItem schema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464025" y="1508760"/>
            <a:ext cx="2103000" cy="2606100"/>
          </a:xfrm>
          <a:prstGeom prst="roundRect">
            <a:avLst>
              <a:gd fmla="val 347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9692625" y="1673352"/>
            <a:ext cx="1645800" cy="274200"/>
          </a:xfrm>
          <a:prstGeom prst="roundRect">
            <a:avLst>
              <a:gd fmla="val 50000" name="adj"/>
            </a:avLst>
          </a:prstGeom>
          <a:solidFill>
            <a:srgbClr val="EDEFF2"/>
          </a:solidFill>
          <a:ln cap="flat" cmpd="sng" w="9525">
            <a:solidFill>
              <a:srgbClr val="9AA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692625" y="1673352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COMING 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0149825" y="2057400"/>
            <a:ext cx="731400" cy="7314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and.png" id="62" name="Google Shape;6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32705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9573753" y="2926080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LLM Transformation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165092" y="6172200"/>
            <a:ext cx="177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Summarize &amp; tag with LLM calls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640080" y="457200"/>
            <a:ext cx="1078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The Big Idea This Week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1463040"/>
            <a:ext cx="10881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We're learning to make LLM calls that transform our data — turning raw scraped articles into clean summaries and tags. </a:t>
            </a:r>
            <a:b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We will go over the key concepts</a:t>
            </a:r>
            <a:r>
              <a:rPr b="1" lang="en-US" sz="1700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 in the first half, and </a:t>
            </a:r>
            <a:r>
              <a:rPr b="1" lang="en-US" sz="17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YOU will be building out YOUR workflow and agent. </a:t>
            </a:r>
            <a:endParaRPr b="0" i="0" sz="1700" u="none" cap="none" strike="noStrike">
              <a:solidFill>
                <a:srgbClr val="CC41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3667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316736" y="3291840"/>
            <a:ext cx="640200" cy="6402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ss.png"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75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90982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External 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436876" y="3703320"/>
            <a:ext cx="18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61975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099816" y="3291840"/>
            <a:ext cx="640200" cy="6402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pider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983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269290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Scrapers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219956" y="3703320"/>
            <a:ext cx="18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40283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882896" y="3291840"/>
            <a:ext cx="640200" cy="6402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huffle.png" id="86" name="Google Shape;8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291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447598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03036" y="3703320"/>
            <a:ext cx="18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18591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DF1DC"/>
          </a:solidFill>
          <a:ln cap="flat" cmpd="sng" w="1905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6665976" y="3291840"/>
            <a:ext cx="640200" cy="640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and.png" id="91" name="Google Shape;9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599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625906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LLM Enrichment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786116" y="3703320"/>
            <a:ext cx="18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96899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449056" y="3291840"/>
            <a:ext cx="640200" cy="6402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ostgresql.png" id="96" name="Google Shape;9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0907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804214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569196" y="3703320"/>
            <a:ext cx="18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9752076" y="3108960"/>
            <a:ext cx="1600200" cy="155460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10232136" y="3291840"/>
            <a:ext cx="640200" cy="6402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fastapi.png" id="101" name="Google Shape;10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92156" y="34518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9825228" y="4023360"/>
            <a:ext cx="145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36676" y="493776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week, we zoom into this one step.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71625" y="2930775"/>
            <a:ext cx="7180500" cy="1862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8897112" y="3566160"/>
            <a:ext cx="2743200" cy="274320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terminal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344" y="4279392"/>
            <a:ext cx="1316736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More Setup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Work Interactively: Notebooks in Your IDE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de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To test code and work through homework examples, it's much easier to use an interactive, Jupyter-style notebook inside your IDE instead of running whole scripts at once.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600200" y="324612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IF YOU'RE USING CURSOR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600200" y="353872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Interactive Python in Cursor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Install a Few New Libraries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ubes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This week we're adding a few libraries we haven't used yet.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600200" y="3246120"/>
            <a:ext cx="9875520" cy="1600200"/>
          </a:xfrm>
          <a:prstGeom prst="roundRect">
            <a:avLst>
              <a:gd fmla="val 457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828800" y="363016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uv add openai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uv add python-dotenv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uv add pydantic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Confirm Your .env + OpenAI Key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key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Make sure you have a local .env file — already in .gitignore — with your OpenAI key added.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600200" y="3246120"/>
            <a:ext cx="9875520" cy="1005840"/>
          </a:xfrm>
          <a:prstGeom prst="roundRect">
            <a:avLst>
              <a:gd fmla="val 7273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828800" y="363016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OPENAI_API_KEY=sk-...your-key-here...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600200" y="457200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828800" y="457200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covered this in Week 1 — just double-check it's still there before we start making API calls.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Grab the Week 2 Playground Scripts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debranch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You can manually c</a:t>
            </a: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opy the sample scripts from the repo and run them interactively in your notebook</a:t>
            </a:r>
            <a:r>
              <a:rPr lang="en-US" sz="1500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, or checkout week 2 branch (not recommended). </a:t>
            </a: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The goal is to get familiar with these commands by running them yourself and seeing the output.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600200" y="3246120"/>
            <a:ext cx="9875520" cy="1417320"/>
          </a:xfrm>
          <a:prstGeom prst="roundRect">
            <a:avLst>
              <a:gd fmla="val 516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783080" y="33924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947672" y="33924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112264" y="33924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828800" y="3630168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already have the repo?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git checkout week-2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starting fresh?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$ git clone -b week-2 https://github.com/lindseypeng/ai-news-api.git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600200" y="498348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PLAYGROUND SCRIPTS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600200" y="527608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 the Week 2 branch on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8897112" y="3566160"/>
            <a:ext cx="2743200" cy="274320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openai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344" y="4279392"/>
            <a:ext cx="1316736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OpenAI API &amp; Prompt Engineering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OPENAI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What Is the OpenAI API?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822960" y="178308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openai.png" id="214" name="Google Shape;2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13969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4297680" y="1783080"/>
            <a:ext cx="7223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The OpenAI API gives you access to OpenAI's models through a simple HTTP interface — so you can integrate AI capabilities directly into your own applications.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297680" y="2743200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 supports a wide range of use cases — from natural language understanding and generation, to code completion, to image creation.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297680" y="39319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SDK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297680" y="422452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Official Python SDK (GitHub)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OPENAI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Python SDK: Core Concepts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key.png"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18608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1645920" y="169164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Authentication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Your API key authenticates requests and tracks usage for billing.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lug.png" id="232" name="Google Shape;2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404" y="29123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1645920" y="274320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Client Setup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Initialize a client object that handles communication with the API.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layergroup.png" id="235" name="Google Shape;23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39639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1645920" y="379476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Model Selection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Different models trade off performance, capability, and cost.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mments.png" id="238" name="Google Shape;23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" y="5015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1645920" y="484632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Messages &amp; Roles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System </a:t>
            </a: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developer), user, and assistant messages structure every conversation.(</a:t>
            </a: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Chain of Command</a:t>
            </a: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OPENAI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Python SDK: Control &amp; Extensibility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liders.png"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18608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1645920" y="169164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Parameters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Temperature, max_tokens, and others shape the model's behavior.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oins.png" id="253" name="Google Shape;25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404" y="29123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/>
          <p:nvPr/>
        </p:nvSpPr>
        <p:spPr>
          <a:xfrm>
            <a:off x="1645920" y="274320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Token Management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Tokens are the units you're billed for — and limited by.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wrench.png" id="256" name="Google Shape;25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39639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1645920" y="379476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Function Calling / Tools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Let the model call your own code or external services.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uzzlepiece.png" id="259" name="Google Shape;25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" y="5015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1645920" y="4846320"/>
            <a:ext cx="9902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Structured Output  —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Forces the model's response to match a JSON Schema you define.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OPENAI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Two Ways to Call the Responses 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0080" y="155448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MESSAGE ARRAY — EXPLICIT ROLES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40080" y="1874520"/>
            <a:ext cx="5257800" cy="2834640"/>
          </a:xfrm>
          <a:prstGeom prst="roundRect">
            <a:avLst>
              <a:gd fmla="val 258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822960" y="20208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987552" y="20208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152144" y="20208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868680" y="2258568"/>
            <a:ext cx="48006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client.responses.create(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model="gpt-4o",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input=[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{"role": "developer",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"content": "Talk like a pirate."},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{"role": "user",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"content": "Are semicolons optional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in JavaScript?"},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],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263640" y="155448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INSTRUCTIONS SHORTHAND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263640" y="1874520"/>
            <a:ext cx="5257800" cy="2834640"/>
          </a:xfrm>
          <a:prstGeom prst="roundRect">
            <a:avLst>
              <a:gd fmla="val 2581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6446520" y="202082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6611112" y="202082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6775704" y="202082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6492240" y="2258568"/>
            <a:ext cx="48006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client.responses.create(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model="gpt-4o",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instructions="Talk like a pirate.",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input="Are semicolons optional in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JavaScript?",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4983480"/>
            <a:ext cx="10881360" cy="594360"/>
          </a:xfrm>
          <a:prstGeom prst="roundRect">
            <a:avLst>
              <a:gd fmla="val 12308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868680" y="498348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Try both yourself in ai-news-api/week2/openai-quickstart.py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OPENAI BASICS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Structured Output: Guaranteed JSON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Structured Output forces the model's response to match a schema you define — no more parsing messy text by hand. Two ways to define that schema: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640080" y="210312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APPROACH 1 — RAW JSON SCHEMA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40080" y="2423160"/>
            <a:ext cx="5257800" cy="2971800"/>
          </a:xfrm>
          <a:prstGeom prst="roundRect">
            <a:avLst>
              <a:gd fmla="val 2462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822960" y="25694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987552" y="25694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1152144" y="25694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868680" y="2807208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client.responses.create(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model="gpt-4o",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input=[...],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text={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"format":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"type": "json_schema",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"name": "calendar_event",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"schema": {...},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"strict": True,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event = json.loads(response.output_text)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263640" y="210312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APPROACH 2 — PYDANTIC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263640" y="2423160"/>
            <a:ext cx="5257800" cy="2971800"/>
          </a:xfrm>
          <a:prstGeom prst="roundRect">
            <a:avLst>
              <a:gd fmla="val 2462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46520" y="25694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6611112" y="25694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6775704" y="25694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492240" y="2807208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class CalendarEvent(BaseModel):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date: str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participants: List[str]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client.responses.parse(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model="gpt-4o",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input="...",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text_format=CalendarEvent,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event = response.output[0].content[0].parsed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40080" y="5577840"/>
            <a:ext cx="10881360" cy="548640"/>
          </a:xfrm>
          <a:prstGeom prst="roundRect">
            <a:avLst>
              <a:gd fmla="val 13333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868680" y="55778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 it yourself: copy structured_output.py from the repo and run it in your notebook.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STRUCTURED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Pydantic: Type-Safe Data Models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dantic.png" id="318" name="Google Shape;3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04825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4297680" y="1691640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Pydantic uses ordinary Python type hints to define a schema — then validates, parses, and serializes data against it automatically.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297680" y="2606040"/>
            <a:ext cx="7223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Give it a class with typed fields, and it becomes a contract: valid data flows through, invalid data raises a clear error immediately — exactly what you want when an LLM is the one producing the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640080" y="3611880"/>
            <a:ext cx="10908792" cy="2103120"/>
          </a:xfrm>
          <a:prstGeom prst="roundRect">
            <a:avLst>
              <a:gd fmla="val 3478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822960" y="375818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987552" y="375818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1152144" y="375818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68680" y="3995928"/>
            <a:ext cx="1045159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class User(BaseModel):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id: 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user = User(id=1, name="John Doe")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print(user)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3DD68C"/>
                </a:solidFill>
                <a:latin typeface="Courier New"/>
                <a:ea typeface="Courier New"/>
                <a:cs typeface="Courier New"/>
                <a:sym typeface="Courier New"/>
              </a:rPr>
              <a:t># id=1 name='John Doe'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40080" y="5897880"/>
            <a:ext cx="10908792" cy="457200"/>
          </a:xfrm>
          <a:prstGeom prst="roundRect">
            <a:avLst>
              <a:gd fmla="val 160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868680" y="5897880"/>
            <a:ext cx="104515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2A38"/>
                </a:solidFill>
                <a:latin typeface="Courier New"/>
                <a:ea typeface="Courier New"/>
                <a:cs typeface="Courier New"/>
                <a:sym typeface="Courier New"/>
              </a:rPr>
              <a:t>$ uv add pydantic</a:t>
            </a: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 already used throughout the OpenAI examples on the previous slide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STRUCTURED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Pydantic: Common Field Types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40080" y="1417320"/>
            <a:ext cx="10908792" cy="868680"/>
          </a:xfrm>
          <a:prstGeom prst="roundRect">
            <a:avLst>
              <a:gd fmla="val 842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868680" y="1572768"/>
            <a:ext cx="566928" cy="566928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croll.png" id="339" name="Google Shape;3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239" y="170032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6"/>
          <p:cNvSpPr/>
          <p:nvPr/>
        </p:nvSpPr>
        <p:spPr>
          <a:xfrm>
            <a:off x="1691640" y="1527048"/>
            <a:ext cx="37947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String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Free-form text — optionally constrained with a regex pattern.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5669280" y="1417320"/>
            <a:ext cx="5605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email: str = Field(..., pattern=r"^\S+@\S+\.\S+$")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640080" y="2423160"/>
            <a:ext cx="10908792" cy="868680"/>
          </a:xfrm>
          <a:prstGeom prst="roundRect">
            <a:avLst>
              <a:gd fmla="val 842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868680" y="2578608"/>
            <a:ext cx="566928" cy="566928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hashtag.png" id="344" name="Google Shape;3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239" y="270616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/>
          <p:nvPr/>
        </p:nvSpPr>
        <p:spPr>
          <a:xfrm>
            <a:off x="1691640" y="2532888"/>
            <a:ext cx="37947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Numeric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 / float, with optional bounds (ge, le, gt, lt).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669280" y="2423160"/>
            <a:ext cx="5605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age: int = Field(..., gt=0, lt=120)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640080" y="3429000"/>
            <a:ext cx="10908792" cy="868680"/>
          </a:xfrm>
          <a:prstGeom prst="roundRect">
            <a:avLst>
              <a:gd fmla="val 842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868680" y="3584448"/>
            <a:ext cx="566928" cy="566928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check.png" id="349" name="Google Shape;3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6239" y="371200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/>
          <p:nvPr/>
        </p:nvSpPr>
        <p:spPr>
          <a:xfrm>
            <a:off x="1691640" y="3538728"/>
            <a:ext cx="37947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Boolean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True / False, with an optional default value.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5669280" y="3429000"/>
            <a:ext cx="5605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has_subscription: bool = 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640080" y="4434840"/>
            <a:ext cx="10908792" cy="868680"/>
          </a:xfrm>
          <a:prstGeom prst="roundRect">
            <a:avLst>
              <a:gd fmla="val 842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68680" y="4590288"/>
            <a:ext cx="566928" cy="566928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ute.png" id="354" name="Google Shape;3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239" y="471784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/>
          <p:nvPr/>
        </p:nvSpPr>
        <p:spPr>
          <a:xfrm>
            <a:off x="1691640" y="4544568"/>
            <a:ext cx="37947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Literal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Restricts a field to a fixed, known set of values.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669280" y="4434840"/>
            <a:ext cx="5605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status: Literal["pending", "approved", "rejected"]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fmla="val 842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868680" y="5596128"/>
            <a:ext cx="566928" cy="566928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itemap.png" id="359" name="Google Shape;3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239" y="572368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6"/>
          <p:cNvSpPr/>
          <p:nvPr/>
        </p:nvSpPr>
        <p:spPr>
          <a:xfrm>
            <a:off x="1691640" y="5550408"/>
            <a:ext cx="37947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collection of items, optionally length-constrained.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5669280" y="5440680"/>
            <a:ext cx="5605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tags: List[str] = Field(..., min_length=2)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STRUCTURED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Composing Models for LLM Output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Models nest inside each other — build small, reusable pieces and combine them into the shape you actually want the LLM to return.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640080" y="210312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NESTED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40080" y="2423160"/>
            <a:ext cx="5257800" cy="2971800"/>
          </a:xfrm>
          <a:prstGeom prst="roundRect">
            <a:avLst>
              <a:gd fmla="val 2462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822960" y="25694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987552" y="25694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1152144" y="25694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868680" y="2807208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class Product(BaseModel):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name: str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price: float = Field(..., gt=0)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in_stock: bool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class ProductRecommendation(BaseModel):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user_query: str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recommended_products: List[Product]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reasoning: str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6263640" y="2103120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VALIDATED OUTPUT (JSON)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6263640" y="2423160"/>
            <a:ext cx="5257800" cy="2971800"/>
          </a:xfrm>
          <a:prstGeom prst="roundRect">
            <a:avLst>
              <a:gd fmla="val 2462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6446520" y="25694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6611112" y="25694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6775704" y="25694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6492240" y="2807208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"user_query": "gaming laptop under $2000",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"recommended_products": 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"name": "GamerBook Pro",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"price": 1899.99,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      "in_stock": 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"reasoning": "Matches budget and gaming needs"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640080" y="5577840"/>
            <a:ext cx="10881360" cy="548640"/>
          </a:xfrm>
          <a:prstGeom prst="roundRect">
            <a:avLst>
              <a:gd fmla="val 13333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868680" y="557784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is exactly the shape you'd pass as text_format= to response.parse() — one model, fully validated end-to-end.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TOKENS &amp;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Understanding Tokens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hashtag.png" id="396" name="Google Shape;3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04825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8"/>
          <p:cNvSpPr/>
          <p:nvPr/>
        </p:nvSpPr>
        <p:spPr>
          <a:xfrm>
            <a:off x="4297680" y="169164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Tokens are the basic units LLMs process text in — not necessarily whole words.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4297680" y="2606040"/>
            <a:ext cx="7223760" cy="1554480"/>
          </a:xfrm>
          <a:prstGeom prst="roundRect">
            <a:avLst>
              <a:gd fmla="val 470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4572000" y="2788920"/>
            <a:ext cx="66751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"tokenization"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 " token" + "ization"  (2 tokens)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" the"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 1 token (a short, common word)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640080" y="4434840"/>
            <a:ext cx="10908792" cy="1005840"/>
          </a:xfrm>
          <a:prstGeom prst="roundRect">
            <a:avLst>
              <a:gd fmla="val 7273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914400" y="443484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Rule of thumb: 1 token ≈ 4 characters ≈ 0.75 words (in English).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TOKENS &amp;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Input vs. Output Tokens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640080" y="1554480"/>
            <a:ext cx="5257800" cy="2011680"/>
          </a:xfrm>
          <a:prstGeom prst="roundRect">
            <a:avLst>
              <a:gd fmla="val 363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868680" y="178308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INPUT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868680" y="2148840"/>
            <a:ext cx="4800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What you send to the model: prompts, instructions, context, user messages, and documents for analysis.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6263640" y="1554480"/>
            <a:ext cx="5257800" cy="2011680"/>
          </a:xfrm>
          <a:prstGeom prst="roundRect">
            <a:avLst>
              <a:gd fmla="val 3636" name="adj"/>
            </a:avLst>
          </a:prstGeom>
          <a:solidFill>
            <a:srgbClr val="EA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6492240" y="178308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OUTPUT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6492240" y="2148840"/>
            <a:ext cx="4800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What the model generates: the text completions or responses it creates. (Not applicable to embedding models, which only process input.)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640080" y="384048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Providers price input and output tokens differently. Understanding token usage is core to controlling — and predicting — your AI system's costs as it scales.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640080" y="4754880"/>
            <a:ext cx="5225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640080" y="5047488"/>
            <a:ext cx="52257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 API Pricing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6323076" y="4754880"/>
            <a:ext cx="52257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ESTIMATE YOUR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6323076" y="5047488"/>
            <a:ext cx="52257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 Pricing Calculator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English is the hottest new programming language!</a:t>
            </a:r>
            <a:endParaRPr b="1" sz="3200">
              <a:solidFill>
                <a:srgbClr val="1E2A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Each model — and each model version — responds differently to prompts. There's no universal template; each is trained on different data and objectives, so the way you format a prompt matters.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640080" y="251460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"/>
          <p:cNvSpPr/>
          <p:nvPr/>
        </p:nvSpPr>
        <p:spPr>
          <a:xfrm>
            <a:off x="914400" y="278892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OpenAI models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914400" y="370332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Tend to perform better with Markdown formatting.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343400" y="251460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0"/>
          <p:cNvSpPr/>
          <p:nvPr/>
        </p:nvSpPr>
        <p:spPr>
          <a:xfrm>
            <a:off x="4617720" y="278892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Anthropic Claude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617720" y="370332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Tends to prefer XML-structured prompts.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8046720" y="251460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"/>
          <p:cNvSpPr/>
          <p:nvPr/>
        </p:nvSpPr>
        <p:spPr>
          <a:xfrm>
            <a:off x="8321040" y="2788920"/>
            <a:ext cx="2971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Reasoning models (e.g. GPT-o1)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8321040" y="370332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Want concise, direct prompts with clear goals and constraints.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640080" y="516636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640080" y="545896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@gdb on reasoning-model prompting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 General Prompt Structure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 good starting point — add or remove sections to fit your use case: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640080" y="1965960"/>
            <a:ext cx="10908792" cy="3063240"/>
          </a:xfrm>
          <a:prstGeom prst="roundRect">
            <a:avLst>
              <a:gd fmla="val 2388" name="adj"/>
            </a:avLst>
          </a:prstGeom>
          <a:solidFill>
            <a:srgbClr val="141B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F255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987552" y="2112264"/>
            <a:ext cx="82296" cy="82296"/>
          </a:xfrm>
          <a:prstGeom prst="ellipse">
            <a:avLst/>
          </a:prstGeom>
          <a:solidFill>
            <a:srgbClr val="F2C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1152144" y="2112264"/>
            <a:ext cx="82296" cy="82296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868680" y="2350008"/>
            <a:ext cx="1045159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Role and 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Instructions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## Sub-categories for more detailed instructions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Reasoning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Output Format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## Example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A93B"/>
                </a:solidFill>
                <a:latin typeface="Courier New"/>
                <a:ea typeface="Courier New"/>
                <a:cs typeface="Courier New"/>
                <a:sym typeface="Courier New"/>
              </a:rPr>
              <a:t># Final instructions and prompt to think step by step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40080" y="525780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GO FURTHER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640080" y="555040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Char char="→"/>
            </a:pPr>
            <a:r>
              <a:rPr b="0" i="0" lang="en-US" sz="1200" u="sng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 Prompting Guide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/>
          <p:nvPr/>
        </p:nvSpPr>
        <p:spPr>
          <a:xfrm>
            <a:off x="8897112" y="3566160"/>
            <a:ext cx="2743200" cy="2743200"/>
          </a:xfrm>
          <a:prstGeom prst="ellipse">
            <a:avLst/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cket.png" id="468" name="Google Shape;4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0344" y="4279392"/>
            <a:ext cx="1316736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822960" y="278892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 It Yourself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3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BUILD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Work With Chat to Solidify the Idea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lightbulb.png" id="483" name="Google Shape;4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3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Talk it through with Chat until you know </a:t>
            </a:r>
            <a:r>
              <a:rPr lang="en-US" sz="1500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approximately</a:t>
            </a: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 what you need to build</a:t>
            </a:r>
            <a:r>
              <a:rPr lang="en-US" sz="1500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, what is its purpose, what is its input and output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BUILD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Build the Component with the Claude CLI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terminal.png" id="497" name="Google Shape;4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4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Hand that spec to the Claude CLI — or Chat, if you don't have it set up yet — and have it build just that one piece. Nothing more.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5"/>
          <p:cNvSpPr/>
          <p:nvPr/>
        </p:nvSpPr>
        <p:spPr>
          <a:xfrm>
            <a:off x="640080" y="45720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640080" y="43891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890"/>
              <a:buFont typeface="Cambria"/>
              <a:buNone/>
            </a:pPr>
            <a:r>
              <a:rPr b="1" i="0" lang="en-US" sz="289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160020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BUILD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1600200" y="74980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Test It in an Interactive Script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jupyter.png" id="511" name="Google Shape;5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19888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5"/>
          <p:cNvSpPr/>
          <p:nvPr/>
        </p:nvSpPr>
        <p:spPr>
          <a:xfrm>
            <a:off x="1600200" y="1783080"/>
            <a:ext cx="9875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Run it the same way we've been running everything today — in an interactive script or notebook — before you trust it enough to build the next piece on top of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1600200" y="324612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1828800" y="3246120"/>
            <a:ext cx="9418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Keep everything you build small and incremental. One working, tested component before the next.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6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BUILD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The Loop in Action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640080" y="1463040"/>
            <a:ext cx="10908792" cy="109728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>
            <a:off x="914400" y="17602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>
            <a:off x="914400" y="17419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70"/>
              <a:buFont typeface="Cambria"/>
              <a:buNone/>
            </a:pPr>
            <a:r>
              <a:rPr b="1" i="0" lang="en-US" sz="187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1737360" y="1572768"/>
            <a:ext cx="95371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 scraper API, tested 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Asked Chat for an easy news API to start with, ran it in interactive iPython — and pulled a few raw articles straight from Hacker News.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640080" y="2697480"/>
            <a:ext cx="10908792" cy="109728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6"/>
          <p:cNvSpPr/>
          <p:nvPr/>
        </p:nvSpPr>
        <p:spPr>
          <a:xfrm>
            <a:off x="914400" y="29946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914400" y="29763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70"/>
              <a:buFont typeface="Cambria"/>
              <a:buNone/>
            </a:pPr>
            <a:r>
              <a:rPr b="1" i="0" lang="en-US" sz="187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1737360" y="2807208"/>
            <a:ext cx="95371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 parser, built and saved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API only returned links, so the Claude CLI built a parser for them — now the scraped links come back as clean .txt files.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640080" y="3931920"/>
            <a:ext cx="10908792" cy="109728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914400" y="422910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6"/>
          <p:cNvSpPr/>
          <p:nvPr/>
        </p:nvSpPr>
        <p:spPr>
          <a:xfrm>
            <a:off x="914400" y="42108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70"/>
              <a:buFont typeface="Cambria"/>
              <a:buNone/>
            </a:pPr>
            <a:r>
              <a:rPr b="1" i="0" lang="en-US" sz="187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6"/>
          <p:cNvSpPr/>
          <p:nvPr/>
        </p:nvSpPr>
        <p:spPr>
          <a:xfrm>
            <a:off x="1737360" y="4041648"/>
            <a:ext cx="95371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Normalization, next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raw text still needed a consistent shape — same loop again: solidify with Chat, build with the CLI, test interactively.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640080" y="5166360"/>
            <a:ext cx="10908792" cy="109728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914400" y="54635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6"/>
          <p:cNvSpPr/>
          <p:nvPr/>
        </p:nvSpPr>
        <p:spPr>
          <a:xfrm>
            <a:off x="914400" y="54452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70"/>
              <a:buFont typeface="Cambria"/>
              <a:buNone/>
            </a:pPr>
            <a:r>
              <a:rPr b="1" i="0" lang="en-US" sz="187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1737360" y="5276088"/>
            <a:ext cx="9537192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Parsing vs. ingestion, split apart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really should be two separate pieces, exactly as planned — repeat the loop once more for each.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7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THE SCAFFOLD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are building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822960" y="2286000"/>
            <a:ext cx="10543032" cy="3291840"/>
          </a:xfrm>
          <a:prstGeom prst="roundRect">
            <a:avLst>
              <a:gd fmla="val 2778" name="adj"/>
            </a:avLst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1371600" y="2286000"/>
            <a:ext cx="9418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1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 built the data pipeline an LLM call actually needs to run on — a scraper to fetch raw articles, a schema to give that data one consistent shape, and a service to save it — before wiring up the agent that produces a summary and tags from it.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8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SCAFFOLD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The Four Core Pieces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Build them in this order — each one depends on the piece before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859536" y="2057400"/>
            <a:ext cx="2377440" cy="2377440"/>
          </a:xfrm>
          <a:prstGeom prst="roundRect">
            <a:avLst>
              <a:gd fmla="val 384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1636776" y="233172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dantic.png" id="563" name="Google Shape;5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516" y="25374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8"/>
          <p:cNvSpPr/>
          <p:nvPr/>
        </p:nvSpPr>
        <p:spPr>
          <a:xfrm>
            <a:off x="950976" y="32918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Schema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996696" y="3749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Agree on the shape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3236976" y="30175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3557016" y="2057400"/>
            <a:ext cx="2377440" cy="2377440"/>
          </a:xfrm>
          <a:prstGeom prst="roundRect">
            <a:avLst>
              <a:gd fmla="val 384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8"/>
          <p:cNvSpPr/>
          <p:nvPr/>
        </p:nvSpPr>
        <p:spPr>
          <a:xfrm>
            <a:off x="4334256" y="233172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pider.png" id="569" name="Google Shape;5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9996" y="25374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8"/>
          <p:cNvSpPr/>
          <p:nvPr/>
        </p:nvSpPr>
        <p:spPr>
          <a:xfrm>
            <a:off x="3648456" y="32918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Scraper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3694176" y="3749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Get real data into that shape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5934456" y="30175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254496" y="2057400"/>
            <a:ext cx="2377440" cy="2377440"/>
          </a:xfrm>
          <a:prstGeom prst="roundRect">
            <a:avLst>
              <a:gd fmla="val 384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7031736" y="233172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bot.png" id="575" name="Google Shape;57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7476" y="25374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8"/>
          <p:cNvSpPr/>
          <p:nvPr/>
        </p:nvSpPr>
        <p:spPr>
          <a:xfrm>
            <a:off x="6345936" y="32918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6391656" y="3749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actual LLM transformation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8631936" y="30175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8951976" y="2057400"/>
            <a:ext cx="2377440" cy="2377440"/>
          </a:xfrm>
          <a:prstGeom prst="roundRect">
            <a:avLst>
              <a:gd fmla="val 3846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9729216" y="2331720"/>
            <a:ext cx="822960" cy="82296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erver.png" id="581" name="Google Shape;58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34956" y="25374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8"/>
          <p:cNvSpPr/>
          <p:nvPr/>
        </p:nvSpPr>
        <p:spPr>
          <a:xfrm>
            <a:off x="9043416" y="32918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9089136" y="3749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 it runnable &amp; saveable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640080" y="4754880"/>
            <a:ext cx="10908792" cy="822960"/>
          </a:xfrm>
          <a:prstGeom prst="roundRect">
            <a:avLst>
              <a:gd fmla="val 8889" name="adj"/>
            </a:avLst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914400" y="4754880"/>
            <a:ext cx="10360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Each piece only talks to the one next to it — build and test them one at a time, not as one giant script.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THE SCAFFOLD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What to Build for Each Piece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640080" y="1417320"/>
            <a:ext cx="5257800" cy="2286000"/>
          </a:xfrm>
          <a:prstGeom prst="roundRect">
            <a:avLst>
              <a:gd fmla="val 32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868680" y="1618488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pydantic.png" id="597" name="Google Shape;5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837" y="173164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9"/>
          <p:cNvSpPr/>
          <p:nvPr/>
        </p:nvSpPr>
        <p:spPr>
          <a:xfrm>
            <a:off x="1508760" y="16002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1. Schema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9"/>
          <p:cNvSpPr/>
          <p:nvPr/>
        </p:nvSpPr>
        <p:spPr>
          <a:xfrm>
            <a:off x="914400" y="219456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typed contract (a Pydantic model), so every other piece agrees on what a "news item" looks like.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914400" y="27889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BUILD:  </a:t>
            </a:r>
            <a:r>
              <a:rPr b="0" i="0" lang="en-US" sz="10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One class with the fields you care about (title, url, content, etc.), plus a second small class for exactly what you want the LLM to hand back.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9"/>
          <p:cNvSpPr/>
          <p:nvPr/>
        </p:nvSpPr>
        <p:spPr>
          <a:xfrm>
            <a:off x="6263640" y="1417320"/>
            <a:ext cx="5257800" cy="2286000"/>
          </a:xfrm>
          <a:prstGeom prst="roundRect">
            <a:avLst>
              <a:gd fmla="val 32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6492240" y="1618488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pider.png" id="603" name="Google Shape;6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5397" y="173164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9"/>
          <p:cNvSpPr/>
          <p:nvPr/>
        </p:nvSpPr>
        <p:spPr>
          <a:xfrm>
            <a:off x="7132320" y="16002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2. Scraper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6537960" y="219456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Pulls raw data from one external source and reshapes it into that shared schema.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6537960" y="27889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BUILD:  </a:t>
            </a:r>
            <a:r>
              <a:rPr b="0" i="0" lang="en-US" sz="10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A function that hits an API or site, pulls out the fields you need, and returns a list of schema objects — no saving, no side effects.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640080" y="3931920"/>
            <a:ext cx="5257800" cy="2286000"/>
          </a:xfrm>
          <a:prstGeom prst="roundRect">
            <a:avLst>
              <a:gd fmla="val 32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9"/>
          <p:cNvSpPr/>
          <p:nvPr/>
        </p:nvSpPr>
        <p:spPr>
          <a:xfrm>
            <a:off x="868680" y="4133088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robot.png" id="609" name="Google Shape;6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837" y="424624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9"/>
          <p:cNvSpPr/>
          <p:nvPr/>
        </p:nvSpPr>
        <p:spPr>
          <a:xfrm>
            <a:off x="1508760" y="4114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3. Agent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914400" y="470916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Makes the actual LLM call — input in, a validated structured response back, instead of free text.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914400" y="53035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BUILD:  </a:t>
            </a:r>
            <a:r>
              <a:rPr b="0" i="0" lang="en-US" sz="10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One function that takes plain input, calls the LLM with your schema as the expected output format, and returns that structured result.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6263640" y="3931920"/>
            <a:ext cx="5257800" cy="2286000"/>
          </a:xfrm>
          <a:prstGeom prst="roundRect">
            <a:avLst>
              <a:gd fmla="val 320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9"/>
          <p:cNvSpPr/>
          <p:nvPr/>
        </p:nvSpPr>
        <p:spPr>
          <a:xfrm>
            <a:off x="6492240" y="4133088"/>
            <a:ext cx="502920" cy="502920"/>
          </a:xfrm>
          <a:prstGeom prst="ellipse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ai-eng-week1/icons/server.png" id="615" name="Google Shape;61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5397" y="424624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9"/>
          <p:cNvSpPr/>
          <p:nvPr/>
        </p:nvSpPr>
        <p:spPr>
          <a:xfrm>
            <a:off x="7132320" y="4114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4. Service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6537960" y="470916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Ties the other pieces to the outside world — run the scraper and save what it found, or load data and run it through the agent.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6537960" y="530352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BUILD:  </a:t>
            </a:r>
            <a:r>
              <a:rPr b="0" i="0" lang="en-US" sz="1050" u="none" cap="none" strike="noStrike">
                <a:solidFill>
                  <a:srgbClr val="1E2A38"/>
                </a:solidFill>
                <a:latin typeface="Calibri"/>
                <a:ea typeface="Calibri"/>
                <a:cs typeface="Calibri"/>
                <a:sym typeface="Calibri"/>
              </a:rPr>
              <a:t>One function per stage (e.g. "ingest" and "enrich") that calls the piece above it and persists the result — a local file for now, a database later.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8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WEEK 2 — RECAP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Recap — What's Next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0"/>
          <p:cNvSpPr/>
          <p:nvPr/>
        </p:nvSpPr>
        <p:spPr>
          <a:xfrm>
            <a:off x="822960" y="1965960"/>
            <a:ext cx="6583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✓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up notebooks, new libraries, and playground scripts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✓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Made your first OpenAI API calls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✓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Learned tokens, structured output, and prompt engineering basics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✓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 today's build into a schema → scraper → agent → service scaffold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0"/>
          <p:cNvSpPr/>
          <p:nvPr/>
        </p:nvSpPr>
        <p:spPr>
          <a:xfrm>
            <a:off x="7680960" y="1965960"/>
            <a:ext cx="3840480" cy="3017520"/>
          </a:xfrm>
          <a:prstGeom prst="roundRect">
            <a:avLst>
              <a:gd fmla="val 3030" name="adj"/>
            </a:avLst>
          </a:prstGeom>
          <a:solidFill>
            <a:srgbClr val="263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0"/>
          <p:cNvSpPr/>
          <p:nvPr/>
        </p:nvSpPr>
        <p:spPr>
          <a:xfrm>
            <a:off x="7955280" y="21945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YOUR BUILD, THIS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7955280" y="256032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+ scraper for one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agent: your LLM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 &amp; enrich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822960" y="5257800"/>
            <a:ext cx="10543032" cy="822960"/>
          </a:xfrm>
          <a:prstGeom prst="roundRect">
            <a:avLst>
              <a:gd fmla="val 8889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0"/>
          <p:cNvSpPr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A38"/>
                </a:solidFill>
                <a:latin typeface="Cambria"/>
                <a:ea typeface="Cambria"/>
                <a:cs typeface="Cambria"/>
                <a:sym typeface="Cambria"/>
              </a:rPr>
              <a:t>Small, tested pieces beat one giant script — start with the schema.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Engineering · Week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2026-08-22T05:25:19Z</dcterms:created>
  <dc:creator>PptxGenJS</dc:creator>
</cp:coreProperties>
</file>