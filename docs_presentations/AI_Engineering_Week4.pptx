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jvyKztf5pJIM//2TksbovsgI3s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customschemas.google.com/relationships/presentationmetadata" Target="meta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question: What can an LLM answer about an article published five minutes ago?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3fa1ed7422c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g3fa1ed7422c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this to the project rule: the API queries stored data; it never scrapes during requests.</a:t>
            </a:r>
            <a:endParaRPr/>
          </a:p>
        </p:txBody>
      </p:sp>
      <p:sp>
        <p:nvSpPr>
          <p:cNvPr id="26" name="Google Shape;26;g3fa1ed7422c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Think of RAG as giving your AI system access to an "open-book exam." While traditional language models are limited to the knowledge they were trained on, RAG systems can access external information sources to provide more accurate, up-to-date, and contextually relevant responses.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RAG solves a fundamental problem with Large Language Models (LLMs): they have static knowledge that becomes outdated and may not include your organization's specific information. Instead of trying to cram all possible knowledge into the model's parameters during training, RAG acknowledges that certain information is better stored externally and retrieved when needed.</a:t>
            </a:r>
            <a:br>
              <a:rPr lang="en-US"/>
            </a:br>
            <a:endParaRPr/>
          </a:p>
          <a:p>
            <a:pPr indent="0" lvl="0" marL="0" rtl="0" algn="l">
              <a:spcBef>
                <a:spcPts val="0"/>
              </a:spcBef>
              <a:spcAft>
                <a:spcPts val="0"/>
              </a:spcAft>
              <a:buNone/>
            </a:pPr>
            <a:r>
              <a:rPr lang="en-US"/>
              <a:t>RAG offers several critical benefits over standalone LLMs:</a:t>
            </a:r>
            <a:endParaRPr/>
          </a:p>
          <a:p>
            <a:pPr indent="0" lvl="0" marL="0" rtl="0" algn="l">
              <a:spcBef>
                <a:spcPts val="0"/>
              </a:spcBef>
              <a:spcAft>
                <a:spcPts val="0"/>
              </a:spcAft>
              <a:buNone/>
            </a:pPr>
            <a:r>
              <a:rPr lang="en-US"/>
              <a:t>Knowledge Extensibility: You can continuously update your knowledge sources without retraining the model</a:t>
            </a:r>
            <a:endParaRPr/>
          </a:p>
          <a:p>
            <a:pPr indent="0" lvl="0" marL="0" rtl="0" algn="l">
              <a:spcBef>
                <a:spcPts val="0"/>
              </a:spcBef>
              <a:spcAft>
                <a:spcPts val="0"/>
              </a:spcAft>
              <a:buNone/>
            </a:pPr>
            <a:r>
              <a:rPr lang="en-US"/>
              <a:t>Transparency: Responses can be traced back to specific sources, creating accountability</a:t>
            </a:r>
            <a:endParaRPr/>
          </a:p>
          <a:p>
            <a:pPr indent="0" lvl="0" marL="0" rtl="0" algn="l">
              <a:spcBef>
                <a:spcPts val="0"/>
              </a:spcBef>
              <a:spcAft>
                <a:spcPts val="0"/>
              </a:spcAft>
              <a:buNone/>
            </a:pPr>
            <a:r>
              <a:rPr lang="en-US"/>
              <a:t>Reduced Hallucinations: By grounding responses in retrieved facts, RAG significantly reduces the LLM's tendency to generate plausible-sounding but incorrect information</a:t>
            </a:r>
            <a:endParaRPr/>
          </a:p>
          <a:p>
            <a:pPr indent="0" lvl="0" marL="0" rtl="0" algn="l">
              <a:spcBef>
                <a:spcPts val="0"/>
              </a:spcBef>
              <a:spcAft>
                <a:spcPts val="0"/>
              </a:spcAft>
              <a:buNone/>
            </a:pPr>
            <a:r>
              <a:rPr lang="en-US"/>
              <a:t>Cost Efficiency: Storing knowledge externally is more cost-effective than increasing model size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RAG systems operate in two distinct phases that work together seamlessly: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Retrieval Phase</a:t>
            </a:r>
            <a:endParaRPr/>
          </a:p>
          <a:p>
            <a:pPr indent="0" lvl="0" marL="0" rtl="0" algn="l">
              <a:spcBef>
                <a:spcPts val="0"/>
              </a:spcBef>
              <a:spcAft>
                <a:spcPts val="0"/>
              </a:spcAft>
              <a:buNone/>
            </a:pPr>
            <a:r>
              <a:rPr lang="en-US"/>
              <a:t>The retrieval phase is like having an intelligent research assistant that finds relevant information based on your question. This involves: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Converting your query into a format the system can search with</a:t>
            </a:r>
            <a:endParaRPr/>
          </a:p>
          <a:p>
            <a:pPr indent="0" lvl="0" marL="0" rtl="0" algn="l">
              <a:spcBef>
                <a:spcPts val="0"/>
              </a:spcBef>
              <a:spcAft>
                <a:spcPts val="0"/>
              </a:spcAft>
              <a:buNone/>
            </a:pPr>
            <a:r>
              <a:rPr lang="en-US"/>
              <a:t>Finding semantically similar content in the knowledge base</a:t>
            </a:r>
            <a:endParaRPr/>
          </a:p>
          <a:p>
            <a:pPr indent="0" lvl="0" marL="0" rtl="0" algn="l">
              <a:spcBef>
                <a:spcPts val="0"/>
              </a:spcBef>
              <a:spcAft>
                <a:spcPts val="0"/>
              </a:spcAft>
              <a:buNone/>
            </a:pPr>
            <a:r>
              <a:rPr lang="en-US"/>
              <a:t>Selecting the most relevant documents or passages</a:t>
            </a:r>
            <a:endParaRPr/>
          </a:p>
          <a:p>
            <a:pPr indent="0" lvl="0" marL="0" rtl="0" algn="l">
              <a:spcBef>
                <a:spcPts val="0"/>
              </a:spcBef>
              <a:spcAft>
                <a:spcPts val="0"/>
              </a:spcAft>
              <a:buNone/>
            </a:pPr>
            <a:r>
              <a:rPr lang="en-US"/>
              <a:t>Preparing this information for the LLM to use</a:t>
            </a:r>
            <a:endParaRPr/>
          </a:p>
          <a:p>
            <a:pPr indent="0" lvl="0" marL="0" rtl="0" algn="l">
              <a:spcBef>
                <a:spcPts val="0"/>
              </a:spcBef>
              <a:spcAft>
                <a:spcPts val="0"/>
              </a:spcAft>
              <a:buNone/>
            </a:pPr>
            <a:r>
              <a:rPr lang="en-US"/>
              <a:t>2. Generation Phase</a:t>
            </a:r>
            <a:endParaRPr/>
          </a:p>
          <a:p>
            <a:pPr indent="0" lvl="0" marL="0" rtl="0" algn="l">
              <a:spcBef>
                <a:spcPts val="0"/>
              </a:spcBef>
              <a:spcAft>
                <a:spcPts val="0"/>
              </a:spcAft>
              <a:buNone/>
            </a:pPr>
            <a:r>
              <a:rPr lang="en-US"/>
              <a:t>The generation phase is where the LLM synthesizes the retrieved information with your question to create a coherent, contextually appropriate response. The LLM uses its reasoning capabilities to: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Analyze the retrieved information</a:t>
            </a:r>
            <a:endParaRPr/>
          </a:p>
          <a:p>
            <a:pPr indent="0" lvl="0" marL="0" rtl="0" algn="l">
              <a:spcBef>
                <a:spcPts val="0"/>
              </a:spcBef>
              <a:spcAft>
                <a:spcPts val="0"/>
              </a:spcAft>
              <a:buNone/>
            </a:pPr>
            <a:r>
              <a:rPr lang="en-US"/>
              <a:t>Apply it to your specific question</a:t>
            </a:r>
            <a:endParaRPr/>
          </a:p>
          <a:p>
            <a:pPr indent="0" lvl="0" marL="0" rtl="0" algn="l">
              <a:spcBef>
                <a:spcPts val="0"/>
              </a:spcBef>
              <a:spcAft>
                <a:spcPts val="0"/>
              </a:spcAft>
              <a:buNone/>
            </a:pPr>
            <a:r>
              <a:rPr lang="en-US"/>
              <a:t>Generate a response that incorporates the external knowledge</a:t>
            </a:r>
            <a:endParaRPr/>
          </a:p>
          <a:p>
            <a:pPr indent="0" lvl="0" marL="0" rtl="0" algn="l">
              <a:spcBef>
                <a:spcPts val="0"/>
              </a:spcBef>
              <a:spcAft>
                <a:spcPts val="0"/>
              </a:spcAft>
              <a:buNone/>
            </a:pPr>
            <a:r>
              <a:rPr lang="en-US"/>
              <a:t>Cite sources when appropriate</a:t>
            </a:r>
            <a:endParaRPr/>
          </a:p>
          <a:p>
            <a:pPr indent="0" lvl="0" marL="0" rtl="0" algn="l">
              <a:spcBef>
                <a:spcPts val="0"/>
              </a:spcBef>
              <a:spcAft>
                <a:spcPts val="0"/>
              </a:spcAft>
              <a:buNone/>
            </a:pPr>
            <a:r>
              <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a1ed7422c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fa1ed7422c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Understanding the Data Flow</a:t>
            </a:r>
            <a:endParaRPr/>
          </a:p>
          <a:p>
            <a:pPr indent="0" lvl="0" marL="0" rtl="0" algn="l">
              <a:spcBef>
                <a:spcPts val="0"/>
              </a:spcBef>
              <a:spcAft>
                <a:spcPts val="0"/>
              </a:spcAft>
              <a:buNone/>
            </a:pPr>
            <a:r>
              <a:rPr lang="en-US"/>
              <a:t>The diagram above shows three distinct layers that work together: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Data Ingestion Layer (Blue): This happens offline, before any user queries. Your documents are parsed, split into manageable chunks, converted into mathematical representations called embeddings, and stored in a specialized vector database.</a:t>
            </a:r>
            <a:endParaRPr/>
          </a:p>
          <a:p>
            <a:pPr indent="0" lvl="0" marL="0" rtl="0" algn="l">
              <a:spcBef>
                <a:spcPts val="0"/>
              </a:spcBef>
              <a:spcAft>
                <a:spcPts val="0"/>
              </a:spcAft>
              <a:buNone/>
            </a:pPr>
            <a:r>
              <a:rPr lang="en-US"/>
              <a:t>Query Processing Layer (Orange): This happens in real-time when you ask a question. Your query gets processed and converted into the same mathematical format as the stored documents, allowing the system to find semantically similar content.</a:t>
            </a:r>
            <a:endParaRPr/>
          </a:p>
          <a:p>
            <a:pPr indent="0" lvl="0" marL="0" rtl="0" algn="l">
              <a:spcBef>
                <a:spcPts val="0"/>
              </a:spcBef>
              <a:spcAft>
                <a:spcPts val="0"/>
              </a:spcAft>
              <a:buNone/>
            </a:pPr>
            <a:r>
              <a:rPr lang="en-US"/>
              <a:t>Generation Layer (Green): The retrieved context gets formatted into a prompt template and sent to the LLM, which generates a response based on both your question and the relevant retrieved information.</a:t>
            </a:r>
            <a:endParaRPr/>
          </a:p>
        </p:txBody>
      </p:sp>
      <p:sp>
        <p:nvSpPr>
          <p:cNvPr id="73" name="Google Shape;73;g3fa1ed7422c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a1ed7422c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fa1ed7422c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magic of RAG happens when retrieved information gets combined with your original question. This process, called context injection, follows a structured pattern:</a:t>
            </a:r>
            <a:br>
              <a:rPr lang="en-US"/>
            </a:br>
            <a:br>
              <a:rPr lang="en-US"/>
            </a:br>
            <a:r>
              <a:rPr lang="en-US"/>
              <a:t>A well-constructed RAG prompt contains three essential components: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System Instructions: Clear guidelines that define the assistant's role and constraints</a:t>
            </a:r>
            <a:endParaRPr/>
          </a:p>
          <a:p>
            <a:pPr indent="0" lvl="0" marL="0" rtl="0" algn="l">
              <a:spcBef>
                <a:spcPts val="0"/>
              </a:spcBef>
              <a:spcAft>
                <a:spcPts val="0"/>
              </a:spcAft>
              <a:buNone/>
            </a:pPr>
            <a:r>
              <a:rPr lang="en-US"/>
              <a:t>Retrieved Context: Formatted chunks of relevant information with source attribution</a:t>
            </a:r>
            <a:endParaRPr/>
          </a:p>
          <a:p>
            <a:pPr indent="0" lvl="0" marL="0" rtl="0" algn="l">
              <a:spcBef>
                <a:spcPts val="0"/>
              </a:spcBef>
              <a:spcAft>
                <a:spcPts val="0"/>
              </a:spcAft>
              <a:buNone/>
            </a:pPr>
            <a:r>
              <a:rPr lang="en-US"/>
              <a:t>User Question: The original query, clearly marked and preserved</a:t>
            </a:r>
            <a:endParaRPr/>
          </a:p>
        </p:txBody>
      </p:sp>
      <p:sp>
        <p:nvSpPr>
          <p:cNvPr id="88" name="Google Shape;88;g3fa1ed7422c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a1ed7422c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fa1ed7422c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this to the project rule: the API queries stored data; it never scrapes during requests.</a:t>
            </a:r>
            <a:endParaRPr/>
          </a:p>
        </p:txBody>
      </p:sp>
      <p:sp>
        <p:nvSpPr>
          <p:cNvPr id="97" name="Google Shape;97;g3fa1ed7422c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a1ed7422c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fa1ed7422c_0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fa1ed7422c_0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Chunking is crucial for RAG performance using 2-chunking.py. We use Docling's HybridChunker because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Preserves Context: Maintains document structure and hierarchy</a:t>
            </a:r>
            <a:endParaRPr/>
          </a:p>
          <a:p>
            <a:pPr indent="0" lvl="0" marL="0" rtl="0" algn="l">
              <a:spcBef>
                <a:spcPts val="0"/>
              </a:spcBef>
              <a:spcAft>
                <a:spcPts val="0"/>
              </a:spcAft>
              <a:buNone/>
            </a:pPr>
            <a:r>
              <a:rPr lang="en-US"/>
              <a:t>Token-Aware: Respects model token limits</a:t>
            </a:r>
            <a:endParaRPr/>
          </a:p>
          <a:p>
            <a:pPr indent="0" lvl="0" marL="0" rtl="0" algn="l">
              <a:spcBef>
                <a:spcPts val="0"/>
              </a:spcBef>
              <a:spcAft>
                <a:spcPts val="0"/>
              </a:spcAft>
              <a:buNone/>
            </a:pPr>
            <a:r>
              <a:rPr lang="en-US"/>
              <a:t>Semantic Boundaries: Splits at logical points (sections, paragraphs)</a:t>
            </a:r>
            <a:endParaRPr/>
          </a:p>
          <a:p>
            <a:pPr indent="0" lvl="0" marL="0" rtl="0" algn="l">
              <a:spcBef>
                <a:spcPts val="0"/>
              </a:spcBef>
              <a:spcAft>
                <a:spcPts val="0"/>
              </a:spcAft>
              <a:buNone/>
            </a:pPr>
            <a:r>
              <a:rPr lang="en-US"/>
              <a:t>Overlap Control: Manages chunk overlap for context continuity</a:t>
            </a:r>
            <a:endParaRPr/>
          </a:p>
          <a:p>
            <a:pPr indent="0" lvl="0" marL="0" rtl="0" algn="l">
              <a:spcBef>
                <a:spcPts val="0"/>
              </a:spcBef>
              <a:spcAft>
                <a:spcPts val="0"/>
              </a:spcAft>
              <a:buNone/>
            </a:pPr>
            <a:r>
              <a:rPr lang="en-US"/>
              <a:t>Key considerations: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Chunk size affects retrieval quality</a:t>
            </a:r>
            <a:endParaRPr/>
          </a:p>
          <a:p>
            <a:pPr indent="0" lvl="0" marL="0" rtl="0" algn="l">
              <a:spcBef>
                <a:spcPts val="0"/>
              </a:spcBef>
              <a:spcAft>
                <a:spcPts val="0"/>
              </a:spcAft>
              <a:buNone/>
            </a:pPr>
            <a:r>
              <a:rPr lang="en-US"/>
              <a:t>Too small: Loses context</a:t>
            </a:r>
            <a:endParaRPr/>
          </a:p>
          <a:p>
            <a:pPr indent="0" lvl="0" marL="0" rtl="0" algn="l">
              <a:spcBef>
                <a:spcPts val="0"/>
              </a:spcBef>
              <a:spcAft>
                <a:spcPts val="0"/>
              </a:spcAft>
              <a:buNone/>
            </a:pPr>
            <a:r>
              <a:rPr lang="en-US"/>
              <a:t>Too large: Dilutes relevance</a:t>
            </a:r>
            <a:endParaRPr/>
          </a:p>
          <a:p>
            <a:pPr indent="0" lvl="0" marL="0" rtl="0" algn="l">
              <a:spcBef>
                <a:spcPts val="0"/>
              </a:spcBef>
              <a:spcAft>
                <a:spcPts val="0"/>
              </a:spcAft>
              <a:buNone/>
            </a:pPr>
            <a:r>
              <a:rPr lang="en-US"/>
              <a:t>Overlap helps maintain context between chunks</a:t>
            </a:r>
            <a:endParaRPr/>
          </a:p>
        </p:txBody>
      </p:sp>
      <p:sp>
        <p:nvSpPr>
          <p:cNvPr id="116" name="Google Shape;1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a1ed7422c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fa1ed7422c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Vector embeddings are the foundation of semantic search in RAG systems. They convert text into numerical vectors that capture meaning, allowing computers to understand relationships between words and phrases.</a:t>
            </a:r>
            <a:endParaRPr/>
          </a:p>
          <a:p>
            <a:pPr indent="0" lvl="0" marL="0" rtl="0" algn="l">
              <a:spcBef>
                <a:spcPts val="0"/>
              </a:spcBef>
              <a:spcAft>
                <a:spcPts val="0"/>
              </a:spcAft>
              <a:buNone/>
            </a:pPr>
            <a:r>
              <a:t/>
            </a:r>
            <a:endParaRPr/>
          </a:p>
          <a:p>
            <a:pPr indent="0" lvl="0" marL="0" rtl="0" algn="l">
              <a:spcBef>
                <a:spcPts val="0"/>
              </a:spcBef>
              <a:spcAft>
                <a:spcPts val="0"/>
              </a:spcAft>
              <a:buClr>
                <a:srgbClr val="000000"/>
              </a:buClr>
              <a:buFont typeface="Arial"/>
              <a:buNone/>
            </a:pPr>
            <a:r>
              <a:rPr lang="en-US"/>
              <a:t>Think of vector embeddings as a way to translate human language into a mathematical space where similar concepts are positioned close together. Each word or phrase becomes a point in this high-dimensional space, and the distance between points represents their semantic similarity.</a:t>
            </a:r>
            <a:endParaRPr/>
          </a:p>
        </p:txBody>
      </p:sp>
      <p:sp>
        <p:nvSpPr>
          <p:cNvPr id="143" name="Google Shape;143;g3fa1ed7422c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Traditional keyword search would struggle to connect "benefits of exercise" with "physical activity helps health" because they don't share common words. Vector embeddings capture semantic meaning, allowing the system to understand that these phrases are related conceptually, even with different vocabulary.</a:t>
            </a:r>
            <a:endParaRPr/>
          </a:p>
          <a:p>
            <a:pPr indent="0" lvl="0" marL="0" rtl="0" algn="l">
              <a:spcBef>
                <a:spcPts val="0"/>
              </a:spcBef>
              <a:spcAft>
                <a:spcPts val="0"/>
              </a:spcAft>
              <a:buNone/>
            </a:pPr>
            <a:br>
              <a:rPr lang="en-US"/>
            </a:br>
            <a:r>
              <a:rPr lang="en-US"/>
              <a:t>Popular Embedding Models</a:t>
            </a:r>
            <a:endParaRPr/>
          </a:p>
          <a:p>
            <a:pPr indent="0" lvl="0" marL="0" rtl="0" algn="l">
              <a:spcBef>
                <a:spcPts val="0"/>
              </a:spcBef>
              <a:spcAft>
                <a:spcPts val="0"/>
              </a:spcAft>
              <a:buNone/>
            </a:pPr>
            <a:r>
              <a:rPr lang="en-US"/>
              <a:t>Several embedding models are commonly used in production RAG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OpenAI Embeddings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text-embedding-3-small: 1536 dimensions, fast and efficient</a:t>
            </a:r>
            <a:endParaRPr/>
          </a:p>
          <a:p>
            <a:pPr indent="0" lvl="0" marL="0" rtl="0" algn="l">
              <a:spcBef>
                <a:spcPts val="0"/>
              </a:spcBef>
              <a:spcAft>
                <a:spcPts val="0"/>
              </a:spcAft>
              <a:buNone/>
            </a:pPr>
            <a:r>
              <a:rPr lang="en-US"/>
              <a:t>text-embedding-3-large: 3072 dimensions, higher accuracy</a:t>
            </a:r>
            <a:endParaRPr/>
          </a:p>
          <a:p>
            <a:pPr indent="0" lvl="0" marL="0" rtl="0" algn="l">
              <a:spcBef>
                <a:spcPts val="0"/>
              </a:spcBef>
              <a:spcAft>
                <a:spcPts val="0"/>
              </a:spcAft>
              <a:buNone/>
            </a:pPr>
            <a:r>
              <a:rPr lang="en-US"/>
              <a:t>Best for: General-purpose applications, English text</a:t>
            </a:r>
            <a:endParaRPr/>
          </a:p>
          <a:p>
            <a:pPr indent="0" lvl="0" marL="0" rtl="0" algn="l">
              <a:spcBef>
                <a:spcPts val="0"/>
              </a:spcBef>
              <a:spcAft>
                <a:spcPts val="0"/>
              </a:spcAft>
              <a:buNone/>
            </a:pPr>
            <a:r>
              <a:rPr lang="en-US"/>
              <a:t>Open Source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all-MiniLM-L6-v2: 384 dimensions, lightweight</a:t>
            </a:r>
            <a:endParaRPr/>
          </a:p>
          <a:p>
            <a:pPr indent="0" lvl="0" marL="0" rtl="0" algn="l">
              <a:spcBef>
                <a:spcPts val="0"/>
              </a:spcBef>
              <a:spcAft>
                <a:spcPts val="0"/>
              </a:spcAft>
              <a:buNone/>
            </a:pPr>
            <a:r>
              <a:rPr lang="en-US"/>
              <a:t>BAAI/bge-small-en: 384 dimensions, good performance</a:t>
            </a:r>
            <a:endParaRPr/>
          </a:p>
          <a:p>
            <a:pPr indent="0" lvl="0" marL="0" rtl="0" algn="l">
              <a:spcBef>
                <a:spcPts val="0"/>
              </a:spcBef>
              <a:spcAft>
                <a:spcPts val="0"/>
              </a:spcAft>
              <a:buNone/>
            </a:pPr>
            <a:r>
              <a:rPr lang="en-US"/>
              <a:t>Best for: Cost-sensitive applications, non-English text</a:t>
            </a:r>
            <a:endParaRPr/>
          </a:p>
          <a:p>
            <a:pPr indent="0" lvl="0" marL="0" rtl="0" algn="l">
              <a:spcBef>
                <a:spcPts val="0"/>
              </a:spcBef>
              <a:spcAft>
                <a:spcPts val="0"/>
              </a:spcAft>
              <a:buNone/>
            </a:pPr>
            <a:r>
              <a:rPr lang="en-US"/>
              <a:t>Specialized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intfloat/e5-large: Optimized for retrieval</a:t>
            </a:r>
            <a:endParaRPr/>
          </a:p>
          <a:p>
            <a:pPr indent="0" lvl="0" marL="0" rtl="0" algn="l">
              <a:spcBef>
                <a:spcPts val="0"/>
              </a:spcBef>
              <a:spcAft>
                <a:spcPts val="0"/>
              </a:spcAft>
              <a:buNone/>
            </a:pPr>
            <a:r>
              <a:rPr lang="en-US"/>
              <a:t>BAAI/bge-large-en: Strong performance on benchmarks</a:t>
            </a:r>
            <a:endParaRPr/>
          </a:p>
          <a:p>
            <a:pPr indent="0" lvl="0" marL="0" rtl="0" algn="l">
              <a:spcBef>
                <a:spcPts val="0"/>
              </a:spcBef>
              <a:spcAft>
                <a:spcPts val="0"/>
              </a:spcAft>
              <a:buNone/>
            </a:pPr>
            <a:r>
              <a:rPr lang="en-US"/>
              <a:t>Best for: High-accuracy requirements, multilingual support</a:t>
            </a:r>
            <a:endParaRPr/>
          </a:p>
        </p:txBody>
      </p:sp>
      <p:sp>
        <p:nvSpPr>
          <p:cNvPr id="152" name="Google Shape;15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a1ed7422c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fa1ed7422c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Traditional keyword search would struggle to connect "benefits of exercise" with "physical activity helps health" because they don't share common words. Vector embeddings capture semantic meaning, allowing the system to understand that these phrases are related conceptually, even with different vocabulary.</a:t>
            </a:r>
            <a:endParaRPr/>
          </a:p>
          <a:p>
            <a:pPr indent="0" lvl="0" marL="0" rtl="0" algn="l">
              <a:spcBef>
                <a:spcPts val="0"/>
              </a:spcBef>
              <a:spcAft>
                <a:spcPts val="0"/>
              </a:spcAft>
              <a:buNone/>
            </a:pPr>
            <a:br>
              <a:rPr lang="en-US"/>
            </a:br>
            <a:r>
              <a:rPr lang="en-US"/>
              <a:t>Popular Embedding Models</a:t>
            </a:r>
            <a:endParaRPr/>
          </a:p>
          <a:p>
            <a:pPr indent="0" lvl="0" marL="0" rtl="0" algn="l">
              <a:spcBef>
                <a:spcPts val="0"/>
              </a:spcBef>
              <a:spcAft>
                <a:spcPts val="0"/>
              </a:spcAft>
              <a:buNone/>
            </a:pPr>
            <a:r>
              <a:rPr lang="en-US"/>
              <a:t>Several embedding models are commonly used in production RAG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OpenAI Embeddings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text-embedding-3-small: 1536 dimensions, fast and efficient</a:t>
            </a:r>
            <a:endParaRPr/>
          </a:p>
          <a:p>
            <a:pPr indent="0" lvl="0" marL="0" rtl="0" algn="l">
              <a:spcBef>
                <a:spcPts val="0"/>
              </a:spcBef>
              <a:spcAft>
                <a:spcPts val="0"/>
              </a:spcAft>
              <a:buNone/>
            </a:pPr>
            <a:r>
              <a:rPr lang="en-US"/>
              <a:t>text-embedding-3-large: 3072 dimensions, higher accuracy</a:t>
            </a:r>
            <a:endParaRPr/>
          </a:p>
          <a:p>
            <a:pPr indent="0" lvl="0" marL="0" rtl="0" algn="l">
              <a:spcBef>
                <a:spcPts val="0"/>
              </a:spcBef>
              <a:spcAft>
                <a:spcPts val="0"/>
              </a:spcAft>
              <a:buNone/>
            </a:pPr>
            <a:r>
              <a:rPr lang="en-US"/>
              <a:t>Best for: General-purpose applications, English text</a:t>
            </a:r>
            <a:endParaRPr/>
          </a:p>
          <a:p>
            <a:pPr indent="0" lvl="0" marL="0" rtl="0" algn="l">
              <a:spcBef>
                <a:spcPts val="0"/>
              </a:spcBef>
              <a:spcAft>
                <a:spcPts val="0"/>
              </a:spcAft>
              <a:buNone/>
            </a:pPr>
            <a:r>
              <a:rPr lang="en-US"/>
              <a:t>Open Source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all-MiniLM-L6-v2: 384 dimensions, lightweight</a:t>
            </a:r>
            <a:endParaRPr/>
          </a:p>
          <a:p>
            <a:pPr indent="0" lvl="0" marL="0" rtl="0" algn="l">
              <a:spcBef>
                <a:spcPts val="0"/>
              </a:spcBef>
              <a:spcAft>
                <a:spcPts val="0"/>
              </a:spcAft>
              <a:buNone/>
            </a:pPr>
            <a:r>
              <a:rPr lang="en-US"/>
              <a:t>BAAI/bge-small-en: 384 dimensions, good performance</a:t>
            </a:r>
            <a:endParaRPr/>
          </a:p>
          <a:p>
            <a:pPr indent="0" lvl="0" marL="0" rtl="0" algn="l">
              <a:spcBef>
                <a:spcPts val="0"/>
              </a:spcBef>
              <a:spcAft>
                <a:spcPts val="0"/>
              </a:spcAft>
              <a:buNone/>
            </a:pPr>
            <a:r>
              <a:rPr lang="en-US"/>
              <a:t>Best for: Cost-sensitive applications, non-English text</a:t>
            </a:r>
            <a:endParaRPr/>
          </a:p>
          <a:p>
            <a:pPr indent="0" lvl="0" marL="0" rtl="0" algn="l">
              <a:spcBef>
                <a:spcPts val="0"/>
              </a:spcBef>
              <a:spcAft>
                <a:spcPts val="0"/>
              </a:spcAft>
              <a:buNone/>
            </a:pPr>
            <a:r>
              <a:rPr lang="en-US"/>
              <a:t>Specialized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intfloat/e5-large: Optimized for retrieval</a:t>
            </a:r>
            <a:endParaRPr/>
          </a:p>
          <a:p>
            <a:pPr indent="0" lvl="0" marL="0" rtl="0" algn="l">
              <a:spcBef>
                <a:spcPts val="0"/>
              </a:spcBef>
              <a:spcAft>
                <a:spcPts val="0"/>
              </a:spcAft>
              <a:buNone/>
            </a:pPr>
            <a:r>
              <a:rPr lang="en-US"/>
              <a:t>BAAI/bge-large-en: Strong performance on benchmarks</a:t>
            </a:r>
            <a:endParaRPr/>
          </a:p>
          <a:p>
            <a:pPr indent="0" lvl="0" marL="0" rtl="0" algn="l">
              <a:spcBef>
                <a:spcPts val="0"/>
              </a:spcBef>
              <a:spcAft>
                <a:spcPts val="0"/>
              </a:spcAft>
              <a:buNone/>
            </a:pPr>
            <a:r>
              <a:rPr lang="en-US"/>
              <a:t>Best for: High-accuracy requirements, multilingual support</a:t>
            </a:r>
            <a:endParaRPr/>
          </a:p>
        </p:txBody>
      </p:sp>
      <p:sp>
        <p:nvSpPr>
          <p:cNvPr id="161" name="Google Shape;161;g3fa1ed7422c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a1ed7422c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fa1ed7422c_0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this to the project rule: the API queries stored data; it never scrapes during requests.</a:t>
            </a:r>
            <a:endParaRPr/>
          </a:p>
        </p:txBody>
      </p:sp>
      <p:sp>
        <p:nvSpPr>
          <p:cNvPr id="170" name="Google Shape;170;g3fa1ed7422c_0_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a1ed7422c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fa1ed7422c_0_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Different Vector Databases</a:t>
            </a:r>
            <a:endParaRPr/>
          </a:p>
          <a:p>
            <a:pPr indent="0" lvl="0" marL="0" rtl="0" algn="l">
              <a:spcBef>
                <a:spcPts val="0"/>
              </a:spcBef>
              <a:spcAft>
                <a:spcPts val="0"/>
              </a:spcAft>
              <a:buNone/>
            </a:pPr>
            <a:r>
              <a:rPr lang="en-US"/>
              <a:t>Pinecone: A fully managed, cloud-native vector database built for high-speed, low-latency similarity search and effortless scaling; its strong suit is production-grade reliability and seamless integration for enterprise AI applications, especially when you need robust hybrid (dense + sparse) search and hands-off infrastructure management</a:t>
            </a:r>
            <a:endParaRPr/>
          </a:p>
          <a:p>
            <a:pPr indent="0" lvl="0" marL="0" rtl="0" algn="l">
              <a:spcBef>
                <a:spcPts val="0"/>
              </a:spcBef>
              <a:spcAft>
                <a:spcPts val="0"/>
              </a:spcAft>
              <a:buNone/>
            </a:pPr>
            <a:r>
              <a:rPr lang="en-US"/>
              <a:t>Milvus: An open-source, highly scalable vector database supporting both approximate and exact nearest neighbor search; excels at handling massive-scale vector data and is popular for multimodal data (text, image, audio)</a:t>
            </a:r>
            <a:endParaRPr/>
          </a:p>
          <a:p>
            <a:pPr indent="0" lvl="0" marL="0" rtl="0" algn="l">
              <a:spcBef>
                <a:spcPts val="0"/>
              </a:spcBef>
              <a:spcAft>
                <a:spcPts val="0"/>
              </a:spcAft>
              <a:buNone/>
            </a:pPr>
            <a:r>
              <a:rPr lang="en-US"/>
              <a:t>Qdrant: An open-source vector search engine optimized for real-time, high-dimensional data processing; strong at precise search and real-time updates, suitable for both text and multimodal use cases </a:t>
            </a:r>
            <a:endParaRPr/>
          </a:p>
          <a:p>
            <a:pPr indent="0" lvl="0" marL="0" rtl="0" algn="l">
              <a:spcBef>
                <a:spcPts val="0"/>
              </a:spcBef>
              <a:spcAft>
                <a:spcPts val="0"/>
              </a:spcAft>
              <a:buNone/>
            </a:pPr>
            <a:r>
              <a:rPr lang="en-US"/>
              <a:t>ChromaDB: An open-source embedding database focused on LLM and AI app development; integrates easily with Python and LangChain, ideal for rapid prototyping and small-to-medium scale retrieval-augmented generation (RAG) applications</a:t>
            </a:r>
            <a:endParaRPr/>
          </a:p>
          <a:p>
            <a:pPr indent="0" lvl="0" marL="0" rtl="0" algn="l">
              <a:spcBef>
                <a:spcPts val="0"/>
              </a:spcBef>
              <a:spcAft>
                <a:spcPts val="0"/>
              </a:spcAft>
              <a:buNone/>
            </a:pPr>
            <a:r>
              <a:rPr lang="en-US"/>
              <a:t>Weaviate: An open-source, cloud-native vector database with built-in semantic search, graph features, and multi-modal support; excels at integrating structured data with vector search for complex AI-driven applications</a:t>
            </a:r>
            <a:endParaRPr/>
          </a:p>
          <a:p>
            <a:pPr indent="0" lvl="0" marL="0" rtl="0" algn="l">
              <a:spcBef>
                <a:spcPts val="0"/>
              </a:spcBef>
              <a:spcAft>
                <a:spcPts val="0"/>
              </a:spcAft>
              <a:buNone/>
            </a:pPr>
            <a:r>
              <a:rPr lang="en-US"/>
              <a:t>PGVector (PostgreSQL with pgvector): An extension for PostgreSQL that adds vector search capabilities to the familiar SQL environment; best for teams seeking simplicity, integration with existing relational data, and moderate-scale vector workloads</a:t>
            </a:r>
            <a:endParaRPr/>
          </a:p>
          <a:p>
            <a:pPr indent="0" lvl="0" marL="0" rtl="0" algn="l">
              <a:spcBef>
                <a:spcPts val="0"/>
              </a:spcBef>
              <a:spcAft>
                <a:spcPts val="0"/>
              </a:spcAft>
              <a:buNone/>
            </a:pPr>
            <a:r>
              <a:rPr lang="en-US"/>
              <a:t>LanceDB: An open-source vector database optimized for multimodal data (text, images, audio, video); known for it</a:t>
            </a:r>
            <a:r>
              <a:rPr lang="en-US"/>
              <a:t>s </a:t>
            </a:r>
            <a:r>
              <a:rPr lang="en-US"/>
              <a:t>fast local development, efficient storage, and strong support for AI workflows involving multiple data types.</a:t>
            </a:r>
            <a:endParaRPr/>
          </a:p>
          <a:p>
            <a:pPr indent="0" lvl="0" marL="0" rtl="0" algn="l">
              <a:spcBef>
                <a:spcPts val="0"/>
              </a:spcBef>
              <a:spcAft>
                <a:spcPts val="0"/>
              </a:spcAft>
              <a:buNone/>
            </a:pPr>
            <a:r>
              <a:rPr lang="en-US"/>
              <a:t>MongoDB (with Atlas Vector Search): A general-purpose document database with vector search capabilities integrated into its cloud offering; good for teams already using MongoDB and seeking to add basic vector search to their stack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8" name="Google Shape;178;g3fa1ed7422c_0_1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Many Start with PostgreSQL + pgvector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companies opt for PostgreSQL with the pgvector extension because it’s simple, familiar, and integrates seamlessly with existing infrastructure. For teams already using PostgreSQL, this approach allows you to add vector search capabilities without introducing new systems, reducing operational complexity and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Simplicity: No need to manage a separate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Integration: Leverages existing authentication, backup, and monitoring setups.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Good Enough Performance: For most small-to-medium workloads, pgvector is fast enough. If you ever need more, migration paths to specialized solutions are available</a:t>
            </a:r>
            <a:endParaRPr/>
          </a:p>
        </p:txBody>
      </p:sp>
      <p:sp>
        <p:nvSpPr>
          <p:cNvPr id="187" name="Google Shape;1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the foreign key: retrieval must preserve provenance back to the article.</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application uses SQLAlchemy max_inner_product(), which maps to the same pgvector behavior.</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a1ed7422c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fa1ed7422c_0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Many Start with PostgreSQL + pgvector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companies opt for PostgreSQL with the pgvector extension because it’s simple, familiar, and integrates seamlessly with existing infrastructure. For teams already using PostgreSQL, this approach allows you to add vector search capabilities without introducing new systems, reducing operational complexity and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Simplicity: No need to manage a separate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Integration: Leverages existing authentication, backup, and monitoring setups.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Good Enough Performance: For most small-to-medium workloads, pgvector is fast enough. If you ever need more, migration paths to specialized solutions are available</a:t>
            </a:r>
            <a:endParaRPr/>
          </a:p>
        </p:txBody>
      </p:sp>
      <p:sp>
        <p:nvSpPr>
          <p:cNvPr id="251" name="Google Shape;251;g3fa1ed7422c_0_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a1ed7422c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fa1ed7422c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Many Start with PostgreSQL + pgvector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companies opt for PostgreSQL with the pgvector extension because it’s simple, familiar, and integrates seamlessly with existing infrastructure. For teams already using PostgreSQL, this approach allows you to add vector search capabilities without introducing new systems, reducing operational complexity and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Simplicity: No need to manage a separate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Integration: Leverages existing authentication, backup, and monitoring setups.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Good Enough Performance: For most small-to-medium workloads, pgvector is fast enough. If you ever need more, migration paths to specialized solutions are available</a:t>
            </a:r>
            <a:endParaRPr/>
          </a:p>
        </p:txBody>
      </p:sp>
      <p:sp>
        <p:nvSpPr>
          <p:cNvPr id="260" name="Google Shape;260;g3fa1ed7422c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a1ed7422c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a1ed7422c_0_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Connect this to the project rule: the API queries stored data; it never scrapes during requests.</a:t>
            </a:r>
            <a:endParaRPr/>
          </a:p>
        </p:txBody>
      </p:sp>
      <p:sp>
        <p:nvSpPr>
          <p:cNvPr id="269" name="Google Shape;269;g3fa1ed7422c_0_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time is tight, prepare through indexing before the meetup and perform only search live.</a:t>
            </a:r>
            <a:endParaRPr/>
          </a:p>
        </p:txBody>
      </p:sp>
      <p:sp>
        <p:nvSpPr>
          <p:cNvPr id="277" name="Google Shape;2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a1ed7422c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fa1ed7422c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Many Start with PostgreSQL + pgvector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Many companies opt for PostgreSQL with the pgvector extension because it’s simple, familiar, and integrates seamlessly with existing infrastructure. For teams already using PostgreSQL, this approach allows you to add vector search capabilities without introducing new systems, reducing operational complexity and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Simplicity: No need to manage a separate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Integration: Leverages existing authentication, backup, and monitoring setups.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Good Enough Performance: For most small-to-medium workloads, pgvector is fast enough. If you ever need more, migration paths to specialized solutions are available</a:t>
            </a:r>
            <a:endParaRPr/>
          </a:p>
        </p:txBody>
      </p:sp>
      <p:sp>
        <p:nvSpPr>
          <p:cNvPr id="305" name="Google Shape;305;g3fa1ed7422c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retrieved evidence first. Then generate. This makes provenance and failure diagnosis tangible.</a:t>
            </a:r>
            <a:endParaRPr/>
          </a:p>
        </p:txBody>
      </p:sp>
      <p:sp>
        <p:nvSpPr>
          <p:cNvPr id="314" name="Google Shape;3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github.com/lindseypeng/ai-news-api/tree/week-4/week4/pgvector-setup" TargetMode="External"/><Relationship Id="rId4" Type="http://schemas.openxmlformats.org/officeDocument/2006/relationships/hyperlink" Target="http://1-basic-operations.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github.com/lindseypeng/ai-news-api/tree/week-4/week4/rag-pipelin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github.com/lindseypeng/ai-news-api/tree/week-4/ap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15" name="Shape 15"/>
        <p:cNvGrpSpPr/>
        <p:nvPr/>
      </p:nvGrpSpPr>
      <p:grpSpPr>
        <a:xfrm>
          <a:off x="0" y="0"/>
          <a:ext cx="0" cy="0"/>
          <a:chOff x="0" y="0"/>
          <a:chExt cx="0" cy="0"/>
        </a:xfrm>
      </p:grpSpPr>
      <p:sp>
        <p:nvSpPr>
          <p:cNvPr id="16" name="Google Shape;16;p1"/>
          <p:cNvSpPr/>
          <p:nvPr/>
        </p:nvSpPr>
        <p:spPr>
          <a:xfrm>
            <a:off x="7406640" y="-822960"/>
            <a:ext cx="5760720" cy="5760720"/>
          </a:xfrm>
          <a:prstGeom prst="ellipse">
            <a:avLst/>
          </a:prstGeom>
          <a:solidFill>
            <a:srgbClr val="6C5CE7">
              <a:alpha val="81961"/>
            </a:srgbClr>
          </a:solidFill>
          <a:ln cap="flat" cmpd="sng" w="12700">
            <a:solidFill>
              <a:srgbClr val="6C5CE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778240" y="3566160"/>
            <a:ext cx="3840480" cy="3840480"/>
          </a:xfrm>
          <a:prstGeom prst="ellipse">
            <a:avLst/>
          </a:prstGeom>
          <a:solidFill>
            <a:srgbClr val="00A896">
              <a:alpha val="92157"/>
            </a:srgbClr>
          </a:solidFill>
          <a:ln cap="flat" cmpd="sng" w="12700">
            <a:solidFill>
              <a:srgbClr val="00A89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40080" y="685800"/>
            <a:ext cx="1554480" cy="347472"/>
          </a:xfrm>
          <a:prstGeom prst="roundRect">
            <a:avLst>
              <a:gd fmla="val 157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749808" y="758952"/>
            <a:ext cx="133502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WEEK 4 MEETUP</a:t>
            </a:r>
            <a:endParaRPr b="0" i="0" sz="1000" u="none" cap="none" strike="noStrike">
              <a:solidFill>
                <a:schemeClr val="dk1"/>
              </a:solidFill>
              <a:latin typeface="Arial"/>
              <a:ea typeface="Arial"/>
              <a:cs typeface="Arial"/>
              <a:sym typeface="Arial"/>
            </a:endParaRPr>
          </a:p>
        </p:txBody>
      </p:sp>
      <p:sp>
        <p:nvSpPr>
          <p:cNvPr id="20" name="Google Shape;20;p1"/>
          <p:cNvSpPr/>
          <p:nvPr/>
        </p:nvSpPr>
        <p:spPr>
          <a:xfrm>
            <a:off x="658368" y="1325880"/>
            <a:ext cx="7406640" cy="1920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RAG with PostgreSQL</a:t>
            </a:r>
            <a:endParaRPr b="0" i="0" sz="42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 pgvector</a:t>
            </a:r>
            <a:endParaRPr b="0" i="0" sz="4200" u="none" cap="none" strike="noStrike">
              <a:solidFill>
                <a:schemeClr val="dk1"/>
              </a:solidFill>
              <a:latin typeface="Arial"/>
              <a:ea typeface="Arial"/>
              <a:cs typeface="Arial"/>
              <a:sym typeface="Arial"/>
            </a:endParaRPr>
          </a:p>
        </p:txBody>
      </p:sp>
      <p:sp>
        <p:nvSpPr>
          <p:cNvPr id="21" name="Google Shape;21;p1"/>
          <p:cNvSpPr/>
          <p:nvPr/>
        </p:nvSpPr>
        <p:spPr>
          <a:xfrm>
            <a:off x="685800" y="3611880"/>
            <a:ext cx="5943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E0C4"/>
              </a:buClr>
              <a:buSzPts val="1900"/>
              <a:buFont typeface="Arial"/>
              <a:buNone/>
            </a:pPr>
            <a:r>
              <a:rPr b="0" i="0" lang="en-US" sz="1900" u="none" cap="none" strike="noStrike">
                <a:solidFill>
                  <a:srgbClr val="7FE0C4"/>
                </a:solidFill>
                <a:latin typeface="Arial"/>
                <a:ea typeface="Arial"/>
                <a:cs typeface="Arial"/>
                <a:sym typeface="Arial"/>
              </a:rPr>
              <a:t>From news articles to evidence-backed answers</a:t>
            </a:r>
            <a:endParaRPr b="0" i="0" sz="1900" u="none" cap="none" strike="noStrike">
              <a:solidFill>
                <a:schemeClr val="dk1"/>
              </a:solidFill>
              <a:latin typeface="Arial"/>
              <a:ea typeface="Arial"/>
              <a:cs typeface="Arial"/>
              <a:sym typeface="Arial"/>
            </a:endParaRPr>
          </a:p>
        </p:txBody>
      </p:sp>
      <p:sp>
        <p:nvSpPr>
          <p:cNvPr id="22" name="Google Shape;22;p1"/>
          <p:cNvSpPr/>
          <p:nvPr/>
        </p:nvSpPr>
        <p:spPr>
          <a:xfrm>
            <a:off x="685800" y="5303520"/>
            <a:ext cx="6217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DD6DF"/>
              </a:buClr>
              <a:buSzPts val="1400"/>
              <a:buFont typeface="Arial"/>
              <a:buNone/>
            </a:pPr>
            <a:r>
              <a:rPr b="0" i="0" lang="en-US" sz="1400" u="none" cap="none" strike="noStrike">
                <a:solidFill>
                  <a:srgbClr val="CDD6DF"/>
                </a:solidFill>
                <a:latin typeface="Arial"/>
                <a:ea typeface="Arial"/>
                <a:cs typeface="Arial"/>
                <a:sym typeface="Arial"/>
              </a:rPr>
              <a:t>Concepts  →  vectors  →  retrieval  →  generation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27" name="Shape 27"/>
        <p:cNvGrpSpPr/>
        <p:nvPr/>
      </p:nvGrpSpPr>
      <p:grpSpPr>
        <a:xfrm>
          <a:off x="0" y="0"/>
          <a:ext cx="0" cy="0"/>
          <a:chOff x="0" y="0"/>
          <a:chExt cx="0" cy="0"/>
        </a:xfrm>
      </p:grpSpPr>
      <p:sp>
        <p:nvSpPr>
          <p:cNvPr id="28" name="Google Shape;28;g3fa1ed7422c_0_92"/>
          <p:cNvSpPr/>
          <p:nvPr/>
        </p:nvSpPr>
        <p:spPr>
          <a:xfrm>
            <a:off x="609610" y="304479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Introduction </a:t>
            </a:r>
            <a:endParaRPr b="0" i="0" sz="2800" u="none" cap="none" strike="noStrike">
              <a:solidFill>
                <a:schemeClr val="dk1"/>
              </a:solidFill>
              <a:latin typeface="Arial"/>
              <a:ea typeface="Arial"/>
              <a:cs typeface="Arial"/>
              <a:sym typeface="Arial"/>
            </a:endParaRPr>
          </a:p>
        </p:txBody>
      </p:sp>
      <p:sp>
        <p:nvSpPr>
          <p:cNvPr id="29" name="Google Shape;29;g3fa1ed7422c_0_92"/>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30" name="Google Shape;30;g3fa1ed7422c_0_92"/>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5" name="Shape 35"/>
        <p:cNvGrpSpPr/>
        <p:nvPr/>
      </p:nvGrpSpPr>
      <p:grpSpPr>
        <a:xfrm>
          <a:off x="0" y="0"/>
          <a:ext cx="0" cy="0"/>
          <a:chOff x="0" y="0"/>
          <a:chExt cx="0" cy="0"/>
        </a:xfrm>
      </p:grpSpPr>
      <p:sp>
        <p:nvSpPr>
          <p:cNvPr id="36" name="Google Shape;36;p2"/>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i="0" lang="en-US" sz="2800" u="none" cap="none" strike="noStrike">
                <a:solidFill>
                  <a:srgbClr val="17202A"/>
                </a:solidFill>
                <a:latin typeface="Cambria"/>
                <a:ea typeface="Cambria"/>
                <a:cs typeface="Cambria"/>
                <a:sym typeface="Cambria"/>
              </a:rPr>
              <a:t>The problem: </a:t>
            </a:r>
            <a:r>
              <a:rPr b="1" lang="en-US" sz="2800">
                <a:solidFill>
                  <a:srgbClr val="17202A"/>
                </a:solidFill>
                <a:latin typeface="Cambria"/>
                <a:ea typeface="Cambria"/>
                <a:cs typeface="Cambria"/>
                <a:sym typeface="Cambria"/>
              </a:rPr>
              <a:t>generic AI</a:t>
            </a:r>
            <a:r>
              <a:rPr b="1" i="0" lang="en-US" sz="2800" u="none" cap="none" strike="noStrike">
                <a:solidFill>
                  <a:srgbClr val="17202A"/>
                </a:solidFill>
                <a:latin typeface="Cambria"/>
                <a:ea typeface="Cambria"/>
                <a:cs typeface="Cambria"/>
                <a:sym typeface="Cambria"/>
              </a:rPr>
              <a:t> model does not </a:t>
            </a:r>
            <a:r>
              <a:rPr b="1" lang="en-US" sz="2800">
                <a:solidFill>
                  <a:srgbClr val="17202A"/>
                </a:solidFill>
                <a:latin typeface="Cambria"/>
                <a:ea typeface="Cambria"/>
                <a:cs typeface="Cambria"/>
                <a:sym typeface="Cambria"/>
              </a:rPr>
              <a:t>know</a:t>
            </a:r>
            <a:r>
              <a:rPr b="1" i="0" lang="en-US" sz="2800" u="none" cap="none" strike="noStrike">
                <a:solidFill>
                  <a:srgbClr val="17202A"/>
                </a:solidFill>
                <a:latin typeface="Cambria"/>
                <a:ea typeface="Cambria"/>
                <a:cs typeface="Cambria"/>
                <a:sym typeface="Cambria"/>
              </a:rPr>
              <a:t> </a:t>
            </a:r>
            <a:r>
              <a:rPr b="1" lang="en-US" sz="2800">
                <a:solidFill>
                  <a:srgbClr val="17202A"/>
                </a:solidFill>
                <a:latin typeface="Cambria"/>
                <a:ea typeface="Cambria"/>
                <a:cs typeface="Cambria"/>
                <a:sym typeface="Cambria"/>
              </a:rPr>
              <a:t>YOU</a:t>
            </a:r>
            <a:endParaRPr b="0" i="0" sz="2800" u="none" cap="none" strike="noStrike">
              <a:solidFill>
                <a:schemeClr val="dk1"/>
              </a:solidFill>
              <a:latin typeface="Arial"/>
              <a:ea typeface="Arial"/>
              <a:cs typeface="Arial"/>
              <a:sym typeface="Arial"/>
            </a:endParaRPr>
          </a:p>
        </p:txBody>
      </p:sp>
      <p:sp>
        <p:nvSpPr>
          <p:cNvPr id="37" name="Google Shape;37;p2"/>
          <p:cNvSpPr/>
          <p:nvPr/>
        </p:nvSpPr>
        <p:spPr>
          <a:xfrm>
            <a:off x="640080" y="1325880"/>
            <a:ext cx="3383280" cy="411480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68680" y="1572768"/>
            <a:ext cx="310896" cy="310896"/>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298448" y="154533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Static knowledge</a:t>
            </a:r>
            <a:endParaRPr b="0" i="0" sz="1700" u="none" cap="none" strike="noStrike">
              <a:solidFill>
                <a:schemeClr val="dk1"/>
              </a:solidFill>
              <a:latin typeface="Arial"/>
              <a:ea typeface="Arial"/>
              <a:cs typeface="Arial"/>
              <a:sym typeface="Arial"/>
            </a:endParaRPr>
          </a:p>
        </p:txBody>
      </p:sp>
      <p:sp>
        <p:nvSpPr>
          <p:cNvPr id="40" name="Google Shape;40;p2"/>
          <p:cNvSpPr/>
          <p:nvPr/>
        </p:nvSpPr>
        <p:spPr>
          <a:xfrm>
            <a:off x="868680" y="2039112"/>
            <a:ext cx="2926080" cy="32186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Training knowledge has a cutoff and does not include your private news database.</a:t>
            </a:r>
            <a:endParaRPr b="0" i="0" sz="1250" u="none" cap="none" strike="noStrike">
              <a:solidFill>
                <a:schemeClr val="dk1"/>
              </a:solidFill>
              <a:latin typeface="Arial"/>
              <a:ea typeface="Arial"/>
              <a:cs typeface="Arial"/>
              <a:sym typeface="Arial"/>
            </a:endParaRPr>
          </a:p>
        </p:txBody>
      </p:sp>
      <p:sp>
        <p:nvSpPr>
          <p:cNvPr id="41" name="Google Shape;41;p2"/>
          <p:cNvSpPr/>
          <p:nvPr/>
        </p:nvSpPr>
        <p:spPr>
          <a:xfrm>
            <a:off x="4407408" y="1325880"/>
            <a:ext cx="3383280" cy="411480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636008" y="1572768"/>
            <a:ext cx="310896" cy="310896"/>
          </a:xfrm>
          <a:prstGeom prst="ellipse">
            <a:avLst/>
          </a:prstGeom>
          <a:solidFill>
            <a:srgbClr val="FFD166"/>
          </a:solidFill>
          <a:ln cap="flat" cmpd="sng" w="12700">
            <a:solidFill>
              <a:srgbClr val="FFD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065776" y="154533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Plausible ≠ true</a:t>
            </a:r>
            <a:endParaRPr b="0" i="0" sz="1700" u="none" cap="none" strike="noStrike">
              <a:solidFill>
                <a:schemeClr val="dk1"/>
              </a:solidFill>
              <a:latin typeface="Arial"/>
              <a:ea typeface="Arial"/>
              <a:cs typeface="Arial"/>
              <a:sym typeface="Arial"/>
            </a:endParaRPr>
          </a:p>
        </p:txBody>
      </p:sp>
      <p:sp>
        <p:nvSpPr>
          <p:cNvPr id="44" name="Google Shape;44;p2"/>
          <p:cNvSpPr/>
          <p:nvPr/>
        </p:nvSpPr>
        <p:spPr>
          <a:xfrm>
            <a:off x="4636008" y="2039112"/>
            <a:ext cx="2926080" cy="32186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A fluent answer can still be unsupported, stale, or invented.</a:t>
            </a:r>
            <a:endParaRPr b="0" i="0" sz="1250" u="none" cap="none" strike="noStrike">
              <a:solidFill>
                <a:schemeClr val="dk1"/>
              </a:solidFill>
              <a:latin typeface="Arial"/>
              <a:ea typeface="Arial"/>
              <a:cs typeface="Arial"/>
              <a:sym typeface="Arial"/>
            </a:endParaRPr>
          </a:p>
        </p:txBody>
      </p:sp>
      <p:sp>
        <p:nvSpPr>
          <p:cNvPr id="45" name="Google Shape;45;p2"/>
          <p:cNvSpPr/>
          <p:nvPr/>
        </p:nvSpPr>
        <p:spPr>
          <a:xfrm>
            <a:off x="8174736" y="1325880"/>
            <a:ext cx="3383280" cy="411480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8403336" y="1572768"/>
            <a:ext cx="310896" cy="310896"/>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8833104" y="154533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RAG adds evidence</a:t>
            </a:r>
            <a:endParaRPr b="0" i="0" sz="1700" u="none" cap="none" strike="noStrike">
              <a:solidFill>
                <a:schemeClr val="dk1"/>
              </a:solidFill>
              <a:latin typeface="Arial"/>
              <a:ea typeface="Arial"/>
              <a:cs typeface="Arial"/>
              <a:sym typeface="Arial"/>
            </a:endParaRPr>
          </a:p>
        </p:txBody>
      </p:sp>
      <p:sp>
        <p:nvSpPr>
          <p:cNvPr id="48" name="Google Shape;48;p2"/>
          <p:cNvSpPr/>
          <p:nvPr/>
        </p:nvSpPr>
        <p:spPr>
          <a:xfrm>
            <a:off x="8403336" y="2039112"/>
            <a:ext cx="2926080" cy="32186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Retrieve current passages first, then ask the model to answer from them.</a:t>
            </a:r>
            <a:endParaRPr b="0" i="0" sz="1250" u="none" cap="none" strike="noStrike">
              <a:solidFill>
                <a:schemeClr val="dk1"/>
              </a:solidFill>
              <a:latin typeface="Arial"/>
              <a:ea typeface="Arial"/>
              <a:cs typeface="Arial"/>
              <a:sym typeface="Arial"/>
            </a:endParaRPr>
          </a:p>
        </p:txBody>
      </p:sp>
      <p:cxnSp>
        <p:nvCxnSpPr>
          <p:cNvPr id="49" name="Google Shape;49;p2"/>
          <p:cNvCxnSpPr/>
          <p:nvPr/>
        </p:nvCxnSpPr>
        <p:spPr>
          <a:xfrm>
            <a:off x="4041648" y="3383280"/>
            <a:ext cx="329184" cy="0"/>
          </a:xfrm>
          <a:prstGeom prst="straightConnector1">
            <a:avLst/>
          </a:prstGeom>
          <a:noFill/>
          <a:ln cap="flat" cmpd="sng" w="25400">
            <a:solidFill>
              <a:srgbClr val="6C5CE7"/>
            </a:solidFill>
            <a:prstDash val="solid"/>
            <a:round/>
            <a:headEnd len="sm" w="sm" type="none"/>
            <a:tailEnd len="med" w="med" type="triangle"/>
          </a:ln>
        </p:spPr>
      </p:cxnSp>
      <p:cxnSp>
        <p:nvCxnSpPr>
          <p:cNvPr id="50" name="Google Shape;50;p2"/>
          <p:cNvCxnSpPr/>
          <p:nvPr/>
        </p:nvCxnSpPr>
        <p:spPr>
          <a:xfrm>
            <a:off x="7808976" y="3383280"/>
            <a:ext cx="329184" cy="0"/>
          </a:xfrm>
          <a:prstGeom prst="straightConnector1">
            <a:avLst/>
          </a:prstGeom>
          <a:noFill/>
          <a:ln cap="flat" cmpd="sng" w="25400">
            <a:solidFill>
              <a:srgbClr val="6C5CE7"/>
            </a:solidFill>
            <a:prstDash val="solid"/>
            <a:round/>
            <a:headEnd len="sm" w="sm" type="none"/>
            <a:tailEnd len="med" w="med" type="triangle"/>
          </a:ln>
        </p:spPr>
      </p:cxnSp>
      <p:sp>
        <p:nvSpPr>
          <p:cNvPr id="51" name="Google Shape;51;p2"/>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52" name="Google Shape;52;p2"/>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7" name="Shape 57"/>
        <p:cNvGrpSpPr/>
        <p:nvPr/>
      </p:nvGrpSpPr>
      <p:grpSpPr>
        <a:xfrm>
          <a:off x="0" y="0"/>
          <a:ext cx="0" cy="0"/>
          <a:chOff x="0" y="0"/>
          <a:chExt cx="0" cy="0"/>
        </a:xfrm>
      </p:grpSpPr>
      <p:sp>
        <p:nvSpPr>
          <p:cNvPr id="58" name="Google Shape;58;p3"/>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i="0" lang="en-US" sz="2800" u="none" cap="none" strike="noStrike">
                <a:solidFill>
                  <a:srgbClr val="17202A"/>
                </a:solidFill>
                <a:latin typeface="Cambria"/>
                <a:ea typeface="Cambria"/>
                <a:cs typeface="Cambria"/>
                <a:sym typeface="Cambria"/>
              </a:rPr>
              <a:t>RAG is two systems joined at the prompt</a:t>
            </a:r>
            <a:endParaRPr b="0" i="0" sz="2800" u="none" cap="none" strike="noStrike">
              <a:solidFill>
                <a:schemeClr val="dk1"/>
              </a:solidFill>
              <a:latin typeface="Arial"/>
              <a:ea typeface="Arial"/>
              <a:cs typeface="Arial"/>
              <a:sym typeface="Arial"/>
            </a:endParaRPr>
          </a:p>
        </p:txBody>
      </p:sp>
      <p:sp>
        <p:nvSpPr>
          <p:cNvPr id="59" name="Google Shape;59;p3"/>
          <p:cNvSpPr/>
          <p:nvPr/>
        </p:nvSpPr>
        <p:spPr>
          <a:xfrm>
            <a:off x="685800" y="1234440"/>
            <a:ext cx="5074920" cy="4480560"/>
          </a:xfrm>
          <a:prstGeom prst="roundRect">
            <a:avLst>
              <a:gd fmla="val 1633" name="adj"/>
            </a:avLst>
          </a:prstGeom>
          <a:solidFill>
            <a:srgbClr val="EFEDFF"/>
          </a:solidFill>
          <a:ln cap="flat" cmpd="sng" w="12700">
            <a:solidFill>
              <a:srgbClr val="D7D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005840" y="1600200"/>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5CE7"/>
              </a:buClr>
              <a:buSzPts val="2300"/>
              <a:buFont typeface="Arial"/>
              <a:buNone/>
            </a:pPr>
            <a:r>
              <a:rPr b="1" i="0" lang="en-US" sz="2300" u="none" cap="none" strike="noStrike">
                <a:solidFill>
                  <a:srgbClr val="6C5CE7"/>
                </a:solidFill>
                <a:latin typeface="Arial"/>
                <a:ea typeface="Arial"/>
                <a:cs typeface="Arial"/>
                <a:sym typeface="Arial"/>
              </a:rPr>
              <a:t>1  RETRIEVAL</a:t>
            </a:r>
            <a:endParaRPr b="0" i="0" sz="2300" u="none" cap="none" strike="noStrike">
              <a:solidFill>
                <a:schemeClr val="dk1"/>
              </a:solidFill>
              <a:latin typeface="Arial"/>
              <a:ea typeface="Arial"/>
              <a:cs typeface="Arial"/>
              <a:sym typeface="Arial"/>
            </a:endParaRPr>
          </a:p>
        </p:txBody>
      </p:sp>
      <p:sp>
        <p:nvSpPr>
          <p:cNvPr id="61" name="Google Shape;61;p3"/>
          <p:cNvSpPr/>
          <p:nvPr/>
        </p:nvSpPr>
        <p:spPr>
          <a:xfrm>
            <a:off x="1005840" y="2331720"/>
            <a:ext cx="4206240" cy="10058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202A"/>
              </a:buClr>
              <a:buSzPts val="2100"/>
              <a:buFont typeface="Arial"/>
              <a:buNone/>
            </a:pPr>
            <a:r>
              <a:rPr b="1" i="0" lang="en-US" sz="2100" u="none" cap="none" strike="noStrike">
                <a:solidFill>
                  <a:srgbClr val="17202A"/>
                </a:solidFill>
                <a:latin typeface="Arial"/>
                <a:ea typeface="Arial"/>
                <a:cs typeface="Arial"/>
                <a:sym typeface="Arial"/>
              </a:rPr>
              <a:t>Question → embedding → similarity search → top chunks</a:t>
            </a:r>
            <a:endParaRPr b="0" i="0" sz="2100" u="none" cap="none" strike="noStrike">
              <a:solidFill>
                <a:schemeClr val="dk1"/>
              </a:solidFill>
              <a:latin typeface="Arial"/>
              <a:ea typeface="Arial"/>
              <a:cs typeface="Arial"/>
              <a:sym typeface="Arial"/>
            </a:endParaRPr>
          </a:p>
        </p:txBody>
      </p:sp>
      <p:sp>
        <p:nvSpPr>
          <p:cNvPr id="62" name="Google Shape;62;p3"/>
          <p:cNvSpPr/>
          <p:nvPr/>
        </p:nvSpPr>
        <p:spPr>
          <a:xfrm>
            <a:off x="1005840" y="425196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800"/>
              <a:buFont typeface="Arial"/>
              <a:buNone/>
            </a:pPr>
            <a:r>
              <a:rPr b="0" i="0" lang="en-US" sz="1800" u="none" cap="none" strike="noStrike">
                <a:solidFill>
                  <a:srgbClr val="5E6B78"/>
                </a:solidFill>
                <a:latin typeface="Arial"/>
                <a:ea typeface="Arial"/>
                <a:cs typeface="Arial"/>
                <a:sym typeface="Arial"/>
              </a:rPr>
              <a:t>Output: evidence</a:t>
            </a:r>
            <a:endParaRPr b="0" i="0" sz="1800" u="none" cap="none" strike="noStrike">
              <a:solidFill>
                <a:schemeClr val="dk1"/>
              </a:solidFill>
              <a:latin typeface="Arial"/>
              <a:ea typeface="Arial"/>
              <a:cs typeface="Arial"/>
              <a:sym typeface="Arial"/>
            </a:endParaRPr>
          </a:p>
        </p:txBody>
      </p:sp>
      <p:sp>
        <p:nvSpPr>
          <p:cNvPr id="63" name="Google Shape;63;p3"/>
          <p:cNvSpPr/>
          <p:nvPr/>
        </p:nvSpPr>
        <p:spPr>
          <a:xfrm>
            <a:off x="6419088" y="1234440"/>
            <a:ext cx="5074920" cy="4480560"/>
          </a:xfrm>
          <a:prstGeom prst="roundRect">
            <a:avLst>
              <a:gd fmla="val 1633" name="adj"/>
            </a:avLst>
          </a:prstGeom>
          <a:solidFill>
            <a:srgbClr val="EAF7F4"/>
          </a:solidFill>
          <a:ln cap="flat" cmpd="sng" w="12700">
            <a:solidFill>
              <a:srgbClr val="BFE9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6739128" y="1600200"/>
            <a:ext cx="4389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2300"/>
              <a:buFont typeface="Arial"/>
              <a:buNone/>
            </a:pPr>
            <a:r>
              <a:rPr b="1" i="0" lang="en-US" sz="2300" u="none" cap="none" strike="noStrike">
                <a:solidFill>
                  <a:srgbClr val="00A896"/>
                </a:solidFill>
                <a:latin typeface="Arial"/>
                <a:ea typeface="Arial"/>
                <a:cs typeface="Arial"/>
                <a:sym typeface="Arial"/>
              </a:rPr>
              <a:t>2  GENERATION</a:t>
            </a:r>
            <a:endParaRPr b="0" i="0" sz="2300" u="none" cap="none" strike="noStrike">
              <a:solidFill>
                <a:schemeClr val="dk1"/>
              </a:solidFill>
              <a:latin typeface="Arial"/>
              <a:ea typeface="Arial"/>
              <a:cs typeface="Arial"/>
              <a:sym typeface="Arial"/>
            </a:endParaRPr>
          </a:p>
        </p:txBody>
      </p:sp>
      <p:sp>
        <p:nvSpPr>
          <p:cNvPr id="65" name="Google Shape;65;p3"/>
          <p:cNvSpPr/>
          <p:nvPr/>
        </p:nvSpPr>
        <p:spPr>
          <a:xfrm>
            <a:off x="6739128" y="2331720"/>
            <a:ext cx="4160520" cy="1143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202A"/>
              </a:buClr>
              <a:buSzPts val="2100"/>
              <a:buFont typeface="Arial"/>
              <a:buNone/>
            </a:pPr>
            <a:r>
              <a:rPr b="1" i="0" lang="en-US" sz="2100" u="none" cap="none" strike="noStrike">
                <a:solidFill>
                  <a:srgbClr val="17202A"/>
                </a:solidFill>
                <a:latin typeface="Arial"/>
                <a:ea typeface="Arial"/>
                <a:cs typeface="Arial"/>
                <a:sym typeface="Arial"/>
              </a:rPr>
              <a:t>Instructions + evidence + question → LLM → grounded answer</a:t>
            </a:r>
            <a:endParaRPr b="0" i="0" sz="2100" u="none" cap="none" strike="noStrike">
              <a:solidFill>
                <a:schemeClr val="dk1"/>
              </a:solidFill>
              <a:latin typeface="Arial"/>
              <a:ea typeface="Arial"/>
              <a:cs typeface="Arial"/>
              <a:sym typeface="Arial"/>
            </a:endParaRPr>
          </a:p>
        </p:txBody>
      </p:sp>
      <p:sp>
        <p:nvSpPr>
          <p:cNvPr id="66" name="Google Shape;66;p3"/>
          <p:cNvSpPr/>
          <p:nvPr/>
        </p:nvSpPr>
        <p:spPr>
          <a:xfrm>
            <a:off x="6739128" y="425196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800"/>
              <a:buFont typeface="Arial"/>
              <a:buNone/>
            </a:pPr>
            <a:r>
              <a:rPr b="0" i="0" lang="en-US" sz="1800" u="none" cap="none" strike="noStrike">
                <a:solidFill>
                  <a:srgbClr val="5E6B78"/>
                </a:solidFill>
                <a:latin typeface="Arial"/>
                <a:ea typeface="Arial"/>
                <a:cs typeface="Arial"/>
                <a:sym typeface="Arial"/>
              </a:rPr>
              <a:t>Output: language</a:t>
            </a:r>
            <a:endParaRPr b="0" i="0" sz="1800" u="none" cap="none" strike="noStrike">
              <a:solidFill>
                <a:schemeClr val="dk1"/>
              </a:solidFill>
              <a:latin typeface="Arial"/>
              <a:ea typeface="Arial"/>
              <a:cs typeface="Arial"/>
              <a:sym typeface="Arial"/>
            </a:endParaRPr>
          </a:p>
        </p:txBody>
      </p:sp>
      <p:cxnSp>
        <p:nvCxnSpPr>
          <p:cNvPr id="67" name="Google Shape;67;p3"/>
          <p:cNvCxnSpPr/>
          <p:nvPr/>
        </p:nvCxnSpPr>
        <p:spPr>
          <a:xfrm>
            <a:off x="5788152" y="3447288"/>
            <a:ext cx="566928" cy="0"/>
          </a:xfrm>
          <a:prstGeom prst="straightConnector1">
            <a:avLst/>
          </a:prstGeom>
          <a:noFill/>
          <a:ln cap="flat" cmpd="sng" w="25400">
            <a:solidFill>
              <a:srgbClr val="FF6B6B"/>
            </a:solidFill>
            <a:prstDash val="solid"/>
            <a:round/>
            <a:headEnd len="sm" w="sm" type="none"/>
            <a:tailEnd len="med" w="med" type="triangle"/>
          </a:ln>
        </p:spPr>
      </p:cxnSp>
      <p:sp>
        <p:nvSpPr>
          <p:cNvPr id="68" name="Google Shape;68;p3"/>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69" name="Google Shape;69;p3"/>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74" name="Shape 74"/>
        <p:cNvGrpSpPr/>
        <p:nvPr/>
      </p:nvGrpSpPr>
      <p:grpSpPr>
        <a:xfrm>
          <a:off x="0" y="0"/>
          <a:ext cx="0" cy="0"/>
          <a:chOff x="0" y="0"/>
          <a:chExt cx="0" cy="0"/>
        </a:xfrm>
      </p:grpSpPr>
      <p:sp>
        <p:nvSpPr>
          <p:cNvPr id="75" name="Google Shape;75;g3fa1ed7422c_0_5"/>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How RAG Works: The Complete Pipeline</a:t>
            </a:r>
            <a:endParaRPr b="0" i="0" sz="2800" u="none" cap="none" strike="noStrike">
              <a:solidFill>
                <a:schemeClr val="dk1"/>
              </a:solidFill>
              <a:latin typeface="Arial"/>
              <a:ea typeface="Arial"/>
              <a:cs typeface="Arial"/>
              <a:sym typeface="Arial"/>
            </a:endParaRPr>
          </a:p>
        </p:txBody>
      </p:sp>
      <p:sp>
        <p:nvSpPr>
          <p:cNvPr id="76" name="Google Shape;76;g3fa1ed7422c_0_5"/>
          <p:cNvSpPr/>
          <p:nvPr/>
        </p:nvSpPr>
        <p:spPr>
          <a:xfrm>
            <a:off x="868680" y="5173090"/>
            <a:ext cx="1920300" cy="347400"/>
          </a:xfrm>
          <a:prstGeom prst="roundRect">
            <a:avLst>
              <a:gd fmla="val 15789" name="adj"/>
            </a:avLst>
          </a:prstGeom>
          <a:solidFill>
            <a:srgbClr val="2D2658"/>
          </a:solidFill>
          <a:ln cap="flat" cmpd="sng" w="12700">
            <a:solidFill>
              <a:srgbClr val="2D26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fa1ed7422c_0_5"/>
          <p:cNvSpPr/>
          <p:nvPr/>
        </p:nvSpPr>
        <p:spPr>
          <a:xfrm>
            <a:off x="978408" y="5246242"/>
            <a:ext cx="17007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E0C4"/>
              </a:buClr>
              <a:buSzPts val="1000"/>
              <a:buFont typeface="Arial"/>
              <a:buNone/>
            </a:pPr>
            <a:r>
              <a:rPr b="1" i="0" lang="en-US" sz="1000" u="none" cap="none" strike="noStrike">
                <a:solidFill>
                  <a:srgbClr val="7FE0C4"/>
                </a:solidFill>
                <a:latin typeface="Arial"/>
                <a:ea typeface="Arial"/>
                <a:cs typeface="Arial"/>
                <a:sym typeface="Arial"/>
              </a:rPr>
              <a:t>OFFLINE / BATCH</a:t>
            </a:r>
            <a:endParaRPr b="0" i="0" sz="1000" u="none" cap="none" strike="noStrike">
              <a:solidFill>
                <a:schemeClr val="dk1"/>
              </a:solidFill>
              <a:latin typeface="Arial"/>
              <a:ea typeface="Arial"/>
              <a:cs typeface="Arial"/>
              <a:sym typeface="Arial"/>
            </a:endParaRPr>
          </a:p>
        </p:txBody>
      </p:sp>
      <p:sp>
        <p:nvSpPr>
          <p:cNvPr id="78" name="Google Shape;78;g3fa1ed7422c_0_5"/>
          <p:cNvSpPr/>
          <p:nvPr/>
        </p:nvSpPr>
        <p:spPr>
          <a:xfrm>
            <a:off x="2366960" y="1738065"/>
            <a:ext cx="2057400" cy="347400"/>
          </a:xfrm>
          <a:prstGeom prst="roundRect">
            <a:avLst>
              <a:gd fmla="val 15789" name="adj"/>
            </a:avLst>
          </a:prstGeom>
          <a:solidFill>
            <a:srgbClr val="123D3B"/>
          </a:solidFill>
          <a:ln cap="flat" cmpd="sng" w="12700">
            <a:solidFill>
              <a:srgbClr val="123D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fa1ed7422c_0_5"/>
          <p:cNvSpPr/>
          <p:nvPr/>
        </p:nvSpPr>
        <p:spPr>
          <a:xfrm>
            <a:off x="2476688" y="1811217"/>
            <a:ext cx="18378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FE0C4"/>
              </a:buClr>
              <a:buSzPts val="1000"/>
              <a:buFont typeface="Arial"/>
              <a:buNone/>
            </a:pPr>
            <a:r>
              <a:rPr b="1" i="0" lang="en-US" sz="1000" u="none" cap="none" strike="noStrike">
                <a:solidFill>
                  <a:srgbClr val="7FE0C4"/>
                </a:solidFill>
                <a:latin typeface="Arial"/>
                <a:ea typeface="Arial"/>
                <a:cs typeface="Arial"/>
                <a:sym typeface="Arial"/>
              </a:rPr>
              <a:t>ONLINE / REQUEST</a:t>
            </a:r>
            <a:endParaRPr b="0" i="0" sz="1000" u="none" cap="none" strike="noStrike">
              <a:solidFill>
                <a:schemeClr val="dk1"/>
              </a:solidFill>
              <a:latin typeface="Arial"/>
              <a:ea typeface="Arial"/>
              <a:cs typeface="Arial"/>
              <a:sym typeface="Arial"/>
            </a:endParaRPr>
          </a:p>
        </p:txBody>
      </p:sp>
      <p:sp>
        <p:nvSpPr>
          <p:cNvPr id="80" name="Google Shape;80;g3fa1ed7422c_0_5"/>
          <p:cNvSpPr/>
          <p:nvPr/>
        </p:nvSpPr>
        <p:spPr>
          <a:xfrm>
            <a:off x="914430" y="5712715"/>
            <a:ext cx="18288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DD6DF"/>
              </a:buClr>
              <a:buSzPts val="1600"/>
              <a:buFont typeface="Arial"/>
              <a:buNone/>
            </a:pPr>
            <a:r>
              <a:rPr b="0" i="0" lang="en-US" sz="1600" u="none" cap="none" strike="noStrike">
                <a:solidFill>
                  <a:srgbClr val="CDD6DF"/>
                </a:solidFill>
                <a:latin typeface="Arial"/>
                <a:ea typeface="Arial"/>
                <a:cs typeface="Arial"/>
                <a:sym typeface="Arial"/>
              </a:rPr>
              <a:t>Write once</a:t>
            </a:r>
            <a:endParaRPr b="0" i="0" sz="1600" u="none" cap="none" strike="noStrike">
              <a:solidFill>
                <a:schemeClr val="dk1"/>
              </a:solidFill>
              <a:latin typeface="Arial"/>
              <a:ea typeface="Arial"/>
              <a:cs typeface="Arial"/>
              <a:sym typeface="Arial"/>
            </a:endParaRPr>
          </a:p>
        </p:txBody>
      </p:sp>
      <p:sp>
        <p:nvSpPr>
          <p:cNvPr id="81" name="Google Shape;81;g3fa1ed7422c_0_5"/>
          <p:cNvSpPr/>
          <p:nvPr/>
        </p:nvSpPr>
        <p:spPr>
          <a:xfrm>
            <a:off x="2175810" y="2173265"/>
            <a:ext cx="2103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DD6DF"/>
              </a:buClr>
              <a:buSzPts val="1600"/>
              <a:buFont typeface="Arial"/>
              <a:buNone/>
            </a:pPr>
            <a:r>
              <a:rPr b="0" i="0" lang="en-US" sz="1600" u="none" cap="none" strike="noStrike">
                <a:solidFill>
                  <a:srgbClr val="CDD6DF"/>
                </a:solidFill>
                <a:latin typeface="Arial"/>
                <a:ea typeface="Arial"/>
                <a:cs typeface="Arial"/>
                <a:sym typeface="Arial"/>
              </a:rPr>
              <a:t>Read many times</a:t>
            </a:r>
            <a:endParaRPr b="0" i="0" sz="1600" u="none" cap="none" strike="noStrike">
              <a:solidFill>
                <a:schemeClr val="dk1"/>
              </a:solidFill>
              <a:latin typeface="Arial"/>
              <a:ea typeface="Arial"/>
              <a:cs typeface="Arial"/>
              <a:sym typeface="Arial"/>
            </a:endParaRPr>
          </a:p>
        </p:txBody>
      </p:sp>
      <p:sp>
        <p:nvSpPr>
          <p:cNvPr id="82" name="Google Shape;82;g3fa1ed7422c_0_5"/>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83" name="Google Shape;83;g3fa1ed7422c_0_5"/>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pic>
        <p:nvPicPr>
          <p:cNvPr id="84" name="Google Shape;84;g3fa1ed7422c_0_5"/>
          <p:cNvPicPr preferRelativeResize="0"/>
          <p:nvPr/>
        </p:nvPicPr>
        <p:blipFill>
          <a:blip r:embed="rId3">
            <a:alphaModFix/>
          </a:blip>
          <a:stretch>
            <a:fillRect/>
          </a:stretch>
        </p:blipFill>
        <p:spPr>
          <a:xfrm>
            <a:off x="152400" y="2581165"/>
            <a:ext cx="11887201" cy="21882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89" name="Shape 89"/>
        <p:cNvGrpSpPr/>
        <p:nvPr/>
      </p:nvGrpSpPr>
      <p:grpSpPr>
        <a:xfrm>
          <a:off x="0" y="0"/>
          <a:ext cx="0" cy="0"/>
          <a:chOff x="0" y="0"/>
          <a:chExt cx="0" cy="0"/>
        </a:xfrm>
      </p:grpSpPr>
      <p:sp>
        <p:nvSpPr>
          <p:cNvPr id="90" name="Google Shape;90;g3fa1ed7422c_0_64"/>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Context Injection: How Retrieved Information Reaches the LLM</a:t>
            </a:r>
            <a:endParaRPr b="0" i="0" sz="2800" u="none" cap="none" strike="noStrike">
              <a:solidFill>
                <a:schemeClr val="dk1"/>
              </a:solidFill>
              <a:latin typeface="Arial"/>
              <a:ea typeface="Arial"/>
              <a:cs typeface="Arial"/>
              <a:sym typeface="Arial"/>
            </a:endParaRPr>
          </a:p>
        </p:txBody>
      </p:sp>
      <p:sp>
        <p:nvSpPr>
          <p:cNvPr id="91" name="Google Shape;91;g3fa1ed7422c_0_64"/>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92" name="Google Shape;92;g3fa1ed7422c_0_64"/>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pic>
        <p:nvPicPr>
          <p:cNvPr id="93" name="Google Shape;93;g3fa1ed7422c_0_64"/>
          <p:cNvPicPr preferRelativeResize="0"/>
          <p:nvPr/>
        </p:nvPicPr>
        <p:blipFill>
          <a:blip r:embed="rId3">
            <a:alphaModFix/>
          </a:blip>
          <a:stretch>
            <a:fillRect/>
          </a:stretch>
        </p:blipFill>
        <p:spPr>
          <a:xfrm>
            <a:off x="1763850" y="1039248"/>
            <a:ext cx="7867840" cy="53188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98" name="Shape 98"/>
        <p:cNvGrpSpPr/>
        <p:nvPr/>
      </p:nvGrpSpPr>
      <p:grpSpPr>
        <a:xfrm>
          <a:off x="0" y="0"/>
          <a:ext cx="0" cy="0"/>
          <a:chOff x="0" y="0"/>
          <a:chExt cx="0" cy="0"/>
        </a:xfrm>
      </p:grpSpPr>
      <p:sp>
        <p:nvSpPr>
          <p:cNvPr id="99" name="Google Shape;99;g3fa1ed7422c_0_122"/>
          <p:cNvSpPr/>
          <p:nvPr/>
        </p:nvSpPr>
        <p:spPr>
          <a:xfrm>
            <a:off x="609610" y="304479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Offline Phase: </a:t>
            </a:r>
            <a:br>
              <a:rPr b="1" lang="en-US" sz="2800">
                <a:solidFill>
                  <a:srgbClr val="FFFFFF"/>
                </a:solidFill>
                <a:latin typeface="Cambria"/>
                <a:ea typeface="Cambria"/>
                <a:cs typeface="Cambria"/>
                <a:sym typeface="Cambria"/>
              </a:rPr>
            </a:br>
            <a:r>
              <a:rPr b="1" lang="en-US" sz="1800">
                <a:solidFill>
                  <a:srgbClr val="FFFFFF"/>
                </a:solidFill>
                <a:latin typeface="Cambria"/>
                <a:ea typeface="Cambria"/>
                <a:cs typeface="Cambria"/>
                <a:sym typeface="Cambria"/>
              </a:rPr>
              <a:t>1. Extraction</a:t>
            </a:r>
            <a:endParaRPr b="1" sz="1800">
              <a:solidFill>
                <a:srgbClr val="FFFFFF"/>
              </a:solidFill>
              <a:latin typeface="Cambria"/>
              <a:ea typeface="Cambria"/>
              <a:cs typeface="Cambria"/>
              <a:sym typeface="Cambria"/>
            </a:endParaRPr>
          </a:p>
          <a:p>
            <a:pPr indent="0" lvl="0" marL="0" marR="0" rtl="0" algn="l">
              <a:spcBef>
                <a:spcPts val="0"/>
              </a:spcBef>
              <a:spcAft>
                <a:spcPts val="0"/>
              </a:spcAft>
              <a:buClr>
                <a:srgbClr val="FFFFFF"/>
              </a:buClr>
              <a:buSzPts val="2800"/>
              <a:buFont typeface="Cambria"/>
              <a:buNone/>
            </a:pPr>
            <a:r>
              <a:rPr b="1" lang="en-US" sz="1800">
                <a:solidFill>
                  <a:srgbClr val="FFFFFF"/>
                </a:solidFill>
                <a:latin typeface="Cambria"/>
                <a:ea typeface="Cambria"/>
                <a:cs typeface="Cambria"/>
                <a:sym typeface="Cambria"/>
              </a:rPr>
              <a:t>2. Chunking</a:t>
            </a:r>
            <a:br>
              <a:rPr b="1" lang="en-US" sz="1800">
                <a:solidFill>
                  <a:srgbClr val="FFFFFF"/>
                </a:solidFill>
                <a:latin typeface="Cambria"/>
                <a:ea typeface="Cambria"/>
                <a:cs typeface="Cambria"/>
                <a:sym typeface="Cambria"/>
              </a:rPr>
            </a:br>
            <a:r>
              <a:rPr b="1" lang="en-US" sz="1800">
                <a:solidFill>
                  <a:srgbClr val="FFFFFF"/>
                </a:solidFill>
                <a:latin typeface="Cambria"/>
                <a:ea typeface="Cambria"/>
                <a:cs typeface="Cambria"/>
                <a:sym typeface="Cambria"/>
              </a:rPr>
              <a:t>3. Embed</a:t>
            </a:r>
            <a:endParaRPr b="1" sz="1800">
              <a:solidFill>
                <a:srgbClr val="FFFFFF"/>
              </a:solidFill>
              <a:latin typeface="Cambria"/>
              <a:ea typeface="Cambria"/>
              <a:cs typeface="Cambria"/>
              <a:sym typeface="Cambria"/>
            </a:endParaRPr>
          </a:p>
        </p:txBody>
      </p:sp>
      <p:sp>
        <p:nvSpPr>
          <p:cNvPr id="100" name="Google Shape;100;g3fa1ed7422c_0_122"/>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01" name="Google Shape;101;g3fa1ed7422c_0_122"/>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6" name="Shape 106"/>
        <p:cNvGrpSpPr/>
        <p:nvPr/>
      </p:nvGrpSpPr>
      <p:grpSpPr>
        <a:xfrm>
          <a:off x="0" y="0"/>
          <a:ext cx="0" cy="0"/>
          <a:chOff x="0" y="0"/>
          <a:chExt cx="0" cy="0"/>
        </a:xfrm>
      </p:grpSpPr>
      <p:sp>
        <p:nvSpPr>
          <p:cNvPr id="107" name="Google Shape;107;g3fa1ed7422c_0_136"/>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1.Extraction</a:t>
            </a:r>
            <a:endParaRPr b="0" i="0" sz="2800" u="none" cap="none" strike="noStrike">
              <a:solidFill>
                <a:schemeClr val="dk1"/>
              </a:solidFill>
              <a:latin typeface="Arial"/>
              <a:ea typeface="Arial"/>
              <a:cs typeface="Arial"/>
              <a:sym typeface="Arial"/>
            </a:endParaRPr>
          </a:p>
        </p:txBody>
      </p:sp>
      <p:sp>
        <p:nvSpPr>
          <p:cNvPr id="108" name="Google Shape;108;g3fa1ed7422c_0_136"/>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09" name="Google Shape;109;g3fa1ed7422c_0_136"/>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
        <p:nvSpPr>
          <p:cNvPr id="110" name="Google Shape;110;g3fa1ed7422c_0_136"/>
          <p:cNvSpPr txBox="1"/>
          <p:nvPr/>
        </p:nvSpPr>
        <p:spPr>
          <a:xfrm>
            <a:off x="594350" y="1705125"/>
            <a:ext cx="5345400" cy="3031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None/>
            </a:pPr>
            <a:br>
              <a:rPr lang="en-US" sz="1900">
                <a:solidFill>
                  <a:schemeClr val="dk1"/>
                </a:solidFill>
              </a:rPr>
            </a:br>
            <a:r>
              <a:rPr lang="en-US" sz="1900">
                <a:solidFill>
                  <a:schemeClr val="dk1"/>
                </a:solidFill>
              </a:rPr>
              <a:t>Types of Data</a:t>
            </a:r>
            <a:endParaRPr sz="1900">
              <a:solidFill>
                <a:schemeClr val="dk1"/>
              </a:solidFill>
            </a:endParaRPr>
          </a:p>
          <a:p>
            <a:pPr indent="-349250" lvl="0" marL="457200" marR="0" rtl="0" algn="l">
              <a:lnSpc>
                <a:spcPct val="115000"/>
              </a:lnSpc>
              <a:spcBef>
                <a:spcPts val="1200"/>
              </a:spcBef>
              <a:spcAft>
                <a:spcPts val="0"/>
              </a:spcAft>
              <a:buClr>
                <a:schemeClr val="dk1"/>
              </a:buClr>
              <a:buSzPts val="1900"/>
              <a:buChar char="●"/>
            </a:pPr>
            <a:r>
              <a:rPr lang="en-US" sz="1900">
                <a:solidFill>
                  <a:schemeClr val="dk1"/>
                </a:solidFill>
              </a:rPr>
              <a:t>Research papers (PDF)</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Company documentation (Word/PDF)</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Web content (HTML)</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Structured data (CSV/Excel)</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Scanned documents (Images with OCR)</a:t>
            </a:r>
            <a:endParaRPr sz="1900">
              <a:solidFill>
                <a:schemeClr val="dk1"/>
              </a:solidFill>
            </a:endParaRPr>
          </a:p>
          <a:p>
            <a:pPr indent="0" lvl="0" marL="0" rtl="0" algn="l">
              <a:lnSpc>
                <a:spcPct val="115000"/>
              </a:lnSpc>
              <a:spcBef>
                <a:spcPts val="1200"/>
              </a:spcBef>
              <a:spcAft>
                <a:spcPts val="1200"/>
              </a:spcAft>
              <a:buNone/>
            </a:pPr>
            <a:r>
              <a:t/>
            </a:r>
            <a:endParaRPr sz="1200">
              <a:solidFill>
                <a:srgbClr val="F0F6FC"/>
              </a:solidFill>
              <a:highlight>
                <a:srgbClr val="0D1117"/>
              </a:highlight>
            </a:endParaRPr>
          </a:p>
        </p:txBody>
      </p:sp>
      <p:sp>
        <p:nvSpPr>
          <p:cNvPr id="111" name="Google Shape;111;g3fa1ed7422c_0_136"/>
          <p:cNvSpPr txBox="1"/>
          <p:nvPr/>
        </p:nvSpPr>
        <p:spPr>
          <a:xfrm>
            <a:off x="6221700" y="1555225"/>
            <a:ext cx="5345400" cy="4040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300"/>
              </a:spcBef>
              <a:spcAft>
                <a:spcPts val="0"/>
              </a:spcAft>
              <a:buNone/>
            </a:pPr>
            <a:br>
              <a:rPr lang="en-US" sz="1900">
                <a:solidFill>
                  <a:schemeClr val="dk1"/>
                </a:solidFill>
              </a:rPr>
            </a:br>
            <a:r>
              <a:rPr lang="en-US" sz="1900">
                <a:solidFill>
                  <a:schemeClr val="dk1"/>
                </a:solidFill>
              </a:rPr>
              <a:t>Ideal Preprocessing:</a:t>
            </a:r>
            <a:endParaRPr sz="1900">
              <a:solidFill>
                <a:schemeClr val="dk1"/>
              </a:solidFill>
            </a:endParaRPr>
          </a:p>
          <a:p>
            <a:pPr indent="-349250" lvl="0" marL="457200" marR="0" rtl="0" algn="l">
              <a:lnSpc>
                <a:spcPct val="115000"/>
              </a:lnSpc>
              <a:spcBef>
                <a:spcPts val="1200"/>
              </a:spcBef>
              <a:spcAft>
                <a:spcPts val="0"/>
              </a:spcAft>
              <a:buClr>
                <a:schemeClr val="dk1"/>
              </a:buClr>
              <a:buSzPts val="1900"/>
              <a:buChar char="●"/>
            </a:pPr>
            <a:r>
              <a:rPr lang="en-US" sz="1900">
                <a:solidFill>
                  <a:schemeClr val="dk1"/>
                </a:solidFill>
              </a:rPr>
              <a:t>Unified Interface: Handles multiple document types (PDF, DOCX, HTML, etc.)</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Standardized Output: Converts all documents to a consistent format</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Advanced Features: Handles complex layouts, tables, and OCR</a:t>
            </a:r>
            <a:endParaRPr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Type Safety: Uses Pydantic models for strict type checking</a:t>
            </a:r>
            <a:endParaRPr sz="1900">
              <a:solidFill>
                <a:schemeClr val="dk1"/>
              </a:solidFill>
            </a:endParaRPr>
          </a:p>
          <a:p>
            <a:pPr indent="0" lvl="0" marL="0" rtl="0" algn="l">
              <a:lnSpc>
                <a:spcPct val="115000"/>
              </a:lnSpc>
              <a:spcBef>
                <a:spcPts val="1200"/>
              </a:spcBef>
              <a:spcAft>
                <a:spcPts val="1200"/>
              </a:spcAft>
              <a:buNone/>
            </a:pPr>
            <a:r>
              <a:t/>
            </a:r>
            <a:endParaRPr sz="1200">
              <a:solidFill>
                <a:srgbClr val="F0F6FC"/>
              </a:solidFill>
              <a:highlight>
                <a:srgbClr val="0D1117"/>
              </a:highlight>
            </a:endParaRPr>
          </a:p>
        </p:txBody>
      </p:sp>
      <p:sp>
        <p:nvSpPr>
          <p:cNvPr id="112" name="Google Shape;112;g3fa1ed7422c_0_136"/>
          <p:cNvSpPr txBox="1"/>
          <p:nvPr/>
        </p:nvSpPr>
        <p:spPr>
          <a:xfrm>
            <a:off x="699600" y="5843838"/>
            <a:ext cx="10792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t>You can load Docling(library) for this. For  this project I already had  text from json so I can skip this part for now </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17" name="Shape 117"/>
        <p:cNvGrpSpPr/>
        <p:nvPr/>
      </p:nvGrpSpPr>
      <p:grpSpPr>
        <a:xfrm>
          <a:off x="0" y="0"/>
          <a:ext cx="0" cy="0"/>
          <a:chOff x="0" y="0"/>
          <a:chExt cx="0" cy="0"/>
        </a:xfrm>
      </p:grpSpPr>
      <p:sp>
        <p:nvSpPr>
          <p:cNvPr id="118" name="Google Shape;118;p6"/>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2. </a:t>
            </a:r>
            <a:r>
              <a:rPr b="1" i="0" lang="en-US" sz="2800" u="none" cap="none" strike="noStrike">
                <a:solidFill>
                  <a:srgbClr val="17202A"/>
                </a:solidFill>
                <a:latin typeface="Cambria"/>
                <a:ea typeface="Cambria"/>
                <a:cs typeface="Cambria"/>
                <a:sym typeface="Cambria"/>
              </a:rPr>
              <a:t>Chunking  - defines the unit of retrieval</a:t>
            </a:r>
            <a:endParaRPr b="0" i="0" sz="2800" u="none" cap="none" strike="noStrike">
              <a:solidFill>
                <a:schemeClr val="dk1"/>
              </a:solidFill>
              <a:latin typeface="Arial"/>
              <a:ea typeface="Arial"/>
              <a:cs typeface="Arial"/>
              <a:sym typeface="Arial"/>
            </a:endParaRPr>
          </a:p>
        </p:txBody>
      </p:sp>
      <p:sp>
        <p:nvSpPr>
          <p:cNvPr id="119" name="Google Shape;119;p6"/>
          <p:cNvSpPr/>
          <p:nvPr/>
        </p:nvSpPr>
        <p:spPr>
          <a:xfrm>
            <a:off x="685800" y="1115568"/>
            <a:ext cx="1828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800"/>
              <a:buFont typeface="Arial"/>
              <a:buNone/>
            </a:pPr>
            <a:r>
              <a:rPr b="1" i="0" lang="en-US" sz="1800" u="none" cap="none" strike="noStrike">
                <a:solidFill>
                  <a:srgbClr val="5E6B78"/>
                </a:solidFill>
                <a:latin typeface="Arial"/>
                <a:ea typeface="Arial"/>
                <a:cs typeface="Arial"/>
                <a:sym typeface="Arial"/>
              </a:rPr>
              <a:t>One article</a:t>
            </a:r>
            <a:endParaRPr b="0" i="0" sz="1800" u="none" cap="none" strike="noStrike">
              <a:solidFill>
                <a:schemeClr val="dk1"/>
              </a:solidFill>
              <a:latin typeface="Arial"/>
              <a:ea typeface="Arial"/>
              <a:cs typeface="Arial"/>
              <a:sym typeface="Arial"/>
            </a:endParaRPr>
          </a:p>
        </p:txBody>
      </p:sp>
      <p:sp>
        <p:nvSpPr>
          <p:cNvPr id="120" name="Google Shape;120;p6"/>
          <p:cNvSpPr/>
          <p:nvPr/>
        </p:nvSpPr>
        <p:spPr>
          <a:xfrm>
            <a:off x="731520" y="1828800"/>
            <a:ext cx="3337560" cy="2423160"/>
          </a:xfrm>
          <a:prstGeom prst="roundRect">
            <a:avLst>
              <a:gd fmla="val 2264" name="adj"/>
            </a:avLst>
          </a:prstGeom>
          <a:solidFill>
            <a:srgbClr val="FFFFFF"/>
          </a:solidFill>
          <a:ln cap="flat" cmpd="sng" w="254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960120" y="2084832"/>
            <a:ext cx="502920" cy="502920"/>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960120" y="2249424"/>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Arial"/>
              <a:ea typeface="Arial"/>
              <a:cs typeface="Arial"/>
              <a:sym typeface="Arial"/>
            </a:endParaRPr>
          </a:p>
        </p:txBody>
      </p:sp>
      <p:sp>
        <p:nvSpPr>
          <p:cNvPr id="123" name="Google Shape;123;p6"/>
          <p:cNvSpPr/>
          <p:nvPr/>
        </p:nvSpPr>
        <p:spPr>
          <a:xfrm>
            <a:off x="1645920" y="2066544"/>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800"/>
              <a:buFont typeface="Arial"/>
              <a:buNone/>
            </a:pPr>
            <a:r>
              <a:rPr b="1" i="0" lang="en-US" sz="1800" u="none" cap="none" strike="noStrike">
                <a:solidFill>
                  <a:srgbClr val="17202A"/>
                </a:solidFill>
                <a:latin typeface="Arial"/>
                <a:ea typeface="Arial"/>
                <a:cs typeface="Arial"/>
                <a:sym typeface="Arial"/>
              </a:rPr>
              <a:t>Small chunks</a:t>
            </a:r>
            <a:endParaRPr b="0" i="0" sz="1800" u="none" cap="none" strike="noStrike">
              <a:solidFill>
                <a:schemeClr val="dk1"/>
              </a:solidFill>
              <a:latin typeface="Arial"/>
              <a:ea typeface="Arial"/>
              <a:cs typeface="Arial"/>
              <a:sym typeface="Arial"/>
            </a:endParaRPr>
          </a:p>
        </p:txBody>
      </p:sp>
      <p:sp>
        <p:nvSpPr>
          <p:cNvPr id="124" name="Google Shape;124;p6"/>
          <p:cNvSpPr/>
          <p:nvPr/>
        </p:nvSpPr>
        <p:spPr>
          <a:xfrm>
            <a:off x="1645920" y="2852928"/>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Precise</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less context</a:t>
            </a:r>
            <a:endParaRPr b="0" i="0" sz="1500" u="none" cap="none" strike="noStrike">
              <a:solidFill>
                <a:schemeClr val="dk1"/>
              </a:solidFill>
              <a:latin typeface="Arial"/>
              <a:ea typeface="Arial"/>
              <a:cs typeface="Arial"/>
              <a:sym typeface="Arial"/>
            </a:endParaRPr>
          </a:p>
        </p:txBody>
      </p:sp>
      <p:sp>
        <p:nvSpPr>
          <p:cNvPr id="125" name="Google Shape;125;p6"/>
          <p:cNvSpPr/>
          <p:nvPr/>
        </p:nvSpPr>
        <p:spPr>
          <a:xfrm>
            <a:off x="4526280" y="1828800"/>
            <a:ext cx="3337560" cy="2423160"/>
          </a:xfrm>
          <a:prstGeom prst="roundRect">
            <a:avLst>
              <a:gd fmla="val 2264" name="adj"/>
            </a:avLst>
          </a:prstGeom>
          <a:solidFill>
            <a:srgbClr val="FFFFFF"/>
          </a:solidFill>
          <a:ln cap="flat" cmpd="sng" w="254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754880" y="2084832"/>
            <a:ext cx="502920" cy="502920"/>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4754880" y="2249424"/>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Arial"/>
              <a:ea typeface="Arial"/>
              <a:cs typeface="Arial"/>
              <a:sym typeface="Arial"/>
            </a:endParaRPr>
          </a:p>
        </p:txBody>
      </p:sp>
      <p:sp>
        <p:nvSpPr>
          <p:cNvPr id="128" name="Google Shape;128;p6"/>
          <p:cNvSpPr/>
          <p:nvPr/>
        </p:nvSpPr>
        <p:spPr>
          <a:xfrm>
            <a:off x="5440680" y="2066544"/>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800"/>
              <a:buFont typeface="Arial"/>
              <a:buNone/>
            </a:pPr>
            <a:r>
              <a:rPr b="1" i="0" lang="en-US" sz="1800" u="none" cap="none" strike="noStrike">
                <a:solidFill>
                  <a:srgbClr val="17202A"/>
                </a:solidFill>
                <a:latin typeface="Arial"/>
                <a:ea typeface="Arial"/>
                <a:cs typeface="Arial"/>
                <a:sym typeface="Arial"/>
              </a:rPr>
              <a:t>Medium chunks</a:t>
            </a:r>
            <a:endParaRPr b="0" i="0" sz="1800" u="none" cap="none" strike="noStrike">
              <a:solidFill>
                <a:schemeClr val="dk1"/>
              </a:solidFill>
              <a:latin typeface="Arial"/>
              <a:ea typeface="Arial"/>
              <a:cs typeface="Arial"/>
              <a:sym typeface="Arial"/>
            </a:endParaRPr>
          </a:p>
        </p:txBody>
      </p:sp>
      <p:sp>
        <p:nvSpPr>
          <p:cNvPr id="129" name="Google Shape;129;p6"/>
          <p:cNvSpPr/>
          <p:nvPr/>
        </p:nvSpPr>
        <p:spPr>
          <a:xfrm>
            <a:off x="5440680" y="2852928"/>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Balanced</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default start</a:t>
            </a:r>
            <a:endParaRPr b="0" i="0" sz="1500" u="none" cap="none" strike="noStrike">
              <a:solidFill>
                <a:schemeClr val="dk1"/>
              </a:solidFill>
              <a:latin typeface="Arial"/>
              <a:ea typeface="Arial"/>
              <a:cs typeface="Arial"/>
              <a:sym typeface="Arial"/>
            </a:endParaRPr>
          </a:p>
        </p:txBody>
      </p:sp>
      <p:sp>
        <p:nvSpPr>
          <p:cNvPr id="130" name="Google Shape;130;p6"/>
          <p:cNvSpPr/>
          <p:nvPr/>
        </p:nvSpPr>
        <p:spPr>
          <a:xfrm>
            <a:off x="8321040" y="1828800"/>
            <a:ext cx="3337560" cy="2423160"/>
          </a:xfrm>
          <a:prstGeom prst="roundRect">
            <a:avLst>
              <a:gd fmla="val 2264" name="adj"/>
            </a:avLst>
          </a:prstGeom>
          <a:solidFill>
            <a:srgbClr val="FFFFFF"/>
          </a:solidFill>
          <a:ln cap="flat" cmpd="sng" w="254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8549640" y="2084832"/>
            <a:ext cx="502920" cy="502920"/>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8549640" y="2249424"/>
            <a:ext cx="5029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Arial"/>
              <a:ea typeface="Arial"/>
              <a:cs typeface="Arial"/>
              <a:sym typeface="Arial"/>
            </a:endParaRPr>
          </a:p>
        </p:txBody>
      </p:sp>
      <p:sp>
        <p:nvSpPr>
          <p:cNvPr id="133" name="Google Shape;133;p6"/>
          <p:cNvSpPr/>
          <p:nvPr/>
        </p:nvSpPr>
        <p:spPr>
          <a:xfrm>
            <a:off x="9235440" y="2066544"/>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800"/>
              <a:buFont typeface="Arial"/>
              <a:buNone/>
            </a:pPr>
            <a:r>
              <a:rPr b="1" i="0" lang="en-US" sz="1800" u="none" cap="none" strike="noStrike">
                <a:solidFill>
                  <a:srgbClr val="17202A"/>
                </a:solidFill>
                <a:latin typeface="Arial"/>
                <a:ea typeface="Arial"/>
                <a:cs typeface="Arial"/>
                <a:sym typeface="Arial"/>
              </a:rPr>
              <a:t>Large chunks</a:t>
            </a:r>
            <a:endParaRPr b="0" i="0" sz="1800" u="none" cap="none" strike="noStrike">
              <a:solidFill>
                <a:schemeClr val="dk1"/>
              </a:solidFill>
              <a:latin typeface="Arial"/>
              <a:ea typeface="Arial"/>
              <a:cs typeface="Arial"/>
              <a:sym typeface="Arial"/>
            </a:endParaRPr>
          </a:p>
        </p:txBody>
      </p:sp>
      <p:sp>
        <p:nvSpPr>
          <p:cNvPr id="134" name="Google Shape;134;p6"/>
          <p:cNvSpPr/>
          <p:nvPr/>
        </p:nvSpPr>
        <p:spPr>
          <a:xfrm>
            <a:off x="9235440" y="2852928"/>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More context</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E6B78"/>
              </a:buClr>
              <a:buSzPts val="1500"/>
              <a:buFont typeface="Arial"/>
              <a:buNone/>
            </a:pPr>
            <a:r>
              <a:rPr b="0" i="0" lang="en-US" sz="1500" u="none" cap="none" strike="noStrike">
                <a:solidFill>
                  <a:srgbClr val="5E6B78"/>
                </a:solidFill>
                <a:latin typeface="Arial"/>
                <a:ea typeface="Arial"/>
                <a:cs typeface="Arial"/>
                <a:sym typeface="Arial"/>
              </a:rPr>
              <a:t>more noise</a:t>
            </a:r>
            <a:endParaRPr b="0" i="0" sz="1500" u="none" cap="none" strike="noStrike">
              <a:solidFill>
                <a:schemeClr val="dk1"/>
              </a:solidFill>
              <a:latin typeface="Arial"/>
              <a:ea typeface="Arial"/>
              <a:cs typeface="Arial"/>
              <a:sym typeface="Arial"/>
            </a:endParaRPr>
          </a:p>
        </p:txBody>
      </p:sp>
      <p:sp>
        <p:nvSpPr>
          <p:cNvPr id="135" name="Google Shape;135;p6"/>
          <p:cNvSpPr/>
          <p:nvPr/>
        </p:nvSpPr>
        <p:spPr>
          <a:xfrm>
            <a:off x="1874520" y="4983480"/>
            <a:ext cx="8503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2A"/>
              </a:buClr>
              <a:buSzPts val="2100"/>
              <a:buFont typeface="Arial"/>
              <a:buNone/>
            </a:pPr>
            <a:r>
              <a:rPr b="1" i="0" lang="en-US" sz="2100" u="none" cap="none" strike="noStrike">
                <a:solidFill>
                  <a:srgbClr val="17202A"/>
                </a:solidFill>
                <a:latin typeface="Arial"/>
                <a:ea typeface="Arial"/>
                <a:cs typeface="Arial"/>
                <a:sym typeface="Arial"/>
              </a:rPr>
              <a:t>Overlap protects boundary facts — but duplicates tokens and storage.</a:t>
            </a:r>
            <a:endParaRPr b="0" i="0" sz="2100" u="none" cap="none" strike="noStrike">
              <a:solidFill>
                <a:schemeClr val="dk1"/>
              </a:solidFill>
              <a:latin typeface="Arial"/>
              <a:ea typeface="Arial"/>
              <a:cs typeface="Arial"/>
              <a:sym typeface="Arial"/>
            </a:endParaRPr>
          </a:p>
        </p:txBody>
      </p:sp>
      <p:sp>
        <p:nvSpPr>
          <p:cNvPr id="136" name="Google Shape;136;p6"/>
          <p:cNvSpPr/>
          <p:nvPr/>
        </p:nvSpPr>
        <p:spPr>
          <a:xfrm>
            <a:off x="4434840" y="5779008"/>
            <a:ext cx="3291840" cy="347472"/>
          </a:xfrm>
          <a:prstGeom prst="roundRect">
            <a:avLst>
              <a:gd fmla="val 15789" name="adj"/>
            </a:avLst>
          </a:prstGeom>
          <a:solidFill>
            <a:srgbClr val="17202A"/>
          </a:solidFill>
          <a:ln cap="flat" cmpd="sng" w="12700">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4544568" y="5852160"/>
            <a:ext cx="307238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DEMO 02_chunking_lab.py</a:t>
            </a:r>
            <a:endParaRPr b="0" i="0" sz="1000" u="none" cap="none" strike="noStrike">
              <a:solidFill>
                <a:schemeClr val="dk1"/>
              </a:solidFill>
              <a:latin typeface="Arial"/>
              <a:ea typeface="Arial"/>
              <a:cs typeface="Arial"/>
              <a:sym typeface="Arial"/>
            </a:endParaRPr>
          </a:p>
        </p:txBody>
      </p:sp>
      <p:sp>
        <p:nvSpPr>
          <p:cNvPr id="138" name="Google Shape;138;p6"/>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39" name="Google Shape;139;p6"/>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6</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4" name="Shape 144"/>
        <p:cNvGrpSpPr/>
        <p:nvPr/>
      </p:nvGrpSpPr>
      <p:grpSpPr>
        <a:xfrm>
          <a:off x="0" y="0"/>
          <a:ext cx="0" cy="0"/>
          <a:chOff x="0" y="0"/>
          <a:chExt cx="0" cy="0"/>
        </a:xfrm>
      </p:grpSpPr>
      <p:sp>
        <p:nvSpPr>
          <p:cNvPr id="145" name="Google Shape;145;g3fa1ed7422c_0_39"/>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3. Embeddings</a:t>
            </a:r>
            <a:endParaRPr b="0" i="0" sz="2800" u="none" cap="none" strike="noStrike">
              <a:solidFill>
                <a:schemeClr val="dk1"/>
              </a:solidFill>
              <a:latin typeface="Arial"/>
              <a:ea typeface="Arial"/>
              <a:cs typeface="Arial"/>
              <a:sym typeface="Arial"/>
            </a:endParaRPr>
          </a:p>
        </p:txBody>
      </p:sp>
      <p:sp>
        <p:nvSpPr>
          <p:cNvPr id="146" name="Google Shape;146;g3fa1ed7422c_0_39"/>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47" name="Google Shape;147;g3fa1ed7422c_0_39"/>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pic>
        <p:nvPicPr>
          <p:cNvPr id="148" name="Google Shape;148;g3fa1ed7422c_0_39"/>
          <p:cNvPicPr preferRelativeResize="0"/>
          <p:nvPr/>
        </p:nvPicPr>
        <p:blipFill>
          <a:blip r:embed="rId3">
            <a:alphaModFix/>
          </a:blip>
          <a:stretch>
            <a:fillRect/>
          </a:stretch>
        </p:blipFill>
        <p:spPr>
          <a:xfrm>
            <a:off x="2342585" y="1008898"/>
            <a:ext cx="5545632" cy="56663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3" name="Shape 153"/>
        <p:cNvGrpSpPr/>
        <p:nvPr/>
      </p:nvGrpSpPr>
      <p:grpSpPr>
        <a:xfrm>
          <a:off x="0" y="0"/>
          <a:ext cx="0" cy="0"/>
          <a:chOff x="0" y="0"/>
          <a:chExt cx="0" cy="0"/>
        </a:xfrm>
      </p:grpSpPr>
      <p:sp>
        <p:nvSpPr>
          <p:cNvPr id="154" name="Google Shape;154;p5"/>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How Embeddings Make Meaning Searchable</a:t>
            </a:r>
            <a:endParaRPr b="0" i="0" sz="2800" u="none" cap="none" strike="noStrike">
              <a:solidFill>
                <a:schemeClr val="dk1"/>
              </a:solidFill>
              <a:latin typeface="Arial"/>
              <a:ea typeface="Arial"/>
              <a:cs typeface="Arial"/>
              <a:sym typeface="Arial"/>
            </a:endParaRPr>
          </a:p>
        </p:txBody>
      </p:sp>
      <p:sp>
        <p:nvSpPr>
          <p:cNvPr id="155" name="Google Shape;155;p5"/>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56" name="Google Shape;156;p5"/>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pic>
        <p:nvPicPr>
          <p:cNvPr id="157" name="Google Shape;157;p5"/>
          <p:cNvPicPr preferRelativeResize="0"/>
          <p:nvPr/>
        </p:nvPicPr>
        <p:blipFill>
          <a:blip r:embed="rId3">
            <a:alphaModFix/>
          </a:blip>
          <a:stretch>
            <a:fillRect/>
          </a:stretch>
        </p:blipFill>
        <p:spPr>
          <a:xfrm>
            <a:off x="137150" y="2369743"/>
            <a:ext cx="11887201" cy="29311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62" name="Shape 162"/>
        <p:cNvGrpSpPr/>
        <p:nvPr/>
      </p:nvGrpSpPr>
      <p:grpSpPr>
        <a:xfrm>
          <a:off x="0" y="0"/>
          <a:ext cx="0" cy="0"/>
          <a:chOff x="0" y="0"/>
          <a:chExt cx="0" cy="0"/>
        </a:xfrm>
      </p:grpSpPr>
      <p:sp>
        <p:nvSpPr>
          <p:cNvPr id="163" name="Google Shape;163;g3fa1ed7422c_0_53"/>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Choosing Embedding Model</a:t>
            </a:r>
            <a:endParaRPr b="0" i="0" sz="2800" u="none" cap="none" strike="noStrike">
              <a:solidFill>
                <a:schemeClr val="dk1"/>
              </a:solidFill>
              <a:latin typeface="Arial"/>
              <a:ea typeface="Arial"/>
              <a:cs typeface="Arial"/>
              <a:sym typeface="Arial"/>
            </a:endParaRPr>
          </a:p>
        </p:txBody>
      </p:sp>
      <p:sp>
        <p:nvSpPr>
          <p:cNvPr id="164" name="Google Shape;164;g3fa1ed7422c_0_53"/>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65" name="Google Shape;165;g3fa1ed7422c_0_53"/>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
        <p:nvSpPr>
          <p:cNvPr id="166" name="Google Shape;166;g3fa1ed7422c_0_53"/>
          <p:cNvSpPr txBox="1"/>
          <p:nvPr/>
        </p:nvSpPr>
        <p:spPr>
          <a:xfrm>
            <a:off x="594350" y="1705125"/>
            <a:ext cx="10891800" cy="31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00"/>
              </a:spcBef>
              <a:spcAft>
                <a:spcPts val="0"/>
              </a:spcAft>
              <a:buNone/>
            </a:pPr>
            <a:r>
              <a:t/>
            </a:r>
            <a:endParaRPr sz="1900">
              <a:solidFill>
                <a:schemeClr val="dk1"/>
              </a:solidFill>
            </a:endParaRPr>
          </a:p>
          <a:p>
            <a:pPr indent="0" lvl="0" marL="0" rtl="0" algn="l">
              <a:lnSpc>
                <a:spcPct val="115000"/>
              </a:lnSpc>
              <a:spcBef>
                <a:spcPts val="1200"/>
              </a:spcBef>
              <a:spcAft>
                <a:spcPts val="0"/>
              </a:spcAft>
              <a:buNone/>
            </a:pPr>
            <a:r>
              <a:t/>
            </a:r>
            <a:endParaRPr sz="1900">
              <a:solidFill>
                <a:schemeClr val="dk1"/>
              </a:solidFill>
            </a:endParaRPr>
          </a:p>
          <a:p>
            <a:pPr indent="-349250" lvl="0" marL="457200" rtl="0" algn="l">
              <a:lnSpc>
                <a:spcPct val="115000"/>
              </a:lnSpc>
              <a:spcBef>
                <a:spcPts val="1200"/>
              </a:spcBef>
              <a:spcAft>
                <a:spcPts val="0"/>
              </a:spcAft>
              <a:buClr>
                <a:schemeClr val="dk1"/>
              </a:buClr>
              <a:buSzPts val="1900"/>
              <a:buChar char="●"/>
            </a:pPr>
            <a:r>
              <a:rPr lang="en-US" sz="1900">
                <a:solidFill>
                  <a:schemeClr val="dk1"/>
                </a:solidFill>
              </a:rPr>
              <a:t>Dimension Size: Higher dimensions can capture more nuance but require more storage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Model Size: Larger models are more accurate but slower and more expensive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Language Support: Some models work better with specific languages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Domain Specialization: Consider models trained on domain-specific data</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US" sz="1900">
                <a:solidFill>
                  <a:schemeClr val="dk1"/>
                </a:solidFill>
              </a:rPr>
              <a:t>Cost: Balance between API costs and self-hosted infrastructure</a:t>
            </a:r>
            <a:endParaRPr sz="1900">
              <a:solidFill>
                <a:schemeClr val="dk1"/>
              </a:solidFill>
            </a:endParaRPr>
          </a:p>
          <a:p>
            <a:pPr indent="0" lvl="0" marL="0" rtl="0" algn="l">
              <a:lnSpc>
                <a:spcPct val="115000"/>
              </a:lnSpc>
              <a:spcBef>
                <a:spcPts val="1200"/>
              </a:spcBef>
              <a:spcAft>
                <a:spcPts val="1200"/>
              </a:spcAft>
              <a:buNone/>
            </a:pPr>
            <a:r>
              <a:t/>
            </a:r>
            <a:endParaRPr sz="1200">
              <a:solidFill>
                <a:srgbClr val="F0F6FC"/>
              </a:solidFill>
              <a:highlight>
                <a:srgbClr val="0D1117"/>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171" name="Shape 171"/>
        <p:cNvGrpSpPr/>
        <p:nvPr/>
      </p:nvGrpSpPr>
      <p:grpSpPr>
        <a:xfrm>
          <a:off x="0" y="0"/>
          <a:ext cx="0" cy="0"/>
          <a:chOff x="0" y="0"/>
          <a:chExt cx="0" cy="0"/>
        </a:xfrm>
      </p:grpSpPr>
      <p:sp>
        <p:nvSpPr>
          <p:cNvPr id="172" name="Google Shape;172;g3fa1ed7422c_0_129"/>
          <p:cNvSpPr/>
          <p:nvPr/>
        </p:nvSpPr>
        <p:spPr>
          <a:xfrm>
            <a:off x="609610" y="304479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Implementation Practice (with github tutorials)</a:t>
            </a:r>
            <a:endParaRPr b="0" i="0" sz="2800" u="none" cap="none" strike="noStrike">
              <a:solidFill>
                <a:schemeClr val="dk1"/>
              </a:solidFill>
              <a:latin typeface="Arial"/>
              <a:ea typeface="Arial"/>
              <a:cs typeface="Arial"/>
              <a:sym typeface="Arial"/>
            </a:endParaRPr>
          </a:p>
        </p:txBody>
      </p:sp>
      <p:sp>
        <p:nvSpPr>
          <p:cNvPr id="173" name="Google Shape;173;g3fa1ed7422c_0_129"/>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74" name="Google Shape;174;g3fa1ed7422c_0_129"/>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79" name="Shape 179"/>
        <p:cNvGrpSpPr/>
        <p:nvPr/>
      </p:nvGrpSpPr>
      <p:grpSpPr>
        <a:xfrm>
          <a:off x="0" y="0"/>
          <a:ext cx="0" cy="0"/>
          <a:chOff x="0" y="0"/>
          <a:chExt cx="0" cy="0"/>
        </a:xfrm>
      </p:grpSpPr>
      <p:sp>
        <p:nvSpPr>
          <p:cNvPr id="180" name="Google Shape;180;g3fa1ed7422c_0_152"/>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406400" lvl="0" marL="457200" marR="0" rtl="0" algn="l">
              <a:spcBef>
                <a:spcPts val="0"/>
              </a:spcBef>
              <a:spcAft>
                <a:spcPts val="0"/>
              </a:spcAft>
              <a:buClr>
                <a:schemeClr val="dk1"/>
              </a:buClr>
              <a:buSzPts val="2800"/>
              <a:buFont typeface="Arial"/>
              <a:buAutoNum type="arabicPeriod"/>
            </a:pPr>
            <a:r>
              <a:rPr b="1" lang="en-US" sz="2800">
                <a:solidFill>
                  <a:srgbClr val="17202A"/>
                </a:solidFill>
                <a:latin typeface="Cambria"/>
                <a:ea typeface="Cambria"/>
                <a:cs typeface="Cambria"/>
                <a:sym typeface="Cambria"/>
              </a:rPr>
              <a:t>Choose your vector DB </a:t>
            </a:r>
            <a:endParaRPr b="0" i="0" sz="2800" u="none" cap="none" strike="noStrike">
              <a:solidFill>
                <a:schemeClr val="dk1"/>
              </a:solidFill>
              <a:latin typeface="Arial"/>
              <a:ea typeface="Arial"/>
              <a:cs typeface="Arial"/>
              <a:sym typeface="Arial"/>
            </a:endParaRPr>
          </a:p>
        </p:txBody>
      </p:sp>
      <p:sp>
        <p:nvSpPr>
          <p:cNvPr id="181" name="Google Shape;181;g3fa1ed7422c_0_152"/>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182" name="Google Shape;182;g3fa1ed7422c_0_152"/>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183" name="Google Shape;183;g3fa1ed7422c_0_152"/>
          <p:cNvSpPr txBox="1"/>
          <p:nvPr/>
        </p:nvSpPr>
        <p:spPr>
          <a:xfrm>
            <a:off x="381000" y="1648925"/>
            <a:ext cx="11430000" cy="4358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Integration &amp; Simplicity:</a:t>
            </a:r>
            <a:r>
              <a:rPr lang="en-US" sz="1700">
                <a:solidFill>
                  <a:schemeClr val="dk1"/>
                </a:solidFill>
              </a:rPr>
              <a:t> The most important factor is how easily the database fits into your existing software stack. Open-source solutions and those with mature integrations are generally easier to adopt and maintain, especially for teams already using relational databases like PostgreSQL</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Open Source vs. Managed Services:</a:t>
            </a:r>
            <a:r>
              <a:rPr lang="en-US" sz="1700">
                <a:solidFill>
                  <a:schemeClr val="dk1"/>
                </a:solidFill>
              </a:rPr>
              <a:t> Open-source options provide flexibility, transparency, and cost control, while managed services can offer convenience and operational support. Your choice depends on your team's expertise and operational requirements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Performance (Speed &amp; Latency):</a:t>
            </a:r>
            <a:r>
              <a:rPr lang="en-US" sz="1700">
                <a:solidFill>
                  <a:schemeClr val="dk1"/>
                </a:solidFill>
              </a:rPr>
              <a:t> While speed is important, it's often overemphasized. For most GenAI applications, the time spent on vector search is negligible compared to the latency of large language model (LLM) inference, which can be 10–20x longer. Unless you're working with tens or hundreds of millions of vectors, performance differences are unlikely to be the bottleneck</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Scalability:</a:t>
            </a:r>
            <a:r>
              <a:rPr lang="en-US" sz="1700">
                <a:solidFill>
                  <a:schemeClr val="dk1"/>
                </a:solidFill>
              </a:rPr>
              <a:t> True scalability only becomes critical at very large data volumes. For most use cases, starting with a simple solution is best, and you can always migrate to a more specialized system if you outgrow your initial setup</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Community &amp; Ecosystem:</a:t>
            </a:r>
            <a:r>
              <a:rPr lang="en-US" sz="1700">
                <a:solidFill>
                  <a:schemeClr val="dk1"/>
                </a:solidFill>
              </a:rPr>
              <a:t> Strong community support and documentation can make a significant difference, especially for troubleshooting and upgrades</a:t>
            </a:r>
            <a:endParaRPr sz="17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88" name="Shape 188"/>
        <p:cNvGrpSpPr/>
        <p:nvPr/>
      </p:nvGrpSpPr>
      <p:grpSpPr>
        <a:xfrm>
          <a:off x="0" y="0"/>
          <a:ext cx="0" cy="0"/>
          <a:chOff x="0" y="0"/>
          <a:chExt cx="0" cy="0"/>
        </a:xfrm>
      </p:grpSpPr>
      <p:sp>
        <p:nvSpPr>
          <p:cNvPr id="189" name="Google Shape;189;p7"/>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i="0" lang="en-US" sz="2800" u="none" cap="none" strike="noStrike">
                <a:solidFill>
                  <a:srgbClr val="17202A"/>
                </a:solidFill>
                <a:latin typeface="Cambria"/>
                <a:ea typeface="Cambria"/>
                <a:cs typeface="Cambria"/>
                <a:sym typeface="Cambria"/>
              </a:rPr>
              <a:t>Why PostgreSQL + pgvector?</a:t>
            </a:r>
            <a:endParaRPr b="0" i="0" sz="2800" u="none" cap="none" strike="noStrike">
              <a:solidFill>
                <a:schemeClr val="dk1"/>
              </a:solidFill>
              <a:latin typeface="Arial"/>
              <a:ea typeface="Arial"/>
              <a:cs typeface="Arial"/>
              <a:sym typeface="Arial"/>
            </a:endParaRPr>
          </a:p>
        </p:txBody>
      </p:sp>
      <p:sp>
        <p:nvSpPr>
          <p:cNvPr id="190" name="Google Shape;190;p7"/>
          <p:cNvSpPr/>
          <p:nvPr/>
        </p:nvSpPr>
        <p:spPr>
          <a:xfrm>
            <a:off x="685800" y="1234440"/>
            <a:ext cx="3383280" cy="438912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914400" y="1481328"/>
            <a:ext cx="310896" cy="310896"/>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1344168" y="145389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One source of truth</a:t>
            </a:r>
            <a:endParaRPr b="0" i="0" sz="1700" u="none" cap="none" strike="noStrike">
              <a:solidFill>
                <a:schemeClr val="dk1"/>
              </a:solidFill>
              <a:latin typeface="Arial"/>
              <a:ea typeface="Arial"/>
              <a:cs typeface="Arial"/>
              <a:sym typeface="Arial"/>
            </a:endParaRPr>
          </a:p>
        </p:txBody>
      </p:sp>
      <p:sp>
        <p:nvSpPr>
          <p:cNvPr id="193" name="Google Shape;193;p7"/>
          <p:cNvSpPr/>
          <p:nvPr/>
        </p:nvSpPr>
        <p:spPr>
          <a:xfrm>
            <a:off x="914400" y="1947672"/>
            <a:ext cx="2926080" cy="34930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Relational fields, JSON metadata, article text, and embeddings live together.</a:t>
            </a:r>
            <a:endParaRPr b="0" i="0" sz="1250" u="none" cap="none" strike="noStrike">
              <a:solidFill>
                <a:schemeClr val="dk1"/>
              </a:solidFill>
              <a:latin typeface="Arial"/>
              <a:ea typeface="Arial"/>
              <a:cs typeface="Arial"/>
              <a:sym typeface="Arial"/>
            </a:endParaRPr>
          </a:p>
        </p:txBody>
      </p:sp>
      <p:sp>
        <p:nvSpPr>
          <p:cNvPr id="194" name="Google Shape;194;p7"/>
          <p:cNvSpPr/>
          <p:nvPr/>
        </p:nvSpPr>
        <p:spPr>
          <a:xfrm>
            <a:off x="4407408" y="1234440"/>
            <a:ext cx="3383280" cy="438912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636008" y="1481328"/>
            <a:ext cx="310896" cy="310896"/>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5065776" y="145389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SQL still works</a:t>
            </a:r>
            <a:endParaRPr b="0" i="0" sz="1700" u="none" cap="none" strike="noStrike">
              <a:solidFill>
                <a:schemeClr val="dk1"/>
              </a:solidFill>
              <a:latin typeface="Arial"/>
              <a:ea typeface="Arial"/>
              <a:cs typeface="Arial"/>
              <a:sym typeface="Arial"/>
            </a:endParaRPr>
          </a:p>
        </p:txBody>
      </p:sp>
      <p:sp>
        <p:nvSpPr>
          <p:cNvPr id="197" name="Google Shape;197;p7"/>
          <p:cNvSpPr/>
          <p:nvPr/>
        </p:nvSpPr>
        <p:spPr>
          <a:xfrm>
            <a:off x="4636008" y="1947672"/>
            <a:ext cx="2926080" cy="34930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Filter by source, tag, date, or tenant before or alongside vector search.</a:t>
            </a:r>
            <a:endParaRPr b="0" i="0" sz="1250" u="none" cap="none" strike="noStrike">
              <a:solidFill>
                <a:schemeClr val="dk1"/>
              </a:solidFill>
              <a:latin typeface="Arial"/>
              <a:ea typeface="Arial"/>
              <a:cs typeface="Arial"/>
              <a:sym typeface="Arial"/>
            </a:endParaRPr>
          </a:p>
        </p:txBody>
      </p:sp>
      <p:sp>
        <p:nvSpPr>
          <p:cNvPr id="198" name="Google Shape;198;p7"/>
          <p:cNvSpPr/>
          <p:nvPr/>
        </p:nvSpPr>
        <p:spPr>
          <a:xfrm>
            <a:off x="8129016" y="1234440"/>
            <a:ext cx="3383280" cy="4389120"/>
          </a:xfrm>
          <a:prstGeom prst="roundRect">
            <a:avLst>
              <a:gd fmla="val 2162"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8357616" y="1481328"/>
            <a:ext cx="310896" cy="310896"/>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8787384" y="1453896"/>
            <a:ext cx="2514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Production basics</a:t>
            </a:r>
            <a:endParaRPr b="0" i="0" sz="1700" u="none" cap="none" strike="noStrike">
              <a:solidFill>
                <a:schemeClr val="dk1"/>
              </a:solidFill>
              <a:latin typeface="Arial"/>
              <a:ea typeface="Arial"/>
              <a:cs typeface="Arial"/>
              <a:sym typeface="Arial"/>
            </a:endParaRPr>
          </a:p>
        </p:txBody>
      </p:sp>
      <p:sp>
        <p:nvSpPr>
          <p:cNvPr id="201" name="Google Shape;201;p7"/>
          <p:cNvSpPr/>
          <p:nvPr/>
        </p:nvSpPr>
        <p:spPr>
          <a:xfrm>
            <a:off x="8357616" y="1947672"/>
            <a:ext cx="2926080" cy="349300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Transactions, backups, permissions, joins, and familiar operations remain available.</a:t>
            </a:r>
            <a:endParaRPr b="0" i="0" sz="1250" u="none" cap="none" strike="noStrike">
              <a:solidFill>
                <a:schemeClr val="dk1"/>
              </a:solidFill>
              <a:latin typeface="Arial"/>
              <a:ea typeface="Arial"/>
              <a:cs typeface="Arial"/>
              <a:sym typeface="Arial"/>
            </a:endParaRPr>
          </a:p>
        </p:txBody>
      </p:sp>
      <p:sp>
        <p:nvSpPr>
          <p:cNvPr id="202" name="Google Shape;202;p7"/>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203" name="Google Shape;203;p7"/>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204" name="Google Shape;204;p7"/>
          <p:cNvSpPr txBox="1"/>
          <p:nvPr/>
        </p:nvSpPr>
        <p:spPr>
          <a:xfrm>
            <a:off x="702650" y="5614425"/>
            <a:ext cx="1079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However it really varies: in our company  we opted for </a:t>
            </a:r>
            <a:r>
              <a:rPr lang="en-US" sz="1200">
                <a:solidFill>
                  <a:schemeClr val="dk1"/>
                </a:solidFill>
              </a:rPr>
              <a:t>Weaviate for multi-tenant easibility (important for europe countries)</a:t>
            </a: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209" name="Shape 209"/>
        <p:cNvGrpSpPr/>
        <p:nvPr/>
      </p:nvGrpSpPr>
      <p:grpSpPr>
        <a:xfrm>
          <a:off x="0" y="0"/>
          <a:ext cx="0" cy="0"/>
          <a:chOff x="0" y="0"/>
          <a:chExt cx="0" cy="0"/>
        </a:xfrm>
      </p:grpSpPr>
      <p:sp>
        <p:nvSpPr>
          <p:cNvPr id="210" name="Google Shape;210;p8"/>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The pgvector schema is ordinary data + one new type</a:t>
            </a:r>
            <a:endParaRPr b="0" i="0" sz="2800" u="none" cap="none" strike="noStrike">
              <a:solidFill>
                <a:schemeClr val="dk1"/>
              </a:solidFill>
              <a:latin typeface="Arial"/>
              <a:ea typeface="Arial"/>
              <a:cs typeface="Arial"/>
              <a:sym typeface="Arial"/>
            </a:endParaRPr>
          </a:p>
        </p:txBody>
      </p:sp>
      <p:sp>
        <p:nvSpPr>
          <p:cNvPr id="211" name="Google Shape;211;p8"/>
          <p:cNvSpPr/>
          <p:nvPr/>
        </p:nvSpPr>
        <p:spPr>
          <a:xfrm>
            <a:off x="685800" y="1234440"/>
            <a:ext cx="6858000" cy="4526280"/>
          </a:xfrm>
          <a:prstGeom prst="roundRect">
            <a:avLst>
              <a:gd fmla="val 1212" name="adj"/>
            </a:avLst>
          </a:prstGeom>
          <a:solidFill>
            <a:srgbClr val="1B2630"/>
          </a:solidFill>
          <a:ln cap="flat" cmpd="sng" w="12700">
            <a:solidFill>
              <a:srgbClr val="3949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1005840" y="1600200"/>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E0C4"/>
              </a:buClr>
              <a:buSzPts val="2100"/>
              <a:buFont typeface="Courier New"/>
              <a:buNone/>
            </a:pPr>
            <a:r>
              <a:rPr b="1" i="0" lang="en-US" sz="2100" u="none" cap="none" strike="noStrike">
                <a:solidFill>
                  <a:srgbClr val="7FE0C4"/>
                </a:solidFill>
                <a:latin typeface="Courier New"/>
                <a:ea typeface="Courier New"/>
                <a:cs typeface="Courier New"/>
                <a:sym typeface="Courier New"/>
              </a:rPr>
              <a:t>news_chunks</a:t>
            </a:r>
            <a:endParaRPr b="0" i="0" sz="2100" u="none" cap="none" strike="noStrike">
              <a:solidFill>
                <a:schemeClr val="dk1"/>
              </a:solidFill>
              <a:latin typeface="Arial"/>
              <a:ea typeface="Arial"/>
              <a:cs typeface="Arial"/>
              <a:sym typeface="Arial"/>
            </a:endParaRPr>
          </a:p>
        </p:txBody>
      </p:sp>
      <p:sp>
        <p:nvSpPr>
          <p:cNvPr id="213" name="Google Shape;213;p8"/>
          <p:cNvSpPr/>
          <p:nvPr/>
        </p:nvSpPr>
        <p:spPr>
          <a:xfrm>
            <a:off x="1051560" y="233172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news_item_id</a:t>
            </a:r>
            <a:endParaRPr b="0" i="0" sz="1500" u="none" cap="none" strike="noStrike">
              <a:solidFill>
                <a:schemeClr val="dk1"/>
              </a:solidFill>
              <a:latin typeface="Arial"/>
              <a:ea typeface="Arial"/>
              <a:cs typeface="Arial"/>
              <a:sym typeface="Arial"/>
            </a:endParaRPr>
          </a:p>
        </p:txBody>
      </p:sp>
      <p:sp>
        <p:nvSpPr>
          <p:cNvPr id="214" name="Google Shape;214;p8"/>
          <p:cNvSpPr/>
          <p:nvPr/>
        </p:nvSpPr>
        <p:spPr>
          <a:xfrm>
            <a:off x="3703320" y="233172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0CE"/>
              </a:buClr>
              <a:buSzPts val="1500"/>
              <a:buFont typeface="Courier New"/>
              <a:buNone/>
            </a:pPr>
            <a:r>
              <a:rPr b="0" i="0" lang="en-US" sz="1500" u="none" cap="none" strike="noStrike">
                <a:solidFill>
                  <a:srgbClr val="AFC0CE"/>
                </a:solidFill>
                <a:latin typeface="Courier New"/>
                <a:ea typeface="Courier New"/>
                <a:cs typeface="Courier New"/>
                <a:sym typeface="Courier New"/>
              </a:rPr>
              <a:t>FK → news_items.id</a:t>
            </a:r>
            <a:endParaRPr b="0" i="0" sz="1500" u="none" cap="none" strike="noStrike">
              <a:solidFill>
                <a:schemeClr val="dk1"/>
              </a:solidFill>
              <a:latin typeface="Arial"/>
              <a:ea typeface="Arial"/>
              <a:cs typeface="Arial"/>
              <a:sym typeface="Arial"/>
            </a:endParaRPr>
          </a:p>
        </p:txBody>
      </p:sp>
      <p:sp>
        <p:nvSpPr>
          <p:cNvPr id="215" name="Google Shape;215;p8"/>
          <p:cNvSpPr/>
          <p:nvPr/>
        </p:nvSpPr>
        <p:spPr>
          <a:xfrm>
            <a:off x="1051560" y="299008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chunk_index</a:t>
            </a:r>
            <a:endParaRPr b="0" i="0" sz="1500" u="none" cap="none" strike="noStrike">
              <a:solidFill>
                <a:schemeClr val="dk1"/>
              </a:solidFill>
              <a:latin typeface="Arial"/>
              <a:ea typeface="Arial"/>
              <a:cs typeface="Arial"/>
              <a:sym typeface="Arial"/>
            </a:endParaRPr>
          </a:p>
        </p:txBody>
      </p:sp>
      <p:sp>
        <p:nvSpPr>
          <p:cNvPr id="216" name="Google Shape;216;p8"/>
          <p:cNvSpPr/>
          <p:nvPr/>
        </p:nvSpPr>
        <p:spPr>
          <a:xfrm>
            <a:off x="3703320" y="2990088"/>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0CE"/>
              </a:buClr>
              <a:buSzPts val="1500"/>
              <a:buFont typeface="Courier New"/>
              <a:buNone/>
            </a:pPr>
            <a:r>
              <a:rPr b="0" i="0" lang="en-US" sz="1500" u="none" cap="none" strike="noStrike">
                <a:solidFill>
                  <a:srgbClr val="AFC0CE"/>
                </a:solidFill>
                <a:latin typeface="Courier New"/>
                <a:ea typeface="Courier New"/>
                <a:cs typeface="Courier New"/>
                <a:sym typeface="Courier New"/>
              </a:rPr>
              <a:t>integer</a:t>
            </a:r>
            <a:endParaRPr b="0" i="0" sz="1500" u="none" cap="none" strike="noStrike">
              <a:solidFill>
                <a:schemeClr val="dk1"/>
              </a:solidFill>
              <a:latin typeface="Arial"/>
              <a:ea typeface="Arial"/>
              <a:cs typeface="Arial"/>
              <a:sym typeface="Arial"/>
            </a:endParaRPr>
          </a:p>
        </p:txBody>
      </p:sp>
      <p:sp>
        <p:nvSpPr>
          <p:cNvPr id="217" name="Google Shape;217;p8"/>
          <p:cNvSpPr/>
          <p:nvPr/>
        </p:nvSpPr>
        <p:spPr>
          <a:xfrm>
            <a:off x="1051560" y="364845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content</a:t>
            </a:r>
            <a:endParaRPr b="0" i="0" sz="1500" u="none" cap="none" strike="noStrike">
              <a:solidFill>
                <a:schemeClr val="dk1"/>
              </a:solidFill>
              <a:latin typeface="Arial"/>
              <a:ea typeface="Arial"/>
              <a:cs typeface="Arial"/>
              <a:sym typeface="Arial"/>
            </a:endParaRPr>
          </a:p>
        </p:txBody>
      </p:sp>
      <p:sp>
        <p:nvSpPr>
          <p:cNvPr id="218" name="Google Shape;218;p8"/>
          <p:cNvSpPr/>
          <p:nvPr/>
        </p:nvSpPr>
        <p:spPr>
          <a:xfrm>
            <a:off x="3703320" y="3648456"/>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0CE"/>
              </a:buClr>
              <a:buSzPts val="1500"/>
              <a:buFont typeface="Courier New"/>
              <a:buNone/>
            </a:pPr>
            <a:r>
              <a:rPr b="0" i="0" lang="en-US" sz="1500" u="none" cap="none" strike="noStrike">
                <a:solidFill>
                  <a:srgbClr val="AFC0CE"/>
                </a:solidFill>
                <a:latin typeface="Courier New"/>
                <a:ea typeface="Courier New"/>
                <a:cs typeface="Courier New"/>
                <a:sym typeface="Courier New"/>
              </a:rPr>
              <a:t>text</a:t>
            </a:r>
            <a:endParaRPr b="0" i="0" sz="1500" u="none" cap="none" strike="noStrike">
              <a:solidFill>
                <a:schemeClr val="dk1"/>
              </a:solidFill>
              <a:latin typeface="Arial"/>
              <a:ea typeface="Arial"/>
              <a:cs typeface="Arial"/>
              <a:sym typeface="Arial"/>
            </a:endParaRPr>
          </a:p>
        </p:txBody>
      </p:sp>
      <p:sp>
        <p:nvSpPr>
          <p:cNvPr id="219" name="Google Shape;219;p8"/>
          <p:cNvSpPr/>
          <p:nvPr/>
        </p:nvSpPr>
        <p:spPr>
          <a:xfrm>
            <a:off x="1051560" y="4306824"/>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embedding</a:t>
            </a:r>
            <a:endParaRPr b="0" i="0" sz="1500" u="none" cap="none" strike="noStrike">
              <a:solidFill>
                <a:schemeClr val="dk1"/>
              </a:solidFill>
              <a:latin typeface="Arial"/>
              <a:ea typeface="Arial"/>
              <a:cs typeface="Arial"/>
              <a:sym typeface="Arial"/>
            </a:endParaRPr>
          </a:p>
        </p:txBody>
      </p:sp>
      <p:sp>
        <p:nvSpPr>
          <p:cNvPr id="220" name="Google Shape;220;p8"/>
          <p:cNvSpPr/>
          <p:nvPr/>
        </p:nvSpPr>
        <p:spPr>
          <a:xfrm>
            <a:off x="3703320" y="4306824"/>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166"/>
              </a:buClr>
              <a:buSzPts val="1500"/>
              <a:buFont typeface="Courier New"/>
              <a:buNone/>
            </a:pPr>
            <a:r>
              <a:rPr b="0" i="0" lang="en-US" sz="1500" u="none" cap="none" strike="noStrike">
                <a:solidFill>
                  <a:srgbClr val="FFD166"/>
                </a:solidFill>
                <a:latin typeface="Courier New"/>
                <a:ea typeface="Courier New"/>
                <a:cs typeface="Courier New"/>
                <a:sym typeface="Courier New"/>
              </a:rPr>
              <a:t>vector(1536)</a:t>
            </a:r>
            <a:endParaRPr b="0" i="0" sz="1500" u="none" cap="none" strike="noStrike">
              <a:solidFill>
                <a:schemeClr val="dk1"/>
              </a:solidFill>
              <a:latin typeface="Arial"/>
              <a:ea typeface="Arial"/>
              <a:cs typeface="Arial"/>
              <a:sym typeface="Arial"/>
            </a:endParaRPr>
          </a:p>
        </p:txBody>
      </p:sp>
      <p:sp>
        <p:nvSpPr>
          <p:cNvPr id="221" name="Google Shape;221;p8"/>
          <p:cNvSpPr/>
          <p:nvPr/>
        </p:nvSpPr>
        <p:spPr>
          <a:xfrm>
            <a:off x="8001000" y="1828800"/>
            <a:ext cx="3429000" cy="2377440"/>
          </a:xfrm>
          <a:prstGeom prst="roundRect">
            <a:avLst>
              <a:gd fmla="val 2308" name="adj"/>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8366760" y="2240280"/>
            <a:ext cx="2697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300"/>
              <a:buFont typeface="Arial"/>
              <a:buNone/>
            </a:pPr>
            <a:r>
              <a:rPr b="1" i="0" lang="en-US" sz="2300" u="none" cap="none" strike="noStrike">
                <a:solidFill>
                  <a:srgbClr val="FFFFFF"/>
                </a:solidFill>
                <a:latin typeface="Arial"/>
                <a:ea typeface="Arial"/>
                <a:cs typeface="Arial"/>
                <a:sym typeface="Arial"/>
              </a:rPr>
              <a:t>HNSW index</a:t>
            </a:r>
            <a:endParaRPr b="0" i="0" sz="2300" u="none" cap="none" strike="noStrike">
              <a:solidFill>
                <a:schemeClr val="dk1"/>
              </a:solidFill>
              <a:latin typeface="Arial"/>
              <a:ea typeface="Arial"/>
              <a:cs typeface="Arial"/>
              <a:sym typeface="Arial"/>
            </a:endParaRPr>
          </a:p>
        </p:txBody>
      </p:sp>
      <p:sp>
        <p:nvSpPr>
          <p:cNvPr id="223" name="Google Shape;223;p8"/>
          <p:cNvSpPr/>
          <p:nvPr/>
        </p:nvSpPr>
        <p:spPr>
          <a:xfrm>
            <a:off x="8412480" y="2971800"/>
            <a:ext cx="2606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9E6FF"/>
              </a:buClr>
              <a:buSzPts val="1400"/>
              <a:buFont typeface="Arial"/>
              <a:buNone/>
            </a:pPr>
            <a:r>
              <a:rPr b="0" i="0" lang="en-US" sz="1400" u="none" cap="none" strike="noStrike">
                <a:solidFill>
                  <a:srgbClr val="E9E6FF"/>
                </a:solidFill>
                <a:latin typeface="Arial"/>
                <a:ea typeface="Arial"/>
                <a:cs typeface="Arial"/>
                <a:sym typeface="Arial"/>
              </a:rPr>
              <a:t>Fast approximate nearest-neighbor search with strong recall</a:t>
            </a:r>
            <a:endParaRPr b="0" i="0" sz="1400" u="none" cap="none" strike="noStrike">
              <a:solidFill>
                <a:schemeClr val="dk1"/>
              </a:solidFill>
              <a:latin typeface="Arial"/>
              <a:ea typeface="Arial"/>
              <a:cs typeface="Arial"/>
              <a:sym typeface="Arial"/>
            </a:endParaRPr>
          </a:p>
        </p:txBody>
      </p:sp>
      <p:sp>
        <p:nvSpPr>
          <p:cNvPr id="224" name="Google Shape;224;p8"/>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225" name="Google Shape;225;p8"/>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8</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30" name="Shape 230"/>
        <p:cNvGrpSpPr/>
        <p:nvPr/>
      </p:nvGrpSpPr>
      <p:grpSpPr>
        <a:xfrm>
          <a:off x="0" y="0"/>
          <a:ext cx="0" cy="0"/>
          <a:chOff x="0" y="0"/>
          <a:chExt cx="0" cy="0"/>
        </a:xfrm>
      </p:grpSpPr>
      <p:sp>
        <p:nvSpPr>
          <p:cNvPr id="231" name="Google Shape;231;p9"/>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i="0" lang="en-US" sz="2800" u="none" cap="none" strike="noStrike">
                <a:solidFill>
                  <a:srgbClr val="17202A"/>
                </a:solidFill>
                <a:latin typeface="Cambria"/>
                <a:ea typeface="Cambria"/>
                <a:cs typeface="Cambria"/>
                <a:sym typeface="Cambria"/>
              </a:rPr>
              <a:t>Similarity search: sort by distance, return evidence</a:t>
            </a:r>
            <a:endParaRPr b="0" i="0" sz="2800" u="none" cap="none" strike="noStrike">
              <a:solidFill>
                <a:schemeClr val="dk1"/>
              </a:solidFill>
              <a:latin typeface="Arial"/>
              <a:ea typeface="Arial"/>
              <a:cs typeface="Arial"/>
              <a:sym typeface="Arial"/>
            </a:endParaRPr>
          </a:p>
        </p:txBody>
      </p:sp>
      <p:sp>
        <p:nvSpPr>
          <p:cNvPr id="232" name="Google Shape;232;p9"/>
          <p:cNvSpPr/>
          <p:nvPr/>
        </p:nvSpPr>
        <p:spPr>
          <a:xfrm>
            <a:off x="685800" y="1143000"/>
            <a:ext cx="6629400" cy="4480560"/>
          </a:xfrm>
          <a:prstGeom prst="roundRect">
            <a:avLst>
              <a:gd fmla="val 1224" name="adj"/>
            </a:avLst>
          </a:prstGeom>
          <a:solidFill>
            <a:srgbClr val="101820"/>
          </a:solidFill>
          <a:ln cap="flat" cmpd="sng" w="12700">
            <a:solidFill>
              <a:srgbClr val="1018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1051560" y="1600200"/>
            <a:ext cx="5852160" cy="297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SELECT content,</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-(embedding &lt;#&gt; :query) AS similarity</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FROM news_chunks</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ORDER BY embedding &lt;#&gt; :query</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LIMIT 5;</a:t>
            </a:r>
            <a:endParaRPr b="0" i="0" sz="1800" u="none" cap="none" strike="noStrike">
              <a:solidFill>
                <a:schemeClr val="dk1"/>
              </a:solidFill>
              <a:latin typeface="Arial"/>
              <a:ea typeface="Arial"/>
              <a:cs typeface="Arial"/>
              <a:sym typeface="Arial"/>
            </a:endParaRPr>
          </a:p>
        </p:txBody>
      </p:sp>
      <p:sp>
        <p:nvSpPr>
          <p:cNvPr id="234" name="Google Shape;234;p9"/>
          <p:cNvSpPr/>
          <p:nvPr/>
        </p:nvSpPr>
        <p:spPr>
          <a:xfrm>
            <a:off x="7772400" y="1143000"/>
            <a:ext cx="3703320" cy="1234440"/>
          </a:xfrm>
          <a:prstGeom prst="roundRect">
            <a:avLst>
              <a:gd fmla="val 5926"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8001000" y="1389888"/>
            <a:ext cx="310896" cy="310896"/>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8430768" y="1362456"/>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&lt;#&gt;</a:t>
            </a:r>
            <a:endParaRPr b="0" i="0" sz="1700" u="none" cap="none" strike="noStrike">
              <a:solidFill>
                <a:schemeClr val="dk1"/>
              </a:solidFill>
              <a:latin typeface="Arial"/>
              <a:ea typeface="Arial"/>
              <a:cs typeface="Arial"/>
              <a:sym typeface="Arial"/>
            </a:endParaRPr>
          </a:p>
        </p:txBody>
      </p:sp>
      <p:sp>
        <p:nvSpPr>
          <p:cNvPr id="237" name="Google Shape;237;p9"/>
          <p:cNvSpPr/>
          <p:nvPr/>
        </p:nvSpPr>
        <p:spPr>
          <a:xfrm>
            <a:off x="8001000" y="1856232"/>
            <a:ext cx="3246120" cy="33832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Negative inner product</a:t>
            </a:r>
            <a:endParaRPr b="0" i="0" sz="1250" u="none" cap="none" strike="noStrike">
              <a:solidFill>
                <a:schemeClr val="dk1"/>
              </a:solidFill>
              <a:latin typeface="Arial"/>
              <a:ea typeface="Arial"/>
              <a:cs typeface="Arial"/>
              <a:sym typeface="Arial"/>
            </a:endParaRPr>
          </a:p>
        </p:txBody>
      </p:sp>
      <p:sp>
        <p:nvSpPr>
          <p:cNvPr id="238" name="Google Shape;238;p9"/>
          <p:cNvSpPr/>
          <p:nvPr/>
        </p:nvSpPr>
        <p:spPr>
          <a:xfrm>
            <a:off x="7772400" y="2697480"/>
            <a:ext cx="3703320" cy="1234440"/>
          </a:xfrm>
          <a:prstGeom prst="roundRect">
            <a:avLst>
              <a:gd fmla="val 5926"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8001000" y="2944368"/>
            <a:ext cx="310896" cy="310896"/>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8430768" y="2916936"/>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Why negate?</a:t>
            </a:r>
            <a:endParaRPr b="0" i="0" sz="1700" u="none" cap="none" strike="noStrike">
              <a:solidFill>
                <a:schemeClr val="dk1"/>
              </a:solidFill>
              <a:latin typeface="Arial"/>
              <a:ea typeface="Arial"/>
              <a:cs typeface="Arial"/>
              <a:sym typeface="Arial"/>
            </a:endParaRPr>
          </a:p>
        </p:txBody>
      </p:sp>
      <p:sp>
        <p:nvSpPr>
          <p:cNvPr id="241" name="Google Shape;241;p9"/>
          <p:cNvSpPr/>
          <p:nvPr/>
        </p:nvSpPr>
        <p:spPr>
          <a:xfrm>
            <a:off x="8001000" y="3410712"/>
            <a:ext cx="3246120" cy="33832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Display a familiar similarity score</a:t>
            </a:r>
            <a:endParaRPr b="0" i="0" sz="1250" u="none" cap="none" strike="noStrike">
              <a:solidFill>
                <a:schemeClr val="dk1"/>
              </a:solidFill>
              <a:latin typeface="Arial"/>
              <a:ea typeface="Arial"/>
              <a:cs typeface="Arial"/>
              <a:sym typeface="Arial"/>
            </a:endParaRPr>
          </a:p>
        </p:txBody>
      </p:sp>
      <p:sp>
        <p:nvSpPr>
          <p:cNvPr id="242" name="Google Shape;242;p9"/>
          <p:cNvSpPr/>
          <p:nvPr/>
        </p:nvSpPr>
        <p:spPr>
          <a:xfrm>
            <a:off x="7772400" y="4251960"/>
            <a:ext cx="3703320" cy="1371600"/>
          </a:xfrm>
          <a:prstGeom prst="roundRect">
            <a:avLst>
              <a:gd fmla="val 5333" name="adj"/>
            </a:avLst>
          </a:prstGeom>
          <a:solidFill>
            <a:srgbClr val="FFFFFF"/>
          </a:solidFill>
          <a:ln cap="flat" cmpd="sng" w="12700">
            <a:solidFill>
              <a:srgbClr val="DDE5EA"/>
            </a:solidFill>
            <a:prstDash val="solid"/>
            <a:round/>
            <a:headEnd len="sm" w="sm" type="none"/>
            <a:tailEnd len="sm" w="sm" type="none"/>
          </a:ln>
          <a:effectLst>
            <a:outerShdw blurRad="12700" rotWithShape="0" algn="bl" dir="2700000" dist="50800">
              <a:srgbClr val="AAB7C4">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8001000" y="4498848"/>
            <a:ext cx="310896" cy="310896"/>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8430768" y="4471416"/>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Normalized vectors</a:t>
            </a:r>
            <a:endParaRPr b="0" i="0" sz="1700" u="none" cap="none" strike="noStrike">
              <a:solidFill>
                <a:schemeClr val="dk1"/>
              </a:solidFill>
              <a:latin typeface="Arial"/>
              <a:ea typeface="Arial"/>
              <a:cs typeface="Arial"/>
              <a:sym typeface="Arial"/>
            </a:endParaRPr>
          </a:p>
        </p:txBody>
      </p:sp>
      <p:sp>
        <p:nvSpPr>
          <p:cNvPr id="245" name="Google Shape;245;p9"/>
          <p:cNvSpPr/>
          <p:nvPr/>
        </p:nvSpPr>
        <p:spPr>
          <a:xfrm>
            <a:off x="8001000" y="4965192"/>
            <a:ext cx="324612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E6B78"/>
              </a:buClr>
              <a:buSzPts val="1250"/>
              <a:buFont typeface="Arial"/>
              <a:buNone/>
            </a:pPr>
            <a:r>
              <a:rPr b="0" i="0" lang="en-US" sz="1250" u="none" cap="none" strike="noStrike">
                <a:solidFill>
                  <a:srgbClr val="5E6B78"/>
                </a:solidFill>
                <a:latin typeface="Arial"/>
                <a:ea typeface="Arial"/>
                <a:cs typeface="Arial"/>
                <a:sym typeface="Arial"/>
              </a:rPr>
              <a:t>Inner product and cosine rank alike</a:t>
            </a:r>
            <a:endParaRPr b="0" i="0" sz="1250" u="none" cap="none" strike="noStrike">
              <a:solidFill>
                <a:schemeClr val="dk1"/>
              </a:solidFill>
              <a:latin typeface="Arial"/>
              <a:ea typeface="Arial"/>
              <a:cs typeface="Arial"/>
              <a:sym typeface="Arial"/>
            </a:endParaRPr>
          </a:p>
        </p:txBody>
      </p:sp>
      <p:sp>
        <p:nvSpPr>
          <p:cNvPr id="246" name="Google Shape;246;p9"/>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247" name="Google Shape;247;p9"/>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9</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52" name="Shape 252"/>
        <p:cNvGrpSpPr/>
        <p:nvPr/>
      </p:nvGrpSpPr>
      <p:grpSpPr>
        <a:xfrm>
          <a:off x="0" y="0"/>
          <a:ext cx="0" cy="0"/>
          <a:chOff x="0" y="0"/>
          <a:chExt cx="0" cy="0"/>
        </a:xfrm>
      </p:grpSpPr>
      <p:sp>
        <p:nvSpPr>
          <p:cNvPr id="253" name="Google Shape;253;g3fa1ed7422c_0_175"/>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P</a:t>
            </a:r>
            <a:r>
              <a:rPr b="1" i="0" lang="en-US" sz="2800" u="none" cap="none" strike="noStrike">
                <a:solidFill>
                  <a:srgbClr val="17202A"/>
                </a:solidFill>
                <a:latin typeface="Cambria"/>
                <a:ea typeface="Cambria"/>
                <a:cs typeface="Cambria"/>
                <a:sym typeface="Cambria"/>
              </a:rPr>
              <a:t>gvector</a:t>
            </a:r>
            <a:r>
              <a:rPr b="1" lang="en-US" sz="2800">
                <a:solidFill>
                  <a:srgbClr val="17202A"/>
                </a:solidFill>
                <a:latin typeface="Cambria"/>
                <a:ea typeface="Cambria"/>
                <a:cs typeface="Cambria"/>
                <a:sym typeface="Cambria"/>
              </a:rPr>
              <a:t> Setup : Go through tutorial</a:t>
            </a:r>
            <a:endParaRPr b="0" i="0" sz="2800" u="none" cap="none" strike="noStrike">
              <a:solidFill>
                <a:schemeClr val="dk1"/>
              </a:solidFill>
              <a:latin typeface="Arial"/>
              <a:ea typeface="Arial"/>
              <a:cs typeface="Arial"/>
              <a:sym typeface="Arial"/>
            </a:endParaRPr>
          </a:p>
        </p:txBody>
      </p:sp>
      <p:sp>
        <p:nvSpPr>
          <p:cNvPr id="254" name="Google Shape;254;g3fa1ed7422c_0_175"/>
          <p:cNvSpPr/>
          <p:nvPr/>
        </p:nvSpPr>
        <p:spPr>
          <a:xfrm>
            <a:off x="11201400" y="6138015"/>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255" name="Google Shape;255;g3fa1ed7422c_0_175"/>
          <p:cNvSpPr txBox="1"/>
          <p:nvPr/>
        </p:nvSpPr>
        <p:spPr>
          <a:xfrm>
            <a:off x="594350" y="886850"/>
            <a:ext cx="367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GITHUB REPO : </a:t>
            </a:r>
            <a:r>
              <a:rPr lang="en-US" u="sng">
                <a:solidFill>
                  <a:schemeClr val="hlink"/>
                </a:solidFill>
                <a:hlinkClick r:id="rId3"/>
              </a:rPr>
              <a:t>week4/pgvector-setup</a:t>
            </a:r>
            <a:endParaRPr/>
          </a:p>
        </p:txBody>
      </p:sp>
      <p:sp>
        <p:nvSpPr>
          <p:cNvPr id="256" name="Google Shape;256;g3fa1ed7422c_0_175"/>
          <p:cNvSpPr txBox="1"/>
          <p:nvPr/>
        </p:nvSpPr>
        <p:spPr>
          <a:xfrm>
            <a:off x="291350" y="1294700"/>
            <a:ext cx="11519700" cy="52611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Docker</a:t>
            </a:r>
            <a:r>
              <a:rPr b="1" lang="en-US" sz="1700">
                <a:solidFill>
                  <a:schemeClr val="dk1"/>
                </a:solidFill>
              </a:rPr>
              <a:t> Setup</a:t>
            </a:r>
            <a:r>
              <a:rPr b="1" lang="en-US" sz="1700">
                <a:solidFill>
                  <a:schemeClr val="dk1"/>
                </a:solidFill>
              </a:rPr>
              <a:t>:</a:t>
            </a:r>
            <a:r>
              <a:rPr lang="en-US" sz="1700">
                <a:solidFill>
                  <a:schemeClr val="dk1"/>
                </a:solidFill>
              </a:rPr>
              <a:t> change the original postgres image to pgvector/pgvector:pg17 which includes PostgreSQL 17 with pgvector pre-installed.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Database Initialization</a:t>
            </a:r>
            <a:r>
              <a:rPr b="1" lang="en-US" sz="1700">
                <a:solidFill>
                  <a:schemeClr val="dk1"/>
                </a:solidFill>
              </a:rPr>
              <a:t>:</a:t>
            </a:r>
            <a:r>
              <a:rPr lang="en-US" sz="1700">
                <a:solidFill>
                  <a:schemeClr val="dk1"/>
                </a:solidFill>
              </a:rPr>
              <a:t> </a:t>
            </a:r>
            <a:r>
              <a:rPr lang="en-US" sz="1700">
                <a:solidFill>
                  <a:schemeClr val="dk1"/>
                </a:solidFill>
              </a:rPr>
              <a:t>docker/init.sql script sets up the foundation table for vector operations. When you run docker compose up the first time, this  script is automatically executed when the PostgreSQL container starts for the first time through Docker's initialization mechanism and will create the basic table schema with a vector column defined (this is where pgvector enable to have) </a:t>
            </a:r>
            <a:endParaRPr sz="1700">
              <a:solidFill>
                <a:schemeClr val="dk1"/>
              </a:solidFill>
            </a:endParaRPr>
          </a:p>
          <a:p>
            <a:pPr indent="-336550" lvl="1" marL="914400" rtl="0" algn="l">
              <a:lnSpc>
                <a:spcPct val="115000"/>
              </a:lnSpc>
              <a:spcBef>
                <a:spcPts val="0"/>
              </a:spcBef>
              <a:spcAft>
                <a:spcPts val="0"/>
              </a:spcAft>
              <a:buClr>
                <a:schemeClr val="dk1"/>
              </a:buClr>
              <a:buSzPts val="1700"/>
              <a:buAutoNum type="alphaLcPeriod"/>
            </a:pPr>
            <a:r>
              <a:rPr b="1" lang="en-US" sz="1700">
                <a:solidFill>
                  <a:schemeClr val="dk1"/>
                </a:solidFill>
              </a:rPr>
              <a:t>Database Configuration </a:t>
            </a:r>
            <a:r>
              <a:rPr lang="en-US" sz="1700">
                <a:solidFill>
                  <a:schemeClr val="dk1"/>
                </a:solidFill>
              </a:rPr>
              <a:t> like in week3, the postgres instance is initialized with host, port, username, password, etc. You can log into the postgres through GUI like TablePlus, refer back to week3 if you are unclear. </a:t>
            </a:r>
            <a:endParaRPr sz="1700">
              <a:solidFill>
                <a:schemeClr val="dk1"/>
              </a:solidFill>
            </a:endParaRPr>
          </a:p>
          <a:p>
            <a:pPr indent="-336550" lvl="1" marL="914400" rtl="0" algn="l">
              <a:lnSpc>
                <a:spcPct val="115000"/>
              </a:lnSpc>
              <a:spcBef>
                <a:spcPts val="0"/>
              </a:spcBef>
              <a:spcAft>
                <a:spcPts val="0"/>
              </a:spcAft>
              <a:buClr>
                <a:schemeClr val="dk1"/>
              </a:buClr>
              <a:buSzPts val="1700"/>
              <a:buAutoNum type="alphaLcPeriod"/>
            </a:pPr>
            <a:r>
              <a:rPr b="1" lang="en-US" sz="1700">
                <a:solidFill>
                  <a:schemeClr val="dk1"/>
                </a:solidFill>
              </a:rPr>
              <a:t>Understanding Vector Index</a:t>
            </a:r>
            <a:r>
              <a:rPr b="1" lang="en-US" sz="1700">
                <a:solidFill>
                  <a:schemeClr val="dk1"/>
                </a:solidFill>
              </a:rPr>
              <a:t>:</a:t>
            </a:r>
            <a:r>
              <a:rPr lang="en-US" sz="1700">
                <a:solidFill>
                  <a:schemeClr val="dk1"/>
                </a:solidFill>
              </a:rPr>
              <a:t> Index is crucial for performance at scale and is CS research topic of its own. For now just know we use HNSW index for the vector column (read more in repo)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Basic Vector Operation</a:t>
            </a:r>
            <a:r>
              <a:rPr b="1" lang="en-US" sz="1700">
                <a:solidFill>
                  <a:schemeClr val="dk1"/>
                </a:solidFill>
              </a:rPr>
              <a:t>:</a:t>
            </a:r>
            <a:r>
              <a:rPr lang="en-US" sz="1700">
                <a:solidFill>
                  <a:schemeClr val="dk1"/>
                </a:solidFill>
              </a:rPr>
              <a:t> Run and interact with </a:t>
            </a:r>
            <a:r>
              <a:rPr lang="en-US" sz="1700" u="sng">
                <a:solidFill>
                  <a:schemeClr val="hlink"/>
                </a:solidFill>
                <a:hlinkClick r:id="rId4"/>
              </a:rPr>
              <a:t>1-basic-operations.py</a:t>
            </a:r>
            <a:r>
              <a:rPr lang="en-US" sz="1700">
                <a:solidFill>
                  <a:schemeClr val="dk1"/>
                </a:solidFill>
              </a:rPr>
              <a:t>. </a:t>
            </a:r>
            <a:r>
              <a:rPr lang="en-US" sz="1700">
                <a:solidFill>
                  <a:schemeClr val="dk1"/>
                </a:solidFill>
              </a:rPr>
              <a:t>Remember after every action, check GUI . </a:t>
            </a:r>
            <a:r>
              <a:rPr lang="en-US" sz="1700">
                <a:solidFill>
                  <a:schemeClr val="dk1"/>
                </a:solidFill>
              </a:rPr>
              <a:t>1.create table  2.search for similar document . Her we are interacting with pgvector directly.</a:t>
            </a:r>
            <a:r>
              <a:rPr lang="en-US" sz="1000">
                <a:solidFill>
                  <a:srgbClr val="F0F6FC"/>
                </a:solidFill>
                <a:latin typeface="Courier New"/>
                <a:ea typeface="Courier New"/>
                <a:cs typeface="Courier New"/>
                <a:sym typeface="Courier New"/>
              </a:rPr>
              <a:t>basic-ope1-basic-operations.pyrations.py</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SQLAlchemy Integration:  </a:t>
            </a:r>
            <a:r>
              <a:rPr lang="en-US" sz="1700">
                <a:solidFill>
                  <a:schemeClr val="dk1"/>
                </a:solidFill>
              </a:rPr>
              <a:t>Optional, doing similar things but with SQLAlchemy (python ) layer on top of pgvector to interact with sql. </a:t>
            </a:r>
            <a:br>
              <a:rPr lang="en-US" sz="1700">
                <a:solidFill>
                  <a:schemeClr val="dk1"/>
                </a:solidFill>
              </a:rPr>
            </a:br>
            <a:r>
              <a:rPr lang="en-US" sz="1700">
                <a:solidFill>
                  <a:schemeClr val="dk1"/>
                </a:solidFill>
              </a:rPr>
              <a:t>**READ THE TOP OF THE SCRIPT TO GET HIGH LEVEL OF WHAT YOU ARE DOING ** </a:t>
            </a:r>
            <a:endParaRPr sz="17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61" name="Shape 261"/>
        <p:cNvGrpSpPr/>
        <p:nvPr/>
      </p:nvGrpSpPr>
      <p:grpSpPr>
        <a:xfrm>
          <a:off x="0" y="0"/>
          <a:ext cx="0" cy="0"/>
          <a:chOff x="0" y="0"/>
          <a:chExt cx="0" cy="0"/>
        </a:xfrm>
      </p:grpSpPr>
      <p:sp>
        <p:nvSpPr>
          <p:cNvPr id="262" name="Google Shape;262;g3fa1ed7422c_0_208"/>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End 2 End RAG Pipeline</a:t>
            </a:r>
            <a:r>
              <a:rPr b="1" lang="en-US" sz="2800">
                <a:solidFill>
                  <a:srgbClr val="17202A"/>
                </a:solidFill>
                <a:latin typeface="Cambria"/>
                <a:ea typeface="Cambria"/>
                <a:cs typeface="Cambria"/>
                <a:sym typeface="Cambria"/>
              </a:rPr>
              <a:t> : Go through tutorial</a:t>
            </a:r>
            <a:endParaRPr b="0" i="0" sz="2800" u="none" cap="none" strike="noStrike">
              <a:solidFill>
                <a:schemeClr val="dk1"/>
              </a:solidFill>
              <a:latin typeface="Arial"/>
              <a:ea typeface="Arial"/>
              <a:cs typeface="Arial"/>
              <a:sym typeface="Arial"/>
            </a:endParaRPr>
          </a:p>
        </p:txBody>
      </p:sp>
      <p:sp>
        <p:nvSpPr>
          <p:cNvPr id="263" name="Google Shape;263;g3fa1ed7422c_0_208"/>
          <p:cNvSpPr/>
          <p:nvPr/>
        </p:nvSpPr>
        <p:spPr>
          <a:xfrm>
            <a:off x="11201400" y="6138015"/>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264" name="Google Shape;264;g3fa1ed7422c_0_208"/>
          <p:cNvSpPr txBox="1"/>
          <p:nvPr/>
        </p:nvSpPr>
        <p:spPr>
          <a:xfrm>
            <a:off x="594350" y="886850"/>
            <a:ext cx="367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GITHUB REPO : </a:t>
            </a:r>
            <a:r>
              <a:rPr lang="en-US" u="sng">
                <a:solidFill>
                  <a:schemeClr val="hlink"/>
                </a:solidFill>
                <a:hlinkClick r:id="rId3"/>
              </a:rPr>
              <a:t>week4/rag-pipeline</a:t>
            </a:r>
            <a:endParaRPr/>
          </a:p>
        </p:txBody>
      </p:sp>
      <p:sp>
        <p:nvSpPr>
          <p:cNvPr id="265" name="Google Shape;265;g3fa1ed7422c_0_208"/>
          <p:cNvSpPr txBox="1"/>
          <p:nvPr/>
        </p:nvSpPr>
        <p:spPr>
          <a:xfrm>
            <a:off x="291350" y="1294700"/>
            <a:ext cx="11519700" cy="28605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Document Processing: </a:t>
            </a:r>
            <a:r>
              <a:rPr lang="en-US" sz="1700">
                <a:solidFill>
                  <a:schemeClr val="dk1"/>
                </a:solidFill>
              </a:rPr>
              <a:t>Load and chunk local news article JSON files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Embedding Generation: </a:t>
            </a:r>
            <a:r>
              <a:rPr lang="en-US" sz="1700">
                <a:solidFill>
                  <a:schemeClr val="dk1"/>
                </a:solidFill>
              </a:rPr>
              <a:t>Create embeddings using OpenAI's text-embedding-3-small</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Vector Storage: </a:t>
            </a:r>
            <a:r>
              <a:rPr lang="en-US" sz="1700">
                <a:solidFill>
                  <a:schemeClr val="dk1"/>
                </a:solidFill>
              </a:rPr>
              <a:t>Store embeddings in PGVector database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Similarity Search: </a:t>
            </a:r>
            <a:r>
              <a:rPr lang="en-US" sz="1700">
                <a:solidFill>
                  <a:schemeClr val="dk1"/>
                </a:solidFill>
              </a:rPr>
              <a:t>Query the database to find relevant chunks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Response Generation: </a:t>
            </a:r>
            <a:r>
              <a:rPr lang="en-US" sz="1700">
                <a:solidFill>
                  <a:schemeClr val="dk1"/>
                </a:solidFill>
              </a:rPr>
              <a:t>Use retrieved context to generate answers with OpenAI</a:t>
            </a:r>
            <a:br>
              <a:rPr lang="en-US" sz="1700">
                <a:solidFill>
                  <a:schemeClr val="dk1"/>
                </a:solidFill>
              </a:rPr>
            </a:br>
            <a:endParaRPr sz="1700">
              <a:solidFill>
                <a:schemeClr val="dk1"/>
              </a:solidFill>
            </a:endParaRPr>
          </a:p>
          <a:p>
            <a:pPr indent="0" lvl="0" marL="0" rtl="0" algn="l">
              <a:lnSpc>
                <a:spcPct val="115000"/>
              </a:lnSpc>
              <a:spcBef>
                <a:spcPts val="1200"/>
              </a:spcBef>
              <a:spcAft>
                <a:spcPts val="0"/>
              </a:spcAft>
              <a:buNone/>
            </a:pPr>
            <a:r>
              <a:t/>
            </a:r>
            <a:endParaRPr sz="1700">
              <a:solidFill>
                <a:schemeClr val="dk1"/>
              </a:solidFill>
            </a:endParaRPr>
          </a:p>
          <a:p>
            <a:pPr indent="0" lvl="0" marL="0" rtl="0" algn="l">
              <a:lnSpc>
                <a:spcPct val="115000"/>
              </a:lnSpc>
              <a:spcBef>
                <a:spcPts val="1200"/>
              </a:spcBef>
              <a:spcAft>
                <a:spcPts val="1200"/>
              </a:spcAft>
              <a:buNone/>
            </a:pPr>
            <a:r>
              <a:rPr b="1" lang="en-US" sz="1700">
                <a:solidFill>
                  <a:schemeClr val="dk1"/>
                </a:solidFill>
              </a:rPr>
              <a:t>DEMO</a:t>
            </a:r>
            <a:r>
              <a:rPr lang="en-US" sz="1700">
                <a:solidFill>
                  <a:schemeClr val="dk1"/>
                </a:solidFill>
              </a:rPr>
              <a:t> </a:t>
            </a:r>
            <a:endParaRPr sz="17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820"/>
        </a:solidFill>
      </p:bgPr>
    </p:bg>
    <p:spTree>
      <p:nvGrpSpPr>
        <p:cNvPr id="270" name="Shape 270"/>
        <p:cNvGrpSpPr/>
        <p:nvPr/>
      </p:nvGrpSpPr>
      <p:grpSpPr>
        <a:xfrm>
          <a:off x="0" y="0"/>
          <a:ext cx="0" cy="0"/>
          <a:chOff x="0" y="0"/>
          <a:chExt cx="0" cy="0"/>
        </a:xfrm>
      </p:grpSpPr>
      <p:sp>
        <p:nvSpPr>
          <p:cNvPr id="271" name="Google Shape;271;g3fa1ed7422c_0_200"/>
          <p:cNvSpPr/>
          <p:nvPr/>
        </p:nvSpPr>
        <p:spPr>
          <a:xfrm>
            <a:off x="609610" y="304479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Implementation for your application</a:t>
            </a:r>
            <a:endParaRPr b="0" i="0" sz="2800" u="none" cap="none" strike="noStrike">
              <a:solidFill>
                <a:schemeClr val="dk1"/>
              </a:solidFill>
              <a:latin typeface="Arial"/>
              <a:ea typeface="Arial"/>
              <a:cs typeface="Arial"/>
              <a:sym typeface="Arial"/>
            </a:endParaRPr>
          </a:p>
        </p:txBody>
      </p:sp>
      <p:sp>
        <p:nvSpPr>
          <p:cNvPr id="272" name="Google Shape;272;g3fa1ed7422c_0_200"/>
          <p:cNvSpPr/>
          <p:nvPr/>
        </p:nvSpPr>
        <p:spPr>
          <a:xfrm>
            <a:off x="594360" y="6510528"/>
            <a:ext cx="2926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273" name="Google Shape;273;g3fa1ed7422c_0_200"/>
          <p:cNvSpPr/>
          <p:nvPr/>
        </p:nvSpPr>
        <p:spPr>
          <a:xfrm>
            <a:off x="11201400" y="6492240"/>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78" name="Shape 278"/>
        <p:cNvGrpSpPr/>
        <p:nvPr/>
      </p:nvGrpSpPr>
      <p:grpSpPr>
        <a:xfrm>
          <a:off x="0" y="0"/>
          <a:ext cx="0" cy="0"/>
          <a:chOff x="0" y="0"/>
          <a:chExt cx="0" cy="0"/>
        </a:xfrm>
      </p:grpSpPr>
      <p:sp>
        <p:nvSpPr>
          <p:cNvPr id="279" name="Google Shape;279;p10"/>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Data Flow</a:t>
            </a:r>
            <a:endParaRPr b="0" i="0" sz="2800" u="none" cap="none" strike="noStrike">
              <a:solidFill>
                <a:schemeClr val="dk1"/>
              </a:solidFill>
              <a:latin typeface="Arial"/>
              <a:ea typeface="Arial"/>
              <a:cs typeface="Arial"/>
              <a:sym typeface="Arial"/>
            </a:endParaRPr>
          </a:p>
        </p:txBody>
      </p:sp>
      <p:sp>
        <p:nvSpPr>
          <p:cNvPr id="280" name="Google Shape;280;p10"/>
          <p:cNvSpPr/>
          <p:nvPr/>
        </p:nvSpPr>
        <p:spPr>
          <a:xfrm>
            <a:off x="731520" y="1161288"/>
            <a:ext cx="438912" cy="438912"/>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731520" y="1271016"/>
            <a:ext cx="43891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Arial"/>
              <a:ea typeface="Arial"/>
              <a:cs typeface="Arial"/>
              <a:sym typeface="Arial"/>
            </a:endParaRPr>
          </a:p>
        </p:txBody>
      </p:sp>
      <p:sp>
        <p:nvSpPr>
          <p:cNvPr id="282" name="Google Shape;282;p10"/>
          <p:cNvSpPr/>
          <p:nvPr/>
        </p:nvSpPr>
        <p:spPr>
          <a:xfrm>
            <a:off x="1417320" y="1115568"/>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Create</a:t>
            </a:r>
            <a:endParaRPr b="0" i="0" sz="1700" u="none" cap="none" strike="noStrike">
              <a:solidFill>
                <a:schemeClr val="dk1"/>
              </a:solidFill>
              <a:latin typeface="Arial"/>
              <a:ea typeface="Arial"/>
              <a:cs typeface="Arial"/>
              <a:sym typeface="Arial"/>
            </a:endParaRPr>
          </a:p>
        </p:txBody>
      </p:sp>
      <p:sp>
        <p:nvSpPr>
          <p:cNvPr id="283" name="Google Shape;283;p10"/>
          <p:cNvSpPr/>
          <p:nvPr/>
        </p:nvSpPr>
        <p:spPr>
          <a:xfrm>
            <a:off x="2743200" y="1115568"/>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350"/>
              <a:buFont typeface="Courier New"/>
              <a:buNone/>
            </a:pPr>
            <a:r>
              <a:rPr b="0" i="0" lang="en-US" sz="1350" u="none" cap="none" strike="noStrike">
                <a:solidFill>
                  <a:srgbClr val="5E6B78"/>
                </a:solidFill>
                <a:latin typeface="Courier New"/>
                <a:ea typeface="Courier New"/>
                <a:cs typeface="Courier New"/>
                <a:sym typeface="Courier New"/>
              </a:rPr>
              <a:t>uv run python -m app.database.create_tables</a:t>
            </a:r>
            <a:endParaRPr b="0" i="0" sz="1350" u="none" cap="none" strike="noStrike">
              <a:solidFill>
                <a:schemeClr val="dk1"/>
              </a:solidFill>
              <a:latin typeface="Arial"/>
              <a:ea typeface="Arial"/>
              <a:cs typeface="Arial"/>
              <a:sym typeface="Arial"/>
            </a:endParaRPr>
          </a:p>
        </p:txBody>
      </p:sp>
      <p:sp>
        <p:nvSpPr>
          <p:cNvPr id="284" name="Google Shape;284;p10"/>
          <p:cNvSpPr/>
          <p:nvPr/>
        </p:nvSpPr>
        <p:spPr>
          <a:xfrm>
            <a:off x="731520" y="2093976"/>
            <a:ext cx="438912" cy="438912"/>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731520" y="2203704"/>
            <a:ext cx="43891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Arial"/>
              <a:ea typeface="Arial"/>
              <a:cs typeface="Arial"/>
              <a:sym typeface="Arial"/>
            </a:endParaRPr>
          </a:p>
        </p:txBody>
      </p:sp>
      <p:sp>
        <p:nvSpPr>
          <p:cNvPr id="286" name="Google Shape;286;p10"/>
          <p:cNvSpPr/>
          <p:nvPr/>
        </p:nvSpPr>
        <p:spPr>
          <a:xfrm>
            <a:off x="1417320" y="2048256"/>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Collect</a:t>
            </a:r>
            <a:endParaRPr b="0" i="0" sz="1700" u="none" cap="none" strike="noStrike">
              <a:solidFill>
                <a:schemeClr val="dk1"/>
              </a:solidFill>
              <a:latin typeface="Arial"/>
              <a:ea typeface="Arial"/>
              <a:cs typeface="Arial"/>
              <a:sym typeface="Arial"/>
            </a:endParaRPr>
          </a:p>
        </p:txBody>
      </p:sp>
      <p:sp>
        <p:nvSpPr>
          <p:cNvPr id="287" name="Google Shape;287;p10"/>
          <p:cNvSpPr/>
          <p:nvPr/>
        </p:nvSpPr>
        <p:spPr>
          <a:xfrm>
            <a:off x="2743200" y="2048256"/>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350"/>
              <a:buFont typeface="Courier New"/>
              <a:buNone/>
            </a:pPr>
            <a:r>
              <a:rPr b="0" i="0" lang="en-US" sz="1350" u="none" cap="none" strike="noStrike">
                <a:solidFill>
                  <a:srgbClr val="5E6B78"/>
                </a:solidFill>
                <a:latin typeface="Courier New"/>
                <a:ea typeface="Courier New"/>
                <a:cs typeface="Courier New"/>
                <a:sym typeface="Courier New"/>
              </a:rPr>
              <a:t>uv run python -m app.services.ingestion</a:t>
            </a:r>
            <a:endParaRPr b="0" i="0" sz="1350" u="none" cap="none" strike="noStrike">
              <a:solidFill>
                <a:schemeClr val="dk1"/>
              </a:solidFill>
              <a:latin typeface="Arial"/>
              <a:ea typeface="Arial"/>
              <a:cs typeface="Arial"/>
              <a:sym typeface="Arial"/>
            </a:endParaRPr>
          </a:p>
        </p:txBody>
      </p:sp>
      <p:sp>
        <p:nvSpPr>
          <p:cNvPr id="288" name="Google Shape;288;p10"/>
          <p:cNvSpPr/>
          <p:nvPr/>
        </p:nvSpPr>
        <p:spPr>
          <a:xfrm>
            <a:off x="731520" y="3026664"/>
            <a:ext cx="438912" cy="438912"/>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731520" y="3136392"/>
            <a:ext cx="43891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Arial"/>
              <a:ea typeface="Arial"/>
              <a:cs typeface="Arial"/>
              <a:sym typeface="Arial"/>
            </a:endParaRPr>
          </a:p>
        </p:txBody>
      </p:sp>
      <p:sp>
        <p:nvSpPr>
          <p:cNvPr id="290" name="Google Shape;290;p10"/>
          <p:cNvSpPr/>
          <p:nvPr/>
        </p:nvSpPr>
        <p:spPr>
          <a:xfrm>
            <a:off x="1417320" y="2980944"/>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Enrich</a:t>
            </a:r>
            <a:endParaRPr b="0" i="0" sz="1700" u="none" cap="none" strike="noStrike">
              <a:solidFill>
                <a:schemeClr val="dk1"/>
              </a:solidFill>
              <a:latin typeface="Arial"/>
              <a:ea typeface="Arial"/>
              <a:cs typeface="Arial"/>
              <a:sym typeface="Arial"/>
            </a:endParaRPr>
          </a:p>
        </p:txBody>
      </p:sp>
      <p:sp>
        <p:nvSpPr>
          <p:cNvPr id="291" name="Google Shape;291;p10"/>
          <p:cNvSpPr/>
          <p:nvPr/>
        </p:nvSpPr>
        <p:spPr>
          <a:xfrm>
            <a:off x="2743200" y="2980944"/>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350"/>
              <a:buFont typeface="Courier New"/>
              <a:buNone/>
            </a:pPr>
            <a:r>
              <a:rPr b="0" i="0" lang="en-US" sz="1350" u="none" cap="none" strike="noStrike">
                <a:solidFill>
                  <a:srgbClr val="5E6B78"/>
                </a:solidFill>
                <a:latin typeface="Courier New"/>
                <a:ea typeface="Courier New"/>
                <a:cs typeface="Courier New"/>
                <a:sym typeface="Courier New"/>
              </a:rPr>
              <a:t>uv run python -m app.services.enrichment</a:t>
            </a:r>
            <a:endParaRPr b="0" i="0" sz="1350" u="none" cap="none" strike="noStrike">
              <a:solidFill>
                <a:schemeClr val="dk1"/>
              </a:solidFill>
              <a:latin typeface="Arial"/>
              <a:ea typeface="Arial"/>
              <a:cs typeface="Arial"/>
              <a:sym typeface="Arial"/>
            </a:endParaRPr>
          </a:p>
        </p:txBody>
      </p:sp>
      <p:sp>
        <p:nvSpPr>
          <p:cNvPr id="292" name="Google Shape;292;p10"/>
          <p:cNvSpPr/>
          <p:nvPr/>
        </p:nvSpPr>
        <p:spPr>
          <a:xfrm>
            <a:off x="731520" y="3959352"/>
            <a:ext cx="438912" cy="43891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731520" y="4069080"/>
            <a:ext cx="43891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100" u="none" cap="none" strike="noStrike">
              <a:solidFill>
                <a:schemeClr val="dk1"/>
              </a:solidFill>
              <a:latin typeface="Arial"/>
              <a:ea typeface="Arial"/>
              <a:cs typeface="Arial"/>
              <a:sym typeface="Arial"/>
            </a:endParaRPr>
          </a:p>
        </p:txBody>
      </p:sp>
      <p:sp>
        <p:nvSpPr>
          <p:cNvPr id="294" name="Google Shape;294;p10"/>
          <p:cNvSpPr/>
          <p:nvPr/>
        </p:nvSpPr>
        <p:spPr>
          <a:xfrm>
            <a:off x="1417320" y="3913632"/>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Index</a:t>
            </a:r>
            <a:endParaRPr b="0" i="0" sz="1700" u="none" cap="none" strike="noStrike">
              <a:solidFill>
                <a:schemeClr val="dk1"/>
              </a:solidFill>
              <a:latin typeface="Arial"/>
              <a:ea typeface="Arial"/>
              <a:cs typeface="Arial"/>
              <a:sym typeface="Arial"/>
            </a:endParaRPr>
          </a:p>
        </p:txBody>
      </p:sp>
      <p:sp>
        <p:nvSpPr>
          <p:cNvPr id="295" name="Google Shape;295;p10"/>
          <p:cNvSpPr/>
          <p:nvPr/>
        </p:nvSpPr>
        <p:spPr>
          <a:xfrm>
            <a:off x="2743200" y="3913632"/>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350"/>
              <a:buFont typeface="Courier New"/>
              <a:buNone/>
            </a:pPr>
            <a:r>
              <a:rPr b="0" i="0" lang="en-US" sz="1350" u="none" cap="none" strike="noStrike">
                <a:solidFill>
                  <a:srgbClr val="5E6B78"/>
                </a:solidFill>
                <a:latin typeface="Courier New"/>
                <a:ea typeface="Courier New"/>
                <a:cs typeface="Courier New"/>
                <a:sym typeface="Courier New"/>
              </a:rPr>
              <a:t>uv run python -m app.services.indexing</a:t>
            </a:r>
            <a:endParaRPr b="0" i="0" sz="1350" u="none" cap="none" strike="noStrike">
              <a:solidFill>
                <a:schemeClr val="dk1"/>
              </a:solidFill>
              <a:latin typeface="Arial"/>
              <a:ea typeface="Arial"/>
              <a:cs typeface="Arial"/>
              <a:sym typeface="Arial"/>
            </a:endParaRPr>
          </a:p>
        </p:txBody>
      </p:sp>
      <p:sp>
        <p:nvSpPr>
          <p:cNvPr id="296" name="Google Shape;296;p10"/>
          <p:cNvSpPr/>
          <p:nvPr/>
        </p:nvSpPr>
        <p:spPr>
          <a:xfrm>
            <a:off x="731520" y="4892040"/>
            <a:ext cx="438912" cy="438912"/>
          </a:xfrm>
          <a:prstGeom prst="ellipse">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731520" y="5001768"/>
            <a:ext cx="438912"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5</a:t>
            </a:r>
            <a:endParaRPr b="0" i="0" sz="1100" u="none" cap="none" strike="noStrike">
              <a:solidFill>
                <a:schemeClr val="dk1"/>
              </a:solidFill>
              <a:latin typeface="Arial"/>
              <a:ea typeface="Arial"/>
              <a:cs typeface="Arial"/>
              <a:sym typeface="Arial"/>
            </a:endParaRPr>
          </a:p>
        </p:txBody>
      </p:sp>
      <p:sp>
        <p:nvSpPr>
          <p:cNvPr id="298" name="Google Shape;298;p10"/>
          <p:cNvSpPr/>
          <p:nvPr/>
        </p:nvSpPr>
        <p:spPr>
          <a:xfrm>
            <a:off x="1417320" y="484632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1700"/>
              <a:buFont typeface="Arial"/>
              <a:buNone/>
            </a:pPr>
            <a:r>
              <a:rPr b="1" i="0" lang="en-US" sz="1700" u="none" cap="none" strike="noStrike">
                <a:solidFill>
                  <a:srgbClr val="17202A"/>
                </a:solidFill>
                <a:latin typeface="Arial"/>
                <a:ea typeface="Arial"/>
                <a:cs typeface="Arial"/>
                <a:sym typeface="Arial"/>
              </a:rPr>
              <a:t>Serve</a:t>
            </a:r>
            <a:endParaRPr b="0" i="0" sz="1700" u="none" cap="none" strike="noStrike">
              <a:solidFill>
                <a:schemeClr val="dk1"/>
              </a:solidFill>
              <a:latin typeface="Arial"/>
              <a:ea typeface="Arial"/>
              <a:cs typeface="Arial"/>
              <a:sym typeface="Arial"/>
            </a:endParaRPr>
          </a:p>
        </p:txBody>
      </p:sp>
      <p:sp>
        <p:nvSpPr>
          <p:cNvPr id="299" name="Google Shape;299;p10"/>
          <p:cNvSpPr/>
          <p:nvPr/>
        </p:nvSpPr>
        <p:spPr>
          <a:xfrm>
            <a:off x="2743200" y="4846320"/>
            <a:ext cx="8138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1350"/>
              <a:buFont typeface="Courier New"/>
              <a:buNone/>
            </a:pPr>
            <a:r>
              <a:rPr b="0" i="0" lang="en-US" sz="1350" u="none" cap="none" strike="noStrike">
                <a:solidFill>
                  <a:srgbClr val="5E6B78"/>
                </a:solidFill>
                <a:latin typeface="Courier New"/>
                <a:ea typeface="Courier New"/>
                <a:cs typeface="Courier New"/>
                <a:sym typeface="Courier New"/>
              </a:rPr>
              <a:t>uv run uvicorn app.main:app --port 8001</a:t>
            </a:r>
            <a:endParaRPr b="0" i="0" sz="1350" u="none" cap="none" strike="noStrike">
              <a:solidFill>
                <a:schemeClr val="dk1"/>
              </a:solidFill>
              <a:latin typeface="Arial"/>
              <a:ea typeface="Arial"/>
              <a:cs typeface="Arial"/>
              <a:sym typeface="Arial"/>
            </a:endParaRPr>
          </a:p>
        </p:txBody>
      </p:sp>
      <p:sp>
        <p:nvSpPr>
          <p:cNvPr id="300" name="Google Shape;300;p10"/>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301" name="Google Shape;301;p10"/>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06" name="Shape 306"/>
        <p:cNvGrpSpPr/>
        <p:nvPr/>
      </p:nvGrpSpPr>
      <p:grpSpPr>
        <a:xfrm>
          <a:off x="0" y="0"/>
          <a:ext cx="0" cy="0"/>
          <a:chOff x="0" y="0"/>
          <a:chExt cx="0" cy="0"/>
        </a:xfrm>
      </p:grpSpPr>
      <p:sp>
        <p:nvSpPr>
          <p:cNvPr id="307" name="Google Shape;307;g3fa1ed7422c_0_217"/>
          <p:cNvSpPr/>
          <p:nvPr/>
        </p:nvSpPr>
        <p:spPr>
          <a:xfrm>
            <a:off x="594360" y="384048"/>
            <a:ext cx="10972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lang="en-US" sz="2800">
                <a:solidFill>
                  <a:srgbClr val="17202A"/>
                </a:solidFill>
                <a:latin typeface="Cambria"/>
                <a:ea typeface="Cambria"/>
                <a:cs typeface="Cambria"/>
                <a:sym typeface="Cambria"/>
              </a:rPr>
              <a:t>What changed on my application</a:t>
            </a:r>
            <a:endParaRPr b="0" i="0" sz="2800" u="none" cap="none" strike="noStrike">
              <a:solidFill>
                <a:schemeClr val="dk1"/>
              </a:solidFill>
              <a:latin typeface="Arial"/>
              <a:ea typeface="Arial"/>
              <a:cs typeface="Arial"/>
              <a:sym typeface="Arial"/>
            </a:endParaRPr>
          </a:p>
        </p:txBody>
      </p:sp>
      <p:sp>
        <p:nvSpPr>
          <p:cNvPr id="308" name="Google Shape;308;g3fa1ed7422c_0_217"/>
          <p:cNvSpPr/>
          <p:nvPr/>
        </p:nvSpPr>
        <p:spPr>
          <a:xfrm>
            <a:off x="11201400" y="6138015"/>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7</a:t>
            </a:r>
            <a:endParaRPr b="0" i="0" sz="900" u="none" cap="none" strike="noStrike">
              <a:solidFill>
                <a:schemeClr val="dk1"/>
              </a:solidFill>
              <a:latin typeface="Arial"/>
              <a:ea typeface="Arial"/>
              <a:cs typeface="Arial"/>
              <a:sym typeface="Arial"/>
            </a:endParaRPr>
          </a:p>
        </p:txBody>
      </p:sp>
      <p:sp>
        <p:nvSpPr>
          <p:cNvPr id="309" name="Google Shape;309;g3fa1ed7422c_0_217"/>
          <p:cNvSpPr txBox="1"/>
          <p:nvPr/>
        </p:nvSpPr>
        <p:spPr>
          <a:xfrm>
            <a:off x="6374400" y="435350"/>
            <a:ext cx="367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GITHUB REPO : </a:t>
            </a:r>
            <a:r>
              <a:rPr lang="en-US" u="sng">
                <a:solidFill>
                  <a:schemeClr val="hlink"/>
                </a:solidFill>
                <a:hlinkClick r:id="rId3"/>
              </a:rPr>
              <a:t>ai-news-api</a:t>
            </a:r>
            <a:endParaRPr/>
          </a:p>
        </p:txBody>
      </p:sp>
      <p:sp>
        <p:nvSpPr>
          <p:cNvPr id="310" name="Google Shape;310;g3fa1ed7422c_0_217"/>
          <p:cNvSpPr txBox="1"/>
          <p:nvPr/>
        </p:nvSpPr>
        <p:spPr>
          <a:xfrm>
            <a:off x="291350" y="835550"/>
            <a:ext cx="11519700" cy="6499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docker-compose.yml</a:t>
            </a:r>
            <a:r>
              <a:rPr lang="en-US" sz="1700">
                <a:solidFill>
                  <a:schemeClr val="dk1"/>
                </a:solidFill>
              </a:rPr>
              <a:t> — Postgres image changed from plain postgres:16 to pgvector/pgvector:pg17, needed to store embeddings.</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app/database/models.py </a:t>
            </a:r>
            <a:r>
              <a:rPr lang="en-US" sz="1700">
                <a:solidFill>
                  <a:schemeClr val="dk1"/>
                </a:solidFill>
              </a:rPr>
              <a:t>— added NewsChunkModel (news_chunks table): one article's content, split into chunks, each with an embedding vector.</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app/database/create_tables.py</a:t>
            </a:r>
            <a:r>
              <a:rPr lang="en-US" sz="1700">
                <a:solidFill>
                  <a:schemeClr val="dk1"/>
                </a:solidFill>
              </a:rPr>
              <a:t> — now enables the vector extension and creates news_chunks too.</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app/database/repository.py</a:t>
            </a:r>
            <a:r>
              <a:rPr lang="en-US" sz="1700">
                <a:solidFill>
                  <a:schemeClr val="dk1"/>
                </a:solidFill>
              </a:rPr>
              <a:t> — added functions to find un-indexed articles, save chunks, and search by embedding similarity.</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app/agents/embedding_agent.py</a:t>
            </a:r>
            <a:r>
              <a:rPr lang="en-US" sz="1700">
                <a:solidFill>
                  <a:schemeClr val="dk1"/>
                </a:solidFill>
              </a:rPr>
              <a:t> — </a:t>
            </a:r>
            <a:r>
              <a:rPr lang="en-US" sz="1700">
                <a:solidFill>
                  <a:srgbClr val="FF0000"/>
                </a:solidFill>
              </a:rPr>
              <a:t>new file</a:t>
            </a:r>
            <a:r>
              <a:rPr lang="en-US" sz="1700">
                <a:solidFill>
                  <a:schemeClr val="dk1"/>
                </a:solidFill>
              </a:rPr>
              <a:t>: turns text into an embedding vector via OpenAI.</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app/services/indexing.py </a:t>
            </a:r>
            <a:r>
              <a:rPr lang="en-US" sz="1700">
                <a:solidFill>
                  <a:schemeClr val="dk1"/>
                </a:solidFill>
              </a:rPr>
              <a:t>— </a:t>
            </a:r>
            <a:r>
              <a:rPr lang="en-US" sz="1700">
                <a:solidFill>
                  <a:srgbClr val="FF0000"/>
                </a:solidFill>
              </a:rPr>
              <a:t>new file</a:t>
            </a:r>
            <a:r>
              <a:rPr lang="en-US" sz="1700">
                <a:solidFill>
                  <a:schemeClr val="dk1"/>
                </a:solidFill>
              </a:rPr>
              <a:t>:</a:t>
            </a:r>
            <a:r>
              <a:rPr lang="en-US" sz="1700">
                <a:solidFill>
                  <a:schemeClr val="dk1"/>
                </a:solidFill>
              </a:rPr>
              <a:t>: chunks + embeds articles, stores them in news_chunks.</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app/schemas/news.py</a:t>
            </a:r>
            <a:r>
              <a:rPr lang="en-US" sz="1700">
                <a:solidFill>
                  <a:schemeClr val="dk1"/>
                </a:solidFill>
              </a:rPr>
              <a:t> — added SearchResult, the shape returned by search.</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app/api/routes/search.py </a:t>
            </a:r>
            <a:r>
              <a:rPr lang="en-US" sz="1700">
                <a:solidFill>
                  <a:schemeClr val="dk1"/>
                </a:solidFill>
              </a:rPr>
              <a:t>— </a:t>
            </a:r>
            <a:r>
              <a:rPr lang="en-US" sz="1700">
                <a:solidFill>
                  <a:srgbClr val="FF0000"/>
                </a:solidFill>
              </a:rPr>
              <a:t>new file</a:t>
            </a:r>
            <a:r>
              <a:rPr lang="en-US" sz="1700">
                <a:solidFill>
                  <a:schemeClr val="dk1"/>
                </a:solidFill>
              </a:rPr>
              <a:t>: the GET /search endpoint.</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app/main.py </a:t>
            </a:r>
            <a:r>
              <a:rPr lang="en-US" sz="1700">
                <a:solidFill>
                  <a:schemeClr val="dk1"/>
                </a:solidFill>
              </a:rPr>
              <a:t>— registers the new search router.</a:t>
            </a:r>
            <a:endParaRPr sz="1700">
              <a:solidFill>
                <a:schemeClr val="dk1"/>
              </a:solidFill>
            </a:endParaRPr>
          </a:p>
          <a:p>
            <a:pPr indent="0" lvl="0" marL="457200" rtl="0" algn="l">
              <a:lnSpc>
                <a:spcPct val="115000"/>
              </a:lnSpc>
              <a:spcBef>
                <a:spcPts val="1200"/>
              </a:spcBef>
              <a:spcAft>
                <a:spcPts val="0"/>
              </a:spcAft>
              <a:buNone/>
            </a:pPr>
            <a:r>
              <a:rPr lang="en-US" sz="1700">
                <a:solidFill>
                  <a:schemeClr val="dk1"/>
                </a:solidFill>
              </a:rPr>
              <a:t>- </a:t>
            </a:r>
            <a:r>
              <a:rPr b="1" lang="en-US" sz="1700">
                <a:solidFill>
                  <a:schemeClr val="dk1"/>
                </a:solidFill>
              </a:rPr>
              <a:t>app/pipelie.py </a:t>
            </a:r>
            <a:r>
              <a:rPr lang="en-US" sz="1700">
                <a:solidFill>
                  <a:schemeClr val="dk1"/>
                </a:solidFill>
              </a:rPr>
              <a:t>— runs ingestion → enrichment → indexing in order, so the whole scrape/enrich/index flow can run as one command (or one cron job).</a:t>
            </a:r>
            <a:br>
              <a:rPr lang="en-US" sz="1700">
                <a:solidFill>
                  <a:schemeClr val="dk1"/>
                </a:solidFill>
              </a:rPr>
            </a:br>
            <a:r>
              <a:rPr lang="en-US" sz="1700">
                <a:solidFill>
                  <a:schemeClr val="dk1"/>
                </a:solidFill>
              </a:rPr>
              <a:t>- </a:t>
            </a:r>
            <a:r>
              <a:rPr b="1" lang="en-US" sz="1700">
                <a:solidFill>
                  <a:schemeClr val="dk1"/>
                </a:solidFill>
              </a:rPr>
              <a:t>pyproject.toml </a:t>
            </a:r>
            <a:r>
              <a:rPr lang="en-US" sz="1700">
                <a:solidFill>
                  <a:schemeClr val="dk1"/>
                </a:solidFill>
              </a:rPr>
              <a:t>— added pgvector and tiktoken\</a:t>
            </a:r>
            <a:endParaRPr sz="1700">
              <a:solidFill>
                <a:schemeClr val="dk1"/>
              </a:solidFill>
            </a:endParaRPr>
          </a:p>
          <a:p>
            <a:pPr indent="0" lvl="0" marL="0" rtl="0" algn="l">
              <a:lnSpc>
                <a:spcPct val="115000"/>
              </a:lnSpc>
              <a:spcBef>
                <a:spcPts val="1200"/>
              </a:spcBef>
              <a:spcAft>
                <a:spcPts val="1200"/>
              </a:spcAft>
              <a:buNone/>
            </a:pPr>
            <a:r>
              <a:t/>
            </a:r>
            <a:endParaRPr sz="17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5" name="Shape 315"/>
        <p:cNvGrpSpPr/>
        <p:nvPr/>
      </p:nvGrpSpPr>
      <p:grpSpPr>
        <a:xfrm>
          <a:off x="0" y="0"/>
          <a:ext cx="0" cy="0"/>
          <a:chOff x="0" y="0"/>
          <a:chExt cx="0" cy="0"/>
        </a:xfrm>
      </p:grpSpPr>
      <p:sp>
        <p:nvSpPr>
          <p:cNvPr id="316" name="Google Shape;316;p12"/>
          <p:cNvSpPr/>
          <p:nvPr/>
        </p:nvSpPr>
        <p:spPr>
          <a:xfrm>
            <a:off x="594360" y="384048"/>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2A"/>
              </a:buClr>
              <a:buSzPts val="2800"/>
              <a:buFont typeface="Cambria"/>
              <a:buNone/>
            </a:pPr>
            <a:r>
              <a:rPr b="1" i="0" lang="en-US" sz="2800" u="none" cap="none" strike="noStrike">
                <a:solidFill>
                  <a:srgbClr val="17202A"/>
                </a:solidFill>
                <a:latin typeface="Cambria"/>
                <a:ea typeface="Cambria"/>
                <a:cs typeface="Cambria"/>
                <a:sym typeface="Cambria"/>
              </a:rPr>
              <a:t>Generation is controlled context injection</a:t>
            </a:r>
            <a:endParaRPr b="0" i="0" sz="2800" u="none" cap="none" strike="noStrike">
              <a:solidFill>
                <a:schemeClr val="dk1"/>
              </a:solidFill>
              <a:latin typeface="Arial"/>
              <a:ea typeface="Arial"/>
              <a:cs typeface="Arial"/>
              <a:sym typeface="Arial"/>
            </a:endParaRPr>
          </a:p>
        </p:txBody>
      </p:sp>
      <p:sp>
        <p:nvSpPr>
          <p:cNvPr id="317" name="Google Shape;317;p12"/>
          <p:cNvSpPr/>
          <p:nvPr/>
        </p:nvSpPr>
        <p:spPr>
          <a:xfrm>
            <a:off x="731520" y="1188720"/>
            <a:ext cx="4663440" cy="1051560"/>
          </a:xfrm>
          <a:prstGeom prst="roundRect">
            <a:avLst>
              <a:gd fmla="val 5217" name="adj"/>
            </a:avLst>
          </a:prstGeom>
          <a:solidFill>
            <a:srgbClr val="6C5CE7"/>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1005840" y="137160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INSTRUCTIONS</a:t>
            </a:r>
            <a:endParaRPr b="0" i="0" sz="1200" u="none" cap="none" strike="noStrike">
              <a:solidFill>
                <a:schemeClr val="dk1"/>
              </a:solidFill>
              <a:latin typeface="Arial"/>
              <a:ea typeface="Arial"/>
              <a:cs typeface="Arial"/>
              <a:sym typeface="Arial"/>
            </a:endParaRPr>
          </a:p>
        </p:txBody>
      </p:sp>
      <p:sp>
        <p:nvSpPr>
          <p:cNvPr id="319" name="Google Shape;319;p12"/>
          <p:cNvSpPr/>
          <p:nvPr/>
        </p:nvSpPr>
        <p:spPr>
          <a:xfrm>
            <a:off x="2423160" y="1353312"/>
            <a:ext cx="2606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Use only the supplied sources.</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Cite [Source N].</a:t>
            </a:r>
            <a:endParaRPr b="0" i="0" sz="1400" u="none" cap="none" strike="noStrike">
              <a:solidFill>
                <a:schemeClr val="dk1"/>
              </a:solidFill>
              <a:latin typeface="Arial"/>
              <a:ea typeface="Arial"/>
              <a:cs typeface="Arial"/>
              <a:sym typeface="Arial"/>
            </a:endParaRPr>
          </a:p>
        </p:txBody>
      </p:sp>
      <p:sp>
        <p:nvSpPr>
          <p:cNvPr id="320" name="Google Shape;320;p12"/>
          <p:cNvSpPr/>
          <p:nvPr/>
        </p:nvSpPr>
        <p:spPr>
          <a:xfrm>
            <a:off x="731520" y="2606040"/>
            <a:ext cx="4663440" cy="1051560"/>
          </a:xfrm>
          <a:prstGeom prst="roundRect">
            <a:avLst>
              <a:gd fmla="val 521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1005840" y="278892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EVIDENCE</a:t>
            </a:r>
            <a:endParaRPr b="0" i="0" sz="1200" u="none" cap="none" strike="noStrike">
              <a:solidFill>
                <a:schemeClr val="dk1"/>
              </a:solidFill>
              <a:latin typeface="Arial"/>
              <a:ea typeface="Arial"/>
              <a:cs typeface="Arial"/>
              <a:sym typeface="Arial"/>
            </a:endParaRPr>
          </a:p>
        </p:txBody>
      </p:sp>
      <p:sp>
        <p:nvSpPr>
          <p:cNvPr id="322" name="Google Shape;322;p12"/>
          <p:cNvSpPr/>
          <p:nvPr/>
        </p:nvSpPr>
        <p:spPr>
          <a:xfrm>
            <a:off x="2423160" y="2770632"/>
            <a:ext cx="2606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Top retrieved article chunks</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with titles and URLs</a:t>
            </a:r>
            <a:endParaRPr b="0" i="0" sz="1400" u="none" cap="none" strike="noStrike">
              <a:solidFill>
                <a:schemeClr val="dk1"/>
              </a:solidFill>
              <a:latin typeface="Arial"/>
              <a:ea typeface="Arial"/>
              <a:cs typeface="Arial"/>
              <a:sym typeface="Arial"/>
            </a:endParaRPr>
          </a:p>
        </p:txBody>
      </p:sp>
      <p:sp>
        <p:nvSpPr>
          <p:cNvPr id="323" name="Google Shape;323;p12"/>
          <p:cNvSpPr/>
          <p:nvPr/>
        </p:nvSpPr>
        <p:spPr>
          <a:xfrm>
            <a:off x="731520" y="4023360"/>
            <a:ext cx="4663440" cy="1051560"/>
          </a:xfrm>
          <a:prstGeom prst="roundRect">
            <a:avLst>
              <a:gd fmla="val 5217" name="adj"/>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1005840" y="420624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QUESTION</a:t>
            </a:r>
            <a:endParaRPr b="0" i="0" sz="1200" u="none" cap="none" strike="noStrike">
              <a:solidFill>
                <a:schemeClr val="dk1"/>
              </a:solidFill>
              <a:latin typeface="Arial"/>
              <a:ea typeface="Arial"/>
              <a:cs typeface="Arial"/>
              <a:sym typeface="Arial"/>
            </a:endParaRPr>
          </a:p>
        </p:txBody>
      </p:sp>
      <p:sp>
        <p:nvSpPr>
          <p:cNvPr id="325" name="Google Shape;325;p12"/>
          <p:cNvSpPr/>
          <p:nvPr/>
        </p:nvSpPr>
        <p:spPr>
          <a:xfrm>
            <a:off x="2423160" y="4187952"/>
            <a:ext cx="2606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What are the main</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AI privacy concerns?</a:t>
            </a:r>
            <a:endParaRPr b="0" i="0" sz="1400" u="none" cap="none" strike="noStrike">
              <a:solidFill>
                <a:schemeClr val="dk1"/>
              </a:solidFill>
              <a:latin typeface="Arial"/>
              <a:ea typeface="Arial"/>
              <a:cs typeface="Arial"/>
              <a:sym typeface="Arial"/>
            </a:endParaRPr>
          </a:p>
        </p:txBody>
      </p:sp>
      <p:cxnSp>
        <p:nvCxnSpPr>
          <p:cNvPr id="326" name="Google Shape;326;p12"/>
          <p:cNvCxnSpPr/>
          <p:nvPr/>
        </p:nvCxnSpPr>
        <p:spPr>
          <a:xfrm>
            <a:off x="5486400" y="2971800"/>
            <a:ext cx="914400" cy="0"/>
          </a:xfrm>
          <a:prstGeom prst="straightConnector1">
            <a:avLst/>
          </a:prstGeom>
          <a:noFill/>
          <a:ln cap="flat" cmpd="sng" w="25400">
            <a:solidFill>
              <a:srgbClr val="5E6B78"/>
            </a:solidFill>
            <a:prstDash val="solid"/>
            <a:round/>
            <a:headEnd len="sm" w="sm" type="none"/>
            <a:tailEnd len="med" w="med" type="triangle"/>
          </a:ln>
        </p:spPr>
      </p:cxnSp>
      <p:sp>
        <p:nvSpPr>
          <p:cNvPr id="327" name="Google Shape;327;p12"/>
          <p:cNvSpPr/>
          <p:nvPr/>
        </p:nvSpPr>
        <p:spPr>
          <a:xfrm>
            <a:off x="6537960" y="1600200"/>
            <a:ext cx="1920240" cy="2743200"/>
          </a:xfrm>
          <a:prstGeom prst="roundRect">
            <a:avLst>
              <a:gd fmla="val 2857" name="adj"/>
            </a:avLst>
          </a:prstGeom>
          <a:solidFill>
            <a:srgbClr val="17202A"/>
          </a:solidFill>
          <a:ln cap="flat" cmpd="sng" w="12700">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
          <p:cNvSpPr/>
          <p:nvPr/>
        </p:nvSpPr>
        <p:spPr>
          <a:xfrm>
            <a:off x="6931152" y="2651760"/>
            <a:ext cx="1097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LLM</a:t>
            </a:r>
            <a:endParaRPr b="0" i="0" sz="2700" u="none" cap="none" strike="noStrike">
              <a:solidFill>
                <a:schemeClr val="dk1"/>
              </a:solidFill>
              <a:latin typeface="Arial"/>
              <a:ea typeface="Arial"/>
              <a:cs typeface="Arial"/>
              <a:sym typeface="Arial"/>
            </a:endParaRPr>
          </a:p>
        </p:txBody>
      </p:sp>
      <p:cxnSp>
        <p:nvCxnSpPr>
          <p:cNvPr id="329" name="Google Shape;329;p12"/>
          <p:cNvCxnSpPr/>
          <p:nvPr/>
        </p:nvCxnSpPr>
        <p:spPr>
          <a:xfrm>
            <a:off x="8595360" y="2971800"/>
            <a:ext cx="640080" cy="0"/>
          </a:xfrm>
          <a:prstGeom prst="straightConnector1">
            <a:avLst/>
          </a:prstGeom>
          <a:noFill/>
          <a:ln cap="flat" cmpd="sng" w="25400">
            <a:solidFill>
              <a:srgbClr val="5E6B78"/>
            </a:solidFill>
            <a:prstDash val="solid"/>
            <a:round/>
            <a:headEnd len="sm" w="sm" type="none"/>
            <a:tailEnd len="med" w="med" type="triangle"/>
          </a:ln>
        </p:spPr>
      </p:cxnSp>
      <p:sp>
        <p:nvSpPr>
          <p:cNvPr id="330" name="Google Shape;330;p12"/>
          <p:cNvSpPr/>
          <p:nvPr/>
        </p:nvSpPr>
        <p:spPr>
          <a:xfrm>
            <a:off x="9372600" y="1874520"/>
            <a:ext cx="2057400" cy="2194560"/>
          </a:xfrm>
          <a:prstGeom prst="roundRect">
            <a:avLst>
              <a:gd fmla="val 2667" name="adj"/>
            </a:avLst>
          </a:prstGeom>
          <a:solidFill>
            <a:srgbClr val="EAF7F4"/>
          </a:solidFill>
          <a:ln cap="flat" cmpd="sng" w="254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9646920" y="2423160"/>
            <a:ext cx="15087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2A"/>
              </a:buClr>
              <a:buSzPts val="2000"/>
              <a:buFont typeface="Arial"/>
              <a:buNone/>
            </a:pPr>
            <a:r>
              <a:rPr b="1" i="0" lang="en-US" sz="2000" u="none" cap="none" strike="noStrike">
                <a:solidFill>
                  <a:srgbClr val="17202A"/>
                </a:solidFill>
                <a:latin typeface="Arial"/>
                <a:ea typeface="Arial"/>
                <a:cs typeface="Arial"/>
                <a:sym typeface="Arial"/>
              </a:rPr>
              <a:t>Grounded</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7202A"/>
              </a:buClr>
              <a:buSzPts val="2000"/>
              <a:buFont typeface="Arial"/>
              <a:buNone/>
            </a:pPr>
            <a:r>
              <a:rPr b="1" i="0" lang="en-US" sz="2000" u="none" cap="none" strike="noStrike">
                <a:solidFill>
                  <a:srgbClr val="17202A"/>
                </a:solidFill>
                <a:latin typeface="Arial"/>
                <a:ea typeface="Arial"/>
                <a:cs typeface="Arial"/>
                <a:sym typeface="Arial"/>
              </a:rPr>
              <a:t>answer</a:t>
            </a:r>
            <a:endParaRPr b="0" i="0" sz="20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7202A"/>
              </a:buClr>
              <a:buSzPts val="2000"/>
              <a:buFont typeface="Arial"/>
              <a:buNone/>
            </a:pPr>
            <a:r>
              <a:rPr b="1" i="0" lang="en-US" sz="2000" u="none" cap="none" strike="noStrike">
                <a:solidFill>
                  <a:srgbClr val="17202A"/>
                </a:solidFill>
                <a:latin typeface="Arial"/>
                <a:ea typeface="Arial"/>
                <a:cs typeface="Arial"/>
                <a:sym typeface="Arial"/>
              </a:rPr>
              <a:t>+ citations</a:t>
            </a:r>
            <a:endParaRPr b="0" i="0" sz="2000" u="none" cap="none" strike="noStrike">
              <a:solidFill>
                <a:schemeClr val="dk1"/>
              </a:solidFill>
              <a:latin typeface="Arial"/>
              <a:ea typeface="Arial"/>
              <a:cs typeface="Arial"/>
              <a:sym typeface="Arial"/>
            </a:endParaRPr>
          </a:p>
        </p:txBody>
      </p:sp>
      <p:sp>
        <p:nvSpPr>
          <p:cNvPr id="332" name="Google Shape;332;p12"/>
          <p:cNvSpPr/>
          <p:nvPr/>
        </p:nvSpPr>
        <p:spPr>
          <a:xfrm>
            <a:off x="4206240" y="5715000"/>
            <a:ext cx="3749040" cy="347472"/>
          </a:xfrm>
          <a:prstGeom prst="roundRect">
            <a:avLst>
              <a:gd fmla="val 15789" name="adj"/>
            </a:avLst>
          </a:prstGeom>
          <a:solidFill>
            <a:srgbClr val="17202A"/>
          </a:solidFill>
          <a:ln cap="flat" cmpd="sng" w="12700">
            <a:solidFill>
              <a:srgbClr val="1720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4315968" y="5788152"/>
            <a:ext cx="3529584"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DEMO 03_grounded_answer.py</a:t>
            </a:r>
            <a:endParaRPr b="0" i="0" sz="1000" u="none" cap="none" strike="noStrike">
              <a:solidFill>
                <a:schemeClr val="dk1"/>
              </a:solidFill>
              <a:latin typeface="Arial"/>
              <a:ea typeface="Arial"/>
              <a:cs typeface="Arial"/>
              <a:sym typeface="Arial"/>
            </a:endParaRPr>
          </a:p>
        </p:txBody>
      </p:sp>
      <p:sp>
        <p:nvSpPr>
          <p:cNvPr id="334" name="Google Shape;334;p12"/>
          <p:cNvSpPr/>
          <p:nvPr/>
        </p:nvSpPr>
        <p:spPr>
          <a:xfrm>
            <a:off x="594360" y="6510528"/>
            <a:ext cx="29260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AI News API  •  Week 4</a:t>
            </a:r>
            <a:endParaRPr b="0" i="0" sz="900" u="none" cap="none" strike="noStrike">
              <a:solidFill>
                <a:schemeClr val="dk1"/>
              </a:solidFill>
              <a:latin typeface="Arial"/>
              <a:ea typeface="Arial"/>
              <a:cs typeface="Arial"/>
              <a:sym typeface="Arial"/>
            </a:endParaRPr>
          </a:p>
        </p:txBody>
      </p:sp>
      <p:sp>
        <p:nvSpPr>
          <p:cNvPr id="335" name="Google Shape;335;p12"/>
          <p:cNvSpPr/>
          <p:nvPr/>
        </p:nvSpPr>
        <p:spPr>
          <a:xfrm>
            <a:off x="11201400" y="6492240"/>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E6B78"/>
              </a:buClr>
              <a:buSzPts val="900"/>
              <a:buFont typeface="Arial"/>
              <a:buNone/>
            </a:pPr>
            <a:r>
              <a:rPr b="0" i="0" lang="en-US" sz="900" u="none" cap="none" strike="noStrike">
                <a:solidFill>
                  <a:srgbClr val="5E6B78"/>
                </a:solidFill>
                <a:latin typeface="Arial"/>
                <a:ea typeface="Arial"/>
                <a:cs typeface="Arial"/>
                <a:sym typeface="Arial"/>
              </a:rPr>
              <a:t>12</a:t>
            </a:r>
            <a:endParaRPr b="0" i="0" sz="9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2026-09-03T17:37:41Z</dcterms:created>
  <dc:creator>AI News API Meetup</dc:creator>
</cp:coreProperties>
</file>