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KGk5Mu8EcPjq1Z/9psS/st8rN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course has two sections: deployment concepts and the hands-on deployment completed for the AI News API.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Section 1 summarizes the uploaded Week 6 introduction. Section 2 documents this project's actual deployment.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35e99b17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fb35e99b17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uploaded material defines deployment as the bridge from local development to a live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49" name="Google Shape;49;g3fb35e99b17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35e99b17_1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3fb35e99b17_1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describes IaaS, managed containers and FaaS as the three main cloud deployment approaches.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63" name="Google Shape;63;g3fb35e99b17_1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35e99b17_1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fb35e99b17_1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Repurposed from the source slide on Managed Container Platforms. This becomes the practical recommendation for this course.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86" name="Google Shape;86;g3fb35e99b17_1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35e99b17_1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b35e99b17_1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Content remains consistent with the source Serverless Functions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100" name="Google Shape;100;g3fb35e99b17_1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35e99b17_1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fb35e99b17_1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keeps the five selection factors from the source slide and removes unsupported percentage claims.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114" name="Google Shape;114;g3fb35e99b17_1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35e99b17_1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3fb35e99b17_1_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follows the source deployment workflow, replacing VM access, SSH and server-side git pull with a managed-container deployment.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146" name="Google Shape;146;g3fb35e99b17_1_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35e99b17_1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fb35e99b17_1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Repurposed from the source Deployment Success slide using the project's API endpoints.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178" name="Google Shape;178;g3fb35e99b17_1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35e99b17_1_1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b35e99b17_1_1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shows a continuous deployment cycle. The managed-container version removes the SSH and server pull steps.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196" name="Google Shape;196;g3fb35e99b17_1_1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b35e99b17_1_1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fb35e99b17_1_1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Content follows the source Beyond Basic Deployment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228" name="Google Shape;228;g3fb35e99b17_1_1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35e99b17_1_1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fb35e99b17_1_1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Content follows the source Typical Deployment Pipeline slide. The source labels production as step 3; this version corrects it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239" name="Google Shape;239;g3fb35e99b17_1_1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35e99b17_1_2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fb35e99b17_1_2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Content remains consistent with the source Production Complexity slide while avoiding the claim that every environment must map to its own branch or VM.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266" name="Google Shape;266;g3fb35e99b17_1_2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35e99b17_1_2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fb35e99b17_1_2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Content follows the source CI/CD slide. Automated CI/CD remains outside the current implementation scope.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/Users/linqianpeng/Downloads/Week-6-Introduction-to-Deployments (1).pdf</a:t>
            </a:r>
            <a:endParaRPr/>
          </a:p>
        </p:txBody>
      </p:sp>
      <p:sp>
        <p:nvSpPr>
          <p:cNvPr id="278" name="Google Shape;278;g3fb35e99b17_1_2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b35e99b17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fb35e99b17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Cloud Run serves the API and runs the batch pipeline as separate resources. Supabase hosts the shared PostgreSQL database.</a:t>
            </a:r>
            <a:endParaRPr/>
          </a:p>
        </p:txBody>
      </p:sp>
      <p:sp>
        <p:nvSpPr>
          <p:cNvPr id="303" name="Google Shape;303;g3fb35e99b17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b35e99b17_0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fb35e99b17_0_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Create accounts before deployment. Keep the Supabase database password and OpenAI key private.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https://cloud.google.com/free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https://platform.openai.com/</a:t>
            </a:r>
            <a:endParaRPr/>
          </a:p>
        </p:txBody>
      </p:sp>
      <p:sp>
        <p:nvSpPr>
          <p:cNvPr id="331" name="Google Shape;331;g3fb35e99b17_0_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b35e99b17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fb35e99b17_0_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step isolates application errors from cloud configuration errors.</a:t>
            </a:r>
            <a:endParaRPr/>
          </a:p>
        </p:txBody>
      </p:sp>
      <p:sp>
        <p:nvSpPr>
          <p:cNvPr id="363" name="Google Shape;363;g3fb35e99b17_0_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b35e99b17_0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fb35e99b17_0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Cloud Run injects the PORT environment variable. The container must listen on that port and on all interfaces.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https://cloud.google.com/run/docs/container-contract</a:t>
            </a:r>
            <a:endParaRPr/>
          </a:p>
        </p:txBody>
      </p:sp>
      <p:sp>
        <p:nvSpPr>
          <p:cNvPr id="389" name="Google Shape;389;g3fb35e99b17_0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b35e99b17_0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g3fb35e99b17_0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the Session pooler URI for straightforward IPv4 connectivity. Add sslmode=require. The free plan may pause after low activity and currently includes 500 MB of database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https://supabase.com/docs/guides/database/connecting-to-postgres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https://supabase.com/docs/guides/ai/vector-columns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https://supabase.com/pricing</a:t>
            </a:r>
            <a:endParaRPr/>
          </a:p>
        </p:txBody>
      </p:sp>
      <p:sp>
        <p:nvSpPr>
          <p:cNvPr id="409" name="Google Shape;409;g3fb35e99b17_0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b35e99b17_0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g3fb35e99b17_0_1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Enabling an API activates the underlying Google Cloud service for the project. Both the web console and gcloud use these APIs.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https://cloud.google.com/service-usage/docs/enable-disable</a:t>
            </a:r>
            <a:endParaRPr/>
          </a:p>
        </p:txBody>
      </p:sp>
      <p:sp>
        <p:nvSpPr>
          <p:cNvPr id="445" name="Google Shape;445;g3fb35e99b17_0_1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b35e99b17_0_1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b35e99b17_0_1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project uses the Compute Engine default service account as the Cloud Run service identity. A dedicated least-privilege account is preferable for production.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https://cloud.google.com/run/docs/securing/service-identity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https://cloud.google.com/run/docs/configuring/services/secrets</a:t>
            </a:r>
            <a:endParaRPr/>
          </a:p>
        </p:txBody>
      </p:sp>
      <p:sp>
        <p:nvSpPr>
          <p:cNvPr id="482" name="Google Shape;482;g3fb35e99b17_0_1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b35e99b17_0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fb35e99b17_0_2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deployment creates the ai-news-api service. allow-unauthenticated makes the API public, so expensive administrative endpoints should remain protected.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https://cloud.google.com/run/docs/quickstarts/deploy-container</a:t>
            </a:r>
            <a:endParaRPr/>
          </a:p>
        </p:txBody>
      </p:sp>
      <p:sp>
        <p:nvSpPr>
          <p:cNvPr id="507" name="Google Shape;507;g3fb35e99b17_0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b35e99b17_0_2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3fb35e99b17_0_2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ai-news-pipeline job uses the same container image but overrides the command with python -m app.pipeline. The first manual run stored 5 articles and 39 chunks in Supabase.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https://cloud.google.com/run/docs/create-jobs</a:t>
            </a:r>
            <a:endParaRPr/>
          </a:p>
        </p:txBody>
      </p:sp>
      <p:sp>
        <p:nvSpPr>
          <p:cNvPr id="532" name="Google Shape;532;g3fb35e99b17_0_2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b35e99b17_0_2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g3fb35e99b17_0_2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Cloud Scheduler does not list a Cloud Run Job as a target. Select HTTP and POST to the jobs.run API endpoint. Google APIs expect an OAuth token.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https://cloud.google.com/run/docs/execute/jobs-on-schedule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https://cloud.google.com/scheduler/docs/http-target-auth</a:t>
            </a:r>
            <a:endParaRPr/>
          </a:p>
        </p:txBody>
      </p:sp>
      <p:sp>
        <p:nvSpPr>
          <p:cNvPr id="557" name="Google Shape;557;g3fb35e99b17_0_2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b35e99b17_0_2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g3fb35e99b17_0_2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the logs and execution lists to distinguish application failures from authentication, scheduling or database failures.</a:t>
            </a:r>
            <a:endParaRPr/>
          </a:p>
        </p:txBody>
      </p:sp>
      <p:sp>
        <p:nvSpPr>
          <p:cNvPr id="593" name="Google Shape;593;g3fb35e99b17_0_2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b35e99b17_0_3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g3fb35e99b17_0_3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Cloud Run has a monthly free allowance, but Cloud SQL does not have a permanent free tier. Supabase free projects may pause after low activity and become read-only beyond the plan's database quota.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https://cloud.google.com/artifact-registry/pricing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https://supabase.com/pricing</a:t>
            </a:r>
            <a:endParaRPr/>
          </a:p>
        </p:txBody>
      </p:sp>
      <p:sp>
        <p:nvSpPr>
          <p:cNvPr id="627" name="Google Shape;627;g3fb35e99b17_0_3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b35e99b17_0_3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g3fb35e99b17_0_3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deployment is complete: the service reads stored data, the job writes it, and the scheduler starts the job weekly.</a:t>
            </a:r>
            <a:endParaRPr/>
          </a:p>
        </p:txBody>
      </p:sp>
      <p:sp>
        <p:nvSpPr>
          <p:cNvPr id="657" name="Google Shape;657;g3fb35e99b17_0_3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8d1f417ba_0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6" name="Google Shape;696;g3f8d1f417ba_0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Cloud Run has a monthly free allowance, but Cloud SQL does not have a permanent free tier. Supabase free projects may pause after low activity and become read-only beyond the plan's database quota.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https://cloud.google.com/run/pricing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https://cloud.google.com/artifact-registry/pricing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https://supabase.com/pricing</a:t>
            </a:r>
            <a:endParaRPr/>
          </a:p>
        </p:txBody>
      </p:sp>
      <p:sp>
        <p:nvSpPr>
          <p:cNvPr id="697" name="Google Shape;697;g3f8d1f417ba_0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lindseypeng/ai-news-api/tree/week-5/week5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google.com/document/d/14c84aoJzjX8ZKs-AiRfp0J7C16k3CkhQ/edit?usp=sharing&amp;ouid=114681144229567893236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78105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Introduction to deployment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666875"/>
            <a:ext cx="113994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Deploying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News API  at Berlin </a:t>
            </a:r>
            <a:r>
              <a:rPr b="1" lang="en-US" sz="4050">
                <a:solidFill>
                  <a:srgbClr val="FFFFFF"/>
                </a:solidFill>
              </a:rPr>
              <a:t>Hauptbahnhof</a:t>
            </a: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04850" y="3333750"/>
            <a:ext cx="8858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Concepts first, then a complete Google Cloud Run walkthrough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04850" y="4953000"/>
            <a:ext cx="904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 · Docker · Supabase PostgreSQL · Cloud Run · Cloud Scheduler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04850" y="6096000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AFC4EF"/>
                </a:solidFill>
                <a:latin typeface="Arial"/>
                <a:ea typeface="Arial"/>
                <a:cs typeface="Arial"/>
                <a:sym typeface="Arial"/>
              </a:rPr>
              <a:t>September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Two sections connect deployment theory to a working application</a:t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09625" y="1524000"/>
            <a:ext cx="4762500" cy="3429000"/>
          </a:xfrm>
          <a:prstGeom prst="roundRect">
            <a:avLst>
              <a:gd fmla="val 5556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43000" y="1857375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143000" y="2333625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Introduction to deployment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43000" y="3143250"/>
            <a:ext cx="37147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What deployment means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Hosting options and trade-offs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deployment workflow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Deployment pipelines and CI/CD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572250" y="1524000"/>
            <a:ext cx="4762500" cy="3429000"/>
          </a:xfrm>
          <a:prstGeom prst="roundRect">
            <a:avLst>
              <a:gd fmla="val 5556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905625" y="1857375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905625" y="2333625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 it ourselves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905625" y="3143250"/>
            <a:ext cx="37147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Create the accounts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Prepare Docker and PostgreSQL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Deploy the API and pipeline job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Schedule and verify weekly execution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B9C8E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47700" y="762000"/>
            <a:ext cx="1714500" cy="3619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81050" y="85725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47700" y="1857375"/>
            <a:ext cx="9715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to deployment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66750" y="306705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The concepts behind moving an application from a laptop to a live service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5e99b17_1_0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4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Deployment makes a locally developed application available to other users</a:t>
            </a:r>
            <a:endParaRPr/>
          </a:p>
        </p:txBody>
      </p:sp>
      <p:sp>
        <p:nvSpPr>
          <p:cNvPr id="52" name="Google Shape;52;g3fb35e99b17_1_0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3" name="Google Shape;53;g3fb35e99b17_1_0"/>
          <p:cNvSpPr/>
          <p:nvPr/>
        </p:nvSpPr>
        <p:spPr>
          <a:xfrm>
            <a:off x="714375" y="1428750"/>
            <a:ext cx="4762500" cy="31434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b35e99b17_1_0"/>
          <p:cNvSpPr/>
          <p:nvPr/>
        </p:nvSpPr>
        <p:spPr>
          <a:xfrm>
            <a:off x="1047750" y="176212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Local development</a:t>
            </a:r>
            <a:endParaRPr/>
          </a:p>
        </p:txBody>
      </p:sp>
      <p:sp>
        <p:nvSpPr>
          <p:cNvPr id="55" name="Google Shape;55;g3fb35e99b17_1_0"/>
          <p:cNvSpPr/>
          <p:nvPr/>
        </p:nvSpPr>
        <p:spPr>
          <a:xfrm>
            <a:off x="1047750" y="2428875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Runs on your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Accessible mainly to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Used for development and testing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Stops when your machine stops</a:t>
            </a:r>
            <a:endParaRPr/>
          </a:p>
        </p:txBody>
      </p:sp>
      <p:sp>
        <p:nvSpPr>
          <p:cNvPr id="56" name="Google Shape;56;g3fb35e99b17_1_0"/>
          <p:cNvSpPr/>
          <p:nvPr/>
        </p:nvSpPr>
        <p:spPr>
          <a:xfrm>
            <a:off x="6715125" y="1428750"/>
            <a:ext cx="4762500" cy="3143400"/>
          </a:xfrm>
          <a:prstGeom prst="roundRect">
            <a:avLst>
              <a:gd fmla="val 5455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b35e99b17_1_0"/>
          <p:cNvSpPr/>
          <p:nvPr/>
        </p:nvSpPr>
        <p:spPr>
          <a:xfrm>
            <a:off x="7048500" y="176212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Server deployment</a:t>
            </a:r>
            <a:endParaRPr/>
          </a:p>
        </p:txBody>
      </p:sp>
      <p:sp>
        <p:nvSpPr>
          <p:cNvPr id="58" name="Google Shape;58;g3fb35e99b17_1_0"/>
          <p:cNvSpPr/>
          <p:nvPr/>
        </p:nvSpPr>
        <p:spPr>
          <a:xfrm>
            <a:off x="7048500" y="2428875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Runs on remote 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Accessible through the internet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Can serve multiple users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Designed for continuous availability</a:t>
            </a:r>
            <a:endParaRPr/>
          </a:p>
        </p:txBody>
      </p:sp>
      <p:sp>
        <p:nvSpPr>
          <p:cNvPr id="59" name="Google Shape;59;g3fb35e99b17_1_0"/>
          <p:cNvSpPr/>
          <p:nvPr/>
        </p:nvSpPr>
        <p:spPr>
          <a:xfrm>
            <a:off x="1428750" y="5286375"/>
            <a:ext cx="933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Deployment is the transition between these two states.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5e99b17_1_13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Cloud platforms offer three main levels of infrastructure management</a:t>
            </a:r>
            <a:endParaRPr/>
          </a:p>
        </p:txBody>
      </p:sp>
      <p:sp>
        <p:nvSpPr>
          <p:cNvPr id="66" name="Google Shape;66;g3fb35e99b17_1_13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67" name="Google Shape;67;g3fb35e99b17_1_13"/>
          <p:cNvSpPr/>
          <p:nvPr/>
        </p:nvSpPr>
        <p:spPr>
          <a:xfrm>
            <a:off x="552450" y="1428750"/>
            <a:ext cx="3505200" cy="3333900"/>
          </a:xfrm>
          <a:prstGeom prst="roundRect">
            <a:avLst>
              <a:gd fmla="val 5143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b35e99b17_1_13"/>
          <p:cNvSpPr/>
          <p:nvPr/>
        </p:nvSpPr>
        <p:spPr>
          <a:xfrm>
            <a:off x="819150" y="1695450"/>
            <a:ext cx="4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" name="Google Shape;69;g3fb35e99b17_1_13"/>
          <p:cNvSpPr/>
          <p:nvPr/>
        </p:nvSpPr>
        <p:spPr>
          <a:xfrm>
            <a:off x="819150" y="2286000"/>
            <a:ext cx="2952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Virtual machine</a:t>
            </a:r>
            <a:endParaRPr/>
          </a:p>
        </p:txBody>
      </p:sp>
      <p:sp>
        <p:nvSpPr>
          <p:cNvPr id="70" name="Google Shape;70;g3fb35e99b17_1_13"/>
          <p:cNvSpPr/>
          <p:nvPr/>
        </p:nvSpPr>
        <p:spPr>
          <a:xfrm>
            <a:off x="819150" y="27813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IaaS</a:t>
            </a:r>
            <a:endParaRPr/>
          </a:p>
        </p:txBody>
      </p:sp>
      <p:sp>
        <p:nvSpPr>
          <p:cNvPr id="71" name="Google Shape;71;g3fb35e99b17_1_13"/>
          <p:cNvSpPr/>
          <p:nvPr/>
        </p:nvSpPr>
        <p:spPr>
          <a:xfrm>
            <a:off x="819150" y="3286125"/>
            <a:ext cx="290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You manage the operating system, Docker, networking, security and updates.</a:t>
            </a:r>
            <a:endParaRPr/>
          </a:p>
        </p:txBody>
      </p:sp>
      <p:sp>
        <p:nvSpPr>
          <p:cNvPr id="72" name="Google Shape;72;g3fb35e99b17_1_13"/>
          <p:cNvSpPr/>
          <p:nvPr/>
        </p:nvSpPr>
        <p:spPr>
          <a:xfrm>
            <a:off x="4438650" y="1428750"/>
            <a:ext cx="3505200" cy="3333900"/>
          </a:xfrm>
          <a:prstGeom prst="roundRect">
            <a:avLst>
              <a:gd fmla="val 5143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b35e99b17_1_13"/>
          <p:cNvSpPr/>
          <p:nvPr/>
        </p:nvSpPr>
        <p:spPr>
          <a:xfrm>
            <a:off x="4705350" y="1695450"/>
            <a:ext cx="4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4" name="Google Shape;74;g3fb35e99b17_1_13"/>
          <p:cNvSpPr/>
          <p:nvPr/>
        </p:nvSpPr>
        <p:spPr>
          <a:xfrm>
            <a:off x="4705350" y="2286000"/>
            <a:ext cx="2952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Managed container</a:t>
            </a:r>
            <a:endParaRPr/>
          </a:p>
        </p:txBody>
      </p:sp>
      <p:sp>
        <p:nvSpPr>
          <p:cNvPr id="75" name="Google Shape;75;g3fb35e99b17_1_13"/>
          <p:cNvSpPr/>
          <p:nvPr/>
        </p:nvSpPr>
        <p:spPr>
          <a:xfrm>
            <a:off x="4705350" y="27813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CaaS</a:t>
            </a:r>
            <a:endParaRPr/>
          </a:p>
        </p:txBody>
      </p:sp>
      <p:sp>
        <p:nvSpPr>
          <p:cNvPr id="76" name="Google Shape;76;g3fb35e99b17_1_13"/>
          <p:cNvSpPr/>
          <p:nvPr/>
        </p:nvSpPr>
        <p:spPr>
          <a:xfrm>
            <a:off x="4705350" y="3286125"/>
            <a:ext cx="290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You provide a container. The platform manages servers, routing and scaling.</a:t>
            </a:r>
            <a:endParaRPr/>
          </a:p>
        </p:txBody>
      </p:sp>
      <p:sp>
        <p:nvSpPr>
          <p:cNvPr id="77" name="Google Shape;77;g3fb35e99b17_1_13"/>
          <p:cNvSpPr/>
          <p:nvPr/>
        </p:nvSpPr>
        <p:spPr>
          <a:xfrm>
            <a:off x="8324850" y="1428750"/>
            <a:ext cx="3505200" cy="3333900"/>
          </a:xfrm>
          <a:prstGeom prst="roundRect">
            <a:avLst>
              <a:gd fmla="val 5143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b35e99b17_1_13"/>
          <p:cNvSpPr/>
          <p:nvPr/>
        </p:nvSpPr>
        <p:spPr>
          <a:xfrm>
            <a:off x="8591550" y="1695450"/>
            <a:ext cx="4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" name="Google Shape;79;g3fb35e99b17_1_13"/>
          <p:cNvSpPr/>
          <p:nvPr/>
        </p:nvSpPr>
        <p:spPr>
          <a:xfrm>
            <a:off x="8591550" y="2286000"/>
            <a:ext cx="2952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Serverless function</a:t>
            </a:r>
            <a:endParaRPr/>
          </a:p>
        </p:txBody>
      </p:sp>
      <p:sp>
        <p:nvSpPr>
          <p:cNvPr id="80" name="Google Shape;80;g3fb35e99b17_1_13"/>
          <p:cNvSpPr/>
          <p:nvPr/>
        </p:nvSpPr>
        <p:spPr>
          <a:xfrm>
            <a:off x="8591550" y="27813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FaaS</a:t>
            </a:r>
            <a:endParaRPr/>
          </a:p>
        </p:txBody>
      </p:sp>
      <p:sp>
        <p:nvSpPr>
          <p:cNvPr id="81" name="Google Shape;81;g3fb35e99b17_1_13"/>
          <p:cNvSpPr/>
          <p:nvPr/>
        </p:nvSpPr>
        <p:spPr>
          <a:xfrm>
            <a:off x="8591550" y="3286125"/>
            <a:ext cx="290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You deploy a function that runs when an event or request triggers it.</a:t>
            </a:r>
            <a:endParaRPr/>
          </a:p>
        </p:txBody>
      </p:sp>
      <p:sp>
        <p:nvSpPr>
          <p:cNvPr id="82" name="Google Shape;82;g3fb35e99b17_1_13"/>
          <p:cNvSpPr/>
          <p:nvPr/>
        </p:nvSpPr>
        <p:spPr>
          <a:xfrm>
            <a:off x="1476375" y="5334000"/>
            <a:ext cx="923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More convenience usually means less infrastructure control.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35e99b17_1_35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2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Managed container platforms run Docker images without exposing the servers</a:t>
            </a:r>
            <a:endParaRPr/>
          </a:p>
        </p:txBody>
      </p:sp>
      <p:sp>
        <p:nvSpPr>
          <p:cNvPr id="89" name="Google Shape;89;g3fb35e99b17_1_35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90" name="Google Shape;90;g3fb35e99b17_1_35"/>
          <p:cNvSpPr/>
          <p:nvPr/>
        </p:nvSpPr>
        <p:spPr>
          <a:xfrm>
            <a:off x="762000" y="1381125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it is</a:t>
            </a:r>
            <a:endParaRPr/>
          </a:p>
        </p:txBody>
      </p:sp>
      <p:sp>
        <p:nvSpPr>
          <p:cNvPr id="91" name="Google Shape;91;g3fb35e99b17_1_35"/>
          <p:cNvSpPr/>
          <p:nvPr/>
        </p:nvSpPr>
        <p:spPr>
          <a:xfrm>
            <a:off x="762000" y="1952625"/>
            <a:ext cx="4762500" cy="1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You provide a Docker container. The platform handles orchestration, scaling, networking and infrastructure. You focus on the application while the provider handles the underlying servers.</a:t>
            </a:r>
            <a:endParaRPr/>
          </a:p>
        </p:txBody>
      </p:sp>
      <p:sp>
        <p:nvSpPr>
          <p:cNvPr id="92" name="Google Shape;92;g3fb35e99b17_1_35"/>
          <p:cNvSpPr/>
          <p:nvPr/>
        </p:nvSpPr>
        <p:spPr>
          <a:xfrm>
            <a:off x="6667500" y="1381125"/>
            <a:ext cx="419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</p:txBody>
      </p:sp>
      <p:sp>
        <p:nvSpPr>
          <p:cNvPr id="93" name="Google Shape;93;g3fb35e99b17_1_35"/>
          <p:cNvSpPr/>
          <p:nvPr/>
        </p:nvSpPr>
        <p:spPr>
          <a:xfrm>
            <a:off x="6667500" y="1952625"/>
            <a:ext cx="40959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Easy scaling and load balancing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Built-in monitoring and logging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Automatic security updates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Pay for what you use</a:t>
            </a:r>
            <a:endParaRPr/>
          </a:p>
        </p:txBody>
      </p:sp>
      <p:sp>
        <p:nvSpPr>
          <p:cNvPr id="94" name="Google Shape;94;g3fb35e99b17_1_35"/>
          <p:cNvSpPr/>
          <p:nvPr/>
        </p:nvSpPr>
        <p:spPr>
          <a:xfrm>
            <a:off x="6667500" y="3905250"/>
            <a:ext cx="419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Trade-offs</a:t>
            </a:r>
            <a:endParaRPr/>
          </a:p>
        </p:txBody>
      </p:sp>
      <p:sp>
        <p:nvSpPr>
          <p:cNvPr id="95" name="Google Shape;95;g3fb35e99b17_1_35"/>
          <p:cNvSpPr/>
          <p:nvPr/>
        </p:nvSpPr>
        <p:spPr>
          <a:xfrm>
            <a:off x="6667500" y="4476750"/>
            <a:ext cx="40959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Less customization than a VM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Platform-specific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Less control over networking and logs</a:t>
            </a:r>
            <a:endParaRPr/>
          </a:p>
        </p:txBody>
      </p:sp>
      <p:sp>
        <p:nvSpPr>
          <p:cNvPr id="96" name="Google Shape;96;g3fb35e99b17_1_35"/>
          <p:cNvSpPr/>
          <p:nvPr/>
        </p:nvSpPr>
        <p:spPr>
          <a:xfrm>
            <a:off x="1047750" y="5953125"/>
            <a:ext cx="1009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Examples: Google Cloud Run, AWS ECS with Fargate, Azure Container Apps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35e99b17_1_48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69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Serverless functions trade more infrastructure control for event-based execution</a:t>
            </a:r>
            <a:endParaRPr/>
          </a:p>
        </p:txBody>
      </p:sp>
      <p:sp>
        <p:nvSpPr>
          <p:cNvPr id="103" name="Google Shape;103;g3fb35e99b17_1_48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04" name="Google Shape;104;g3fb35e99b17_1_48"/>
          <p:cNvSpPr/>
          <p:nvPr/>
        </p:nvSpPr>
        <p:spPr>
          <a:xfrm>
            <a:off x="762000" y="1381125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What it is</a:t>
            </a:r>
            <a:endParaRPr/>
          </a:p>
        </p:txBody>
      </p:sp>
      <p:sp>
        <p:nvSpPr>
          <p:cNvPr id="105" name="Google Shape;105;g3fb35e99b17_1_48"/>
          <p:cNvSpPr/>
          <p:nvPr/>
        </p:nvSpPr>
        <p:spPr>
          <a:xfrm>
            <a:off x="762000" y="1952625"/>
            <a:ext cx="4762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Code runs as an auto-scaling function triggered by requests or events. The provider manages the servers, but the application must fit runtime, memory and execution constraints.</a:t>
            </a:r>
            <a:endParaRPr/>
          </a:p>
        </p:txBody>
      </p:sp>
      <p:sp>
        <p:nvSpPr>
          <p:cNvPr id="106" name="Google Shape;106;g3fb35e99b17_1_48"/>
          <p:cNvSpPr/>
          <p:nvPr/>
        </p:nvSpPr>
        <p:spPr>
          <a:xfrm>
            <a:off x="6667500" y="1381125"/>
            <a:ext cx="419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</p:txBody>
      </p:sp>
      <p:sp>
        <p:nvSpPr>
          <p:cNvPr id="107" name="Google Shape;107;g3fb35e99b17_1_48"/>
          <p:cNvSpPr/>
          <p:nvPr/>
        </p:nvSpPr>
        <p:spPr>
          <a:xfrm>
            <a:off x="6667500" y="1952625"/>
            <a:ext cx="40959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No server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Automatic scaling to zero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Pay per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Built-in fault tolerance</a:t>
            </a:r>
            <a:endParaRPr/>
          </a:p>
        </p:txBody>
      </p:sp>
      <p:sp>
        <p:nvSpPr>
          <p:cNvPr id="108" name="Google Shape;108;g3fb35e99b17_1_48"/>
          <p:cNvSpPr/>
          <p:nvPr/>
        </p:nvSpPr>
        <p:spPr>
          <a:xfrm>
            <a:off x="6667500" y="3905250"/>
            <a:ext cx="419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Trade-offs</a:t>
            </a:r>
            <a:endParaRPr/>
          </a:p>
        </p:txBody>
      </p:sp>
      <p:sp>
        <p:nvSpPr>
          <p:cNvPr id="109" name="Google Shape;109;g3fb35e99b17_1_48"/>
          <p:cNvSpPr/>
          <p:nvPr/>
        </p:nvSpPr>
        <p:spPr>
          <a:xfrm>
            <a:off x="6667500" y="4476750"/>
            <a:ext cx="40959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Execution time and memory limits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Cold-start latency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Poor fit for persistent models</a:t>
            </a:r>
            <a:endParaRPr/>
          </a:p>
        </p:txBody>
      </p:sp>
      <p:sp>
        <p:nvSpPr>
          <p:cNvPr id="110" name="Google Shape;110;g3fb35e99b17_1_48"/>
          <p:cNvSpPr/>
          <p:nvPr/>
        </p:nvSpPr>
        <p:spPr>
          <a:xfrm>
            <a:off x="1428750" y="5953125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Examples: AWS Lambda, Google Cloud Functions, Azure Functions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35e99b17_1_61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2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Cloud-provider selection depends on cost, location and organizational needs</a:t>
            </a:r>
            <a:endParaRPr/>
          </a:p>
        </p:txBody>
      </p:sp>
      <p:sp>
        <p:nvSpPr>
          <p:cNvPr id="117" name="Google Shape;117;g3fb35e99b17_1_61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18" name="Google Shape;118;g3fb35e99b17_1_61"/>
          <p:cNvSpPr/>
          <p:nvPr/>
        </p:nvSpPr>
        <p:spPr>
          <a:xfrm>
            <a:off x="714375" y="12382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EAF1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b35e99b17_1_61"/>
          <p:cNvSpPr/>
          <p:nvPr/>
        </p:nvSpPr>
        <p:spPr>
          <a:xfrm>
            <a:off x="885825" y="13716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b35e99b17_1_61"/>
          <p:cNvSpPr/>
          <p:nvPr/>
        </p:nvSpPr>
        <p:spPr>
          <a:xfrm>
            <a:off x="885825" y="14573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1" name="Google Shape;121;g3fb35e99b17_1_61"/>
          <p:cNvSpPr/>
          <p:nvPr/>
        </p:nvSpPr>
        <p:spPr>
          <a:xfrm>
            <a:off x="1438275" y="13525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</p:txBody>
      </p:sp>
      <p:sp>
        <p:nvSpPr>
          <p:cNvPr id="122" name="Google Shape;122;g3fb35e99b17_1_61"/>
          <p:cNvSpPr/>
          <p:nvPr/>
        </p:nvSpPr>
        <p:spPr>
          <a:xfrm>
            <a:off x="4048125" y="13525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Compare compute, bandwidth and charges that appear outside the headline price.</a:t>
            </a:r>
            <a:endParaRPr/>
          </a:p>
        </p:txBody>
      </p:sp>
      <p:sp>
        <p:nvSpPr>
          <p:cNvPr id="123" name="Google Shape;123;g3fb35e99b17_1_61"/>
          <p:cNvSpPr/>
          <p:nvPr/>
        </p:nvSpPr>
        <p:spPr>
          <a:xfrm>
            <a:off x="714375" y="22098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b35e99b17_1_61"/>
          <p:cNvSpPr/>
          <p:nvPr/>
        </p:nvSpPr>
        <p:spPr>
          <a:xfrm>
            <a:off x="885825" y="23431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b35e99b17_1_61"/>
          <p:cNvSpPr/>
          <p:nvPr/>
        </p:nvSpPr>
        <p:spPr>
          <a:xfrm>
            <a:off x="885825" y="24288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6" name="Google Shape;126;g3fb35e99b17_1_61"/>
          <p:cNvSpPr/>
          <p:nvPr/>
        </p:nvSpPr>
        <p:spPr>
          <a:xfrm>
            <a:off x="1438275" y="23241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/>
          </a:p>
        </p:txBody>
      </p:sp>
      <p:sp>
        <p:nvSpPr>
          <p:cNvPr id="127" name="Google Shape;127;g3fb35e99b17_1_61"/>
          <p:cNvSpPr/>
          <p:nvPr/>
        </p:nvSpPr>
        <p:spPr>
          <a:xfrm>
            <a:off x="4048125" y="23241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Choose a region near users and related services to reduce latency.</a:t>
            </a:r>
            <a:endParaRPr/>
          </a:p>
        </p:txBody>
      </p:sp>
      <p:sp>
        <p:nvSpPr>
          <p:cNvPr id="128" name="Google Shape;128;g3fb35e99b17_1_61"/>
          <p:cNvSpPr/>
          <p:nvPr/>
        </p:nvSpPr>
        <p:spPr>
          <a:xfrm>
            <a:off x="714375" y="31813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b35e99b17_1_61"/>
          <p:cNvSpPr/>
          <p:nvPr/>
        </p:nvSpPr>
        <p:spPr>
          <a:xfrm>
            <a:off x="885825" y="33147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b35e99b17_1_61"/>
          <p:cNvSpPr/>
          <p:nvPr/>
        </p:nvSpPr>
        <p:spPr>
          <a:xfrm>
            <a:off x="885825" y="3400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1" name="Google Shape;131;g3fb35e99b17_1_61"/>
          <p:cNvSpPr/>
          <p:nvPr/>
        </p:nvSpPr>
        <p:spPr>
          <a:xfrm>
            <a:off x="1438275" y="32956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/>
          </a:p>
        </p:txBody>
      </p:sp>
      <p:sp>
        <p:nvSpPr>
          <p:cNvPr id="132" name="Google Shape;132;g3fb35e99b17_1_61"/>
          <p:cNvSpPr/>
          <p:nvPr/>
        </p:nvSpPr>
        <p:spPr>
          <a:xfrm>
            <a:off x="4048125" y="32956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Clear setup guides and active communities reduce troubleshooting time.</a:t>
            </a:r>
            <a:endParaRPr/>
          </a:p>
        </p:txBody>
      </p:sp>
      <p:sp>
        <p:nvSpPr>
          <p:cNvPr id="133" name="Google Shape;133;g3fb35e99b17_1_61"/>
          <p:cNvSpPr/>
          <p:nvPr/>
        </p:nvSpPr>
        <p:spPr>
          <a:xfrm>
            <a:off x="714375" y="41529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b35e99b17_1_61"/>
          <p:cNvSpPr/>
          <p:nvPr/>
        </p:nvSpPr>
        <p:spPr>
          <a:xfrm>
            <a:off x="885825" y="42862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b35e99b17_1_61"/>
          <p:cNvSpPr/>
          <p:nvPr/>
        </p:nvSpPr>
        <p:spPr>
          <a:xfrm>
            <a:off x="885825" y="43719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g3fb35e99b17_1_61"/>
          <p:cNvSpPr/>
          <p:nvPr/>
        </p:nvSpPr>
        <p:spPr>
          <a:xfrm>
            <a:off x="1438275" y="42672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Compliance</a:t>
            </a:r>
            <a:endParaRPr/>
          </a:p>
        </p:txBody>
      </p:sp>
      <p:sp>
        <p:nvSpPr>
          <p:cNvPr id="137" name="Google Shape;137;g3fb35e99b17_1_61"/>
          <p:cNvSpPr/>
          <p:nvPr/>
        </p:nvSpPr>
        <p:spPr>
          <a:xfrm>
            <a:off x="4048125" y="42672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Check SOC 2, ISO 27001 and any industry-specific requirements.</a:t>
            </a:r>
            <a:endParaRPr/>
          </a:p>
        </p:txBody>
      </p:sp>
      <p:sp>
        <p:nvSpPr>
          <p:cNvPr id="138" name="Google Shape;138;g3fb35e99b17_1_61"/>
          <p:cNvSpPr/>
          <p:nvPr/>
        </p:nvSpPr>
        <p:spPr>
          <a:xfrm>
            <a:off x="714375" y="51244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b35e99b17_1_61"/>
          <p:cNvSpPr/>
          <p:nvPr/>
        </p:nvSpPr>
        <p:spPr>
          <a:xfrm>
            <a:off x="885825" y="52578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b35e99b17_1_61"/>
          <p:cNvSpPr/>
          <p:nvPr/>
        </p:nvSpPr>
        <p:spPr>
          <a:xfrm>
            <a:off x="885825" y="53435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1" name="Google Shape;141;g3fb35e99b17_1_61"/>
          <p:cNvSpPr/>
          <p:nvPr/>
        </p:nvSpPr>
        <p:spPr>
          <a:xfrm>
            <a:off x="1438275" y="52387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Existing infrastructure</a:t>
            </a:r>
            <a:endParaRPr/>
          </a:p>
        </p:txBody>
      </p:sp>
      <p:sp>
        <p:nvSpPr>
          <p:cNvPr id="142" name="Google Shape;142;g3fb35e99b17_1_61"/>
          <p:cNvSpPr/>
          <p:nvPr/>
        </p:nvSpPr>
        <p:spPr>
          <a:xfrm>
            <a:off x="4048125" y="52387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Employer, client, billing or integration policies may decide the provider.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35e99b17_1_92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6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deployment workflow moves tested source code into a running container service</a:t>
            </a:r>
            <a:endParaRPr/>
          </a:p>
        </p:txBody>
      </p:sp>
      <p:sp>
        <p:nvSpPr>
          <p:cNvPr id="149" name="Google Shape;149;g3fb35e99b17_1_92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50" name="Google Shape;150;g3fb35e99b17_1_92"/>
          <p:cNvSpPr/>
          <p:nvPr/>
        </p:nvSpPr>
        <p:spPr>
          <a:xfrm>
            <a:off x="714375" y="12382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EAF1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b35e99b17_1_92"/>
          <p:cNvSpPr/>
          <p:nvPr/>
        </p:nvSpPr>
        <p:spPr>
          <a:xfrm>
            <a:off x="885825" y="13716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b35e99b17_1_92"/>
          <p:cNvSpPr/>
          <p:nvPr/>
        </p:nvSpPr>
        <p:spPr>
          <a:xfrm>
            <a:off x="885825" y="14573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3" name="Google Shape;153;g3fb35e99b17_1_92"/>
          <p:cNvSpPr/>
          <p:nvPr/>
        </p:nvSpPr>
        <p:spPr>
          <a:xfrm>
            <a:off x="1438275" y="13525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Develop locally</a:t>
            </a:r>
            <a:endParaRPr/>
          </a:p>
        </p:txBody>
      </p:sp>
      <p:sp>
        <p:nvSpPr>
          <p:cNvPr id="154" name="Google Shape;154;g3fb35e99b17_1_92"/>
          <p:cNvSpPr/>
          <p:nvPr/>
        </p:nvSpPr>
        <p:spPr>
          <a:xfrm>
            <a:off x="4048125" y="13525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Build and test the application on the development machine.</a:t>
            </a:r>
            <a:endParaRPr/>
          </a:p>
        </p:txBody>
      </p:sp>
      <p:sp>
        <p:nvSpPr>
          <p:cNvPr id="155" name="Google Shape;155;g3fb35e99b17_1_92"/>
          <p:cNvSpPr/>
          <p:nvPr/>
        </p:nvSpPr>
        <p:spPr>
          <a:xfrm>
            <a:off x="714375" y="22098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b35e99b17_1_92"/>
          <p:cNvSpPr/>
          <p:nvPr/>
        </p:nvSpPr>
        <p:spPr>
          <a:xfrm>
            <a:off x="885825" y="23431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b35e99b17_1_92"/>
          <p:cNvSpPr/>
          <p:nvPr/>
        </p:nvSpPr>
        <p:spPr>
          <a:xfrm>
            <a:off x="885825" y="24288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8" name="Google Shape;158;g3fb35e99b17_1_92"/>
          <p:cNvSpPr/>
          <p:nvPr/>
        </p:nvSpPr>
        <p:spPr>
          <a:xfrm>
            <a:off x="1438275" y="23241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Commit to a repository</a:t>
            </a:r>
            <a:endParaRPr/>
          </a:p>
        </p:txBody>
      </p:sp>
      <p:sp>
        <p:nvSpPr>
          <p:cNvPr id="159" name="Google Shape;159;g3fb35e99b17_1_92"/>
          <p:cNvSpPr/>
          <p:nvPr/>
        </p:nvSpPr>
        <p:spPr>
          <a:xfrm>
            <a:off x="4048125" y="23241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Push a known working version to GitHub or another version-control system.</a:t>
            </a:r>
            <a:endParaRPr/>
          </a:p>
        </p:txBody>
      </p:sp>
      <p:sp>
        <p:nvSpPr>
          <p:cNvPr id="160" name="Google Shape;160;g3fb35e99b17_1_92"/>
          <p:cNvSpPr/>
          <p:nvPr/>
        </p:nvSpPr>
        <p:spPr>
          <a:xfrm>
            <a:off x="714375" y="31813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b35e99b17_1_92"/>
          <p:cNvSpPr/>
          <p:nvPr/>
        </p:nvSpPr>
        <p:spPr>
          <a:xfrm>
            <a:off x="885825" y="33147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b35e99b17_1_92"/>
          <p:cNvSpPr/>
          <p:nvPr/>
        </p:nvSpPr>
        <p:spPr>
          <a:xfrm>
            <a:off x="885825" y="3400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3" name="Google Shape;163;g3fb35e99b17_1_92"/>
          <p:cNvSpPr/>
          <p:nvPr/>
        </p:nvSpPr>
        <p:spPr>
          <a:xfrm>
            <a:off x="1438275" y="32956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Build the container</a:t>
            </a:r>
            <a:endParaRPr/>
          </a:p>
        </p:txBody>
      </p:sp>
      <p:sp>
        <p:nvSpPr>
          <p:cNvPr id="164" name="Google Shape;164;g3fb35e99b17_1_92"/>
          <p:cNvSpPr/>
          <p:nvPr/>
        </p:nvSpPr>
        <p:spPr>
          <a:xfrm>
            <a:off x="4048125" y="32956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Create an image that contains the application and its dependencies.</a:t>
            </a:r>
            <a:endParaRPr/>
          </a:p>
        </p:txBody>
      </p:sp>
      <p:sp>
        <p:nvSpPr>
          <p:cNvPr id="165" name="Google Shape;165;g3fb35e99b17_1_92"/>
          <p:cNvSpPr/>
          <p:nvPr/>
        </p:nvSpPr>
        <p:spPr>
          <a:xfrm>
            <a:off x="714375" y="41529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b35e99b17_1_92"/>
          <p:cNvSpPr/>
          <p:nvPr/>
        </p:nvSpPr>
        <p:spPr>
          <a:xfrm>
            <a:off x="885825" y="42862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b35e99b17_1_92"/>
          <p:cNvSpPr/>
          <p:nvPr/>
        </p:nvSpPr>
        <p:spPr>
          <a:xfrm>
            <a:off x="885825" y="43719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8" name="Google Shape;168;g3fb35e99b17_1_92"/>
          <p:cNvSpPr/>
          <p:nvPr/>
        </p:nvSpPr>
        <p:spPr>
          <a:xfrm>
            <a:off x="1438275" y="42672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 the service</a:t>
            </a:r>
            <a:endParaRPr/>
          </a:p>
        </p:txBody>
      </p:sp>
      <p:sp>
        <p:nvSpPr>
          <p:cNvPr id="169" name="Google Shape;169;g3fb35e99b17_1_92"/>
          <p:cNvSpPr/>
          <p:nvPr/>
        </p:nvSpPr>
        <p:spPr>
          <a:xfrm>
            <a:off x="4048125" y="42672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Upload source or an image to the managed container platform.</a:t>
            </a:r>
            <a:endParaRPr/>
          </a:p>
        </p:txBody>
      </p:sp>
      <p:sp>
        <p:nvSpPr>
          <p:cNvPr id="170" name="Google Shape;170;g3fb35e99b17_1_92"/>
          <p:cNvSpPr/>
          <p:nvPr/>
        </p:nvSpPr>
        <p:spPr>
          <a:xfrm>
            <a:off x="714375" y="51244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b35e99b17_1_92"/>
          <p:cNvSpPr/>
          <p:nvPr/>
        </p:nvSpPr>
        <p:spPr>
          <a:xfrm>
            <a:off x="885825" y="52578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b35e99b17_1_92"/>
          <p:cNvSpPr/>
          <p:nvPr/>
        </p:nvSpPr>
        <p:spPr>
          <a:xfrm>
            <a:off x="885825" y="53435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3" name="Google Shape;173;g3fb35e99b17_1_92"/>
          <p:cNvSpPr/>
          <p:nvPr/>
        </p:nvSpPr>
        <p:spPr>
          <a:xfrm>
            <a:off x="1438275" y="52387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Update as needed</a:t>
            </a:r>
            <a:endParaRPr/>
          </a:p>
        </p:txBody>
      </p:sp>
      <p:sp>
        <p:nvSpPr>
          <p:cNvPr id="174" name="Google Shape;174;g3fb35e99b17_1_92"/>
          <p:cNvSpPr/>
          <p:nvPr/>
        </p:nvSpPr>
        <p:spPr>
          <a:xfrm>
            <a:off x="4048125" y="52387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Repeat the build, deploy and verification steps when the code changes.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35e99b17_1_123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 successful deployment replaces localhost with an internet-accessible service</a:t>
            </a:r>
            <a:endParaRPr/>
          </a:p>
        </p:txBody>
      </p:sp>
      <p:sp>
        <p:nvSpPr>
          <p:cNvPr id="181" name="Google Shape;181;g3fb35e99b17_1_123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82" name="Google Shape;182;g3fb35e99b17_1_123"/>
          <p:cNvSpPr/>
          <p:nvPr/>
        </p:nvSpPr>
        <p:spPr>
          <a:xfrm>
            <a:off x="809625" y="1524000"/>
            <a:ext cx="4762500" cy="27147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b35e99b17_1_123"/>
          <p:cNvSpPr/>
          <p:nvPr/>
        </p:nvSpPr>
        <p:spPr>
          <a:xfrm>
            <a:off x="1143000" y="185737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184" name="Google Shape;184;g3fb35e99b17_1_123"/>
          <p:cNvSpPr/>
          <p:nvPr/>
        </p:nvSpPr>
        <p:spPr>
          <a:xfrm>
            <a:off x="1143000" y="2571750"/>
            <a:ext cx="4000500" cy="666900"/>
          </a:xfrm>
          <a:prstGeom prst="roundRect">
            <a:avLst>
              <a:gd fmla="val 20000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b35e99b17_1_123"/>
          <p:cNvSpPr/>
          <p:nvPr/>
        </p:nvSpPr>
        <p:spPr>
          <a:xfrm>
            <a:off x="1352550" y="2743200"/>
            <a:ext cx="358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http://localhost:8080/news/</a:t>
            </a:r>
            <a:endParaRPr/>
          </a:p>
        </p:txBody>
      </p:sp>
      <p:sp>
        <p:nvSpPr>
          <p:cNvPr id="186" name="Google Shape;186;g3fb35e99b17_1_123"/>
          <p:cNvSpPr/>
          <p:nvPr/>
        </p:nvSpPr>
        <p:spPr>
          <a:xfrm>
            <a:off x="1143000" y="352425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Available only while the application runs on the developer's machine.</a:t>
            </a:r>
            <a:endParaRPr/>
          </a:p>
        </p:txBody>
      </p:sp>
      <p:sp>
        <p:nvSpPr>
          <p:cNvPr id="187" name="Google Shape;187;g3fb35e99b17_1_123"/>
          <p:cNvSpPr/>
          <p:nvPr/>
        </p:nvSpPr>
        <p:spPr>
          <a:xfrm>
            <a:off x="6619875" y="1524000"/>
            <a:ext cx="4762500" cy="2714700"/>
          </a:xfrm>
          <a:prstGeom prst="roundRect">
            <a:avLst>
              <a:gd fmla="val 6316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b35e99b17_1_123"/>
          <p:cNvSpPr/>
          <p:nvPr/>
        </p:nvSpPr>
        <p:spPr>
          <a:xfrm>
            <a:off x="6953250" y="185737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  <p:sp>
        <p:nvSpPr>
          <p:cNvPr id="189" name="Google Shape;189;g3fb35e99b17_1_123"/>
          <p:cNvSpPr/>
          <p:nvPr/>
        </p:nvSpPr>
        <p:spPr>
          <a:xfrm>
            <a:off x="6953250" y="2571750"/>
            <a:ext cx="4000500" cy="666900"/>
          </a:xfrm>
          <a:prstGeom prst="roundRect">
            <a:avLst>
              <a:gd fmla="val 20000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b35e99b17_1_123"/>
          <p:cNvSpPr/>
          <p:nvPr/>
        </p:nvSpPr>
        <p:spPr>
          <a:xfrm>
            <a:off x="7162800" y="2743200"/>
            <a:ext cx="358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https://YOUR_CLOUD_RUN_URL/news/</a:t>
            </a:r>
            <a:endParaRPr/>
          </a:p>
        </p:txBody>
      </p:sp>
      <p:sp>
        <p:nvSpPr>
          <p:cNvPr id="191" name="Google Shape;191;g3fb35e99b17_1_123"/>
          <p:cNvSpPr/>
          <p:nvPr/>
        </p:nvSpPr>
        <p:spPr>
          <a:xfrm>
            <a:off x="6953250" y="352425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Available to users through the managed HTTPS endpoint.</a:t>
            </a:r>
            <a:endParaRPr/>
          </a:p>
        </p:txBody>
      </p:sp>
      <p:sp>
        <p:nvSpPr>
          <p:cNvPr id="192" name="Google Shape;192;g3fb35e99b17_1_123"/>
          <p:cNvSpPr/>
          <p:nvPr/>
        </p:nvSpPr>
        <p:spPr>
          <a:xfrm>
            <a:off x="1428750" y="5191125"/>
            <a:ext cx="933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Users can now call the API from other machines and applications.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35e99b17_1_140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Deployment becomes a repeatable cycle after the initial cloud setup</a:t>
            </a:r>
            <a:endParaRPr/>
          </a:p>
        </p:txBody>
      </p:sp>
      <p:sp>
        <p:nvSpPr>
          <p:cNvPr id="199" name="Google Shape;199;g3fb35e99b17_1_140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00" name="Google Shape;200;g3fb35e99b17_1_140"/>
          <p:cNvSpPr/>
          <p:nvPr/>
        </p:nvSpPr>
        <p:spPr>
          <a:xfrm>
            <a:off x="714375" y="12382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EAF1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b35e99b17_1_140"/>
          <p:cNvSpPr/>
          <p:nvPr/>
        </p:nvSpPr>
        <p:spPr>
          <a:xfrm>
            <a:off x="885825" y="13716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b35e99b17_1_140"/>
          <p:cNvSpPr/>
          <p:nvPr/>
        </p:nvSpPr>
        <p:spPr>
          <a:xfrm>
            <a:off x="885825" y="14573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3" name="Google Shape;203;g3fb35e99b17_1_140"/>
          <p:cNvSpPr/>
          <p:nvPr/>
        </p:nvSpPr>
        <p:spPr>
          <a:xfrm>
            <a:off x="1438275" y="13525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Develop locally</a:t>
            </a:r>
            <a:endParaRPr/>
          </a:p>
        </p:txBody>
      </p:sp>
      <p:sp>
        <p:nvSpPr>
          <p:cNvPr id="204" name="Google Shape;204;g3fb35e99b17_1_140"/>
          <p:cNvSpPr/>
          <p:nvPr/>
        </p:nvSpPr>
        <p:spPr>
          <a:xfrm>
            <a:off x="4048125" y="13525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Change the code and test it on the development machine.</a:t>
            </a:r>
            <a:endParaRPr/>
          </a:p>
        </p:txBody>
      </p:sp>
      <p:sp>
        <p:nvSpPr>
          <p:cNvPr id="205" name="Google Shape;205;g3fb35e99b17_1_140"/>
          <p:cNvSpPr/>
          <p:nvPr/>
        </p:nvSpPr>
        <p:spPr>
          <a:xfrm>
            <a:off x="714375" y="22098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b35e99b17_1_140"/>
          <p:cNvSpPr/>
          <p:nvPr/>
        </p:nvSpPr>
        <p:spPr>
          <a:xfrm>
            <a:off x="885825" y="23431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b35e99b17_1_140"/>
          <p:cNvSpPr/>
          <p:nvPr/>
        </p:nvSpPr>
        <p:spPr>
          <a:xfrm>
            <a:off x="885825" y="24288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8" name="Google Shape;208;g3fb35e99b17_1_140"/>
          <p:cNvSpPr/>
          <p:nvPr/>
        </p:nvSpPr>
        <p:spPr>
          <a:xfrm>
            <a:off x="1438275" y="23241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209" name="Google Shape;209;g3fb35e99b17_1_140"/>
          <p:cNvSpPr/>
          <p:nvPr/>
        </p:nvSpPr>
        <p:spPr>
          <a:xfrm>
            <a:off x="4048125" y="23241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Record the working version in source control.</a:t>
            </a:r>
            <a:endParaRPr/>
          </a:p>
        </p:txBody>
      </p:sp>
      <p:sp>
        <p:nvSpPr>
          <p:cNvPr id="210" name="Google Shape;210;g3fb35e99b17_1_140"/>
          <p:cNvSpPr/>
          <p:nvPr/>
        </p:nvSpPr>
        <p:spPr>
          <a:xfrm>
            <a:off x="714375" y="31813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b35e99b17_1_140"/>
          <p:cNvSpPr/>
          <p:nvPr/>
        </p:nvSpPr>
        <p:spPr>
          <a:xfrm>
            <a:off x="885825" y="33147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b35e99b17_1_140"/>
          <p:cNvSpPr/>
          <p:nvPr/>
        </p:nvSpPr>
        <p:spPr>
          <a:xfrm>
            <a:off x="885825" y="34004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3" name="Google Shape;213;g3fb35e99b17_1_140"/>
          <p:cNvSpPr/>
          <p:nvPr/>
        </p:nvSpPr>
        <p:spPr>
          <a:xfrm>
            <a:off x="1438275" y="32956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/>
          </a:p>
        </p:txBody>
      </p:sp>
      <p:sp>
        <p:nvSpPr>
          <p:cNvPr id="214" name="Google Shape;214;g3fb35e99b17_1_140"/>
          <p:cNvSpPr/>
          <p:nvPr/>
        </p:nvSpPr>
        <p:spPr>
          <a:xfrm>
            <a:off x="4048125" y="32956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Build and release a new Cloud Run revision.</a:t>
            </a:r>
            <a:endParaRPr/>
          </a:p>
        </p:txBody>
      </p:sp>
      <p:sp>
        <p:nvSpPr>
          <p:cNvPr id="215" name="Google Shape;215;g3fb35e99b17_1_140"/>
          <p:cNvSpPr/>
          <p:nvPr/>
        </p:nvSpPr>
        <p:spPr>
          <a:xfrm>
            <a:off x="714375" y="415290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35e99b17_1_140"/>
          <p:cNvSpPr/>
          <p:nvPr/>
        </p:nvSpPr>
        <p:spPr>
          <a:xfrm>
            <a:off x="885825" y="42862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b35e99b17_1_140"/>
          <p:cNvSpPr/>
          <p:nvPr/>
        </p:nvSpPr>
        <p:spPr>
          <a:xfrm>
            <a:off x="885825" y="43719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8" name="Google Shape;218;g3fb35e99b17_1_140"/>
          <p:cNvSpPr/>
          <p:nvPr/>
        </p:nvSpPr>
        <p:spPr>
          <a:xfrm>
            <a:off x="1438275" y="42672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/>
          </a:p>
        </p:txBody>
      </p:sp>
      <p:sp>
        <p:nvSpPr>
          <p:cNvPr id="219" name="Google Shape;219;g3fb35e99b17_1_140"/>
          <p:cNvSpPr/>
          <p:nvPr/>
        </p:nvSpPr>
        <p:spPr>
          <a:xfrm>
            <a:off x="4048125" y="426720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Test the live endpoints and inspect logs.</a:t>
            </a:r>
            <a:endParaRPr/>
          </a:p>
        </p:txBody>
      </p:sp>
      <p:sp>
        <p:nvSpPr>
          <p:cNvPr id="220" name="Google Shape;220;g3fb35e99b17_1_140"/>
          <p:cNvSpPr/>
          <p:nvPr/>
        </p:nvSpPr>
        <p:spPr>
          <a:xfrm>
            <a:off x="714375" y="5124450"/>
            <a:ext cx="107634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b35e99b17_1_140"/>
          <p:cNvSpPr/>
          <p:nvPr/>
        </p:nvSpPr>
        <p:spPr>
          <a:xfrm>
            <a:off x="885825" y="525780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b35e99b17_1_140"/>
          <p:cNvSpPr/>
          <p:nvPr/>
        </p:nvSpPr>
        <p:spPr>
          <a:xfrm>
            <a:off x="885825" y="534352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3" name="Google Shape;223;g3fb35e99b17_1_140"/>
          <p:cNvSpPr/>
          <p:nvPr/>
        </p:nvSpPr>
        <p:spPr>
          <a:xfrm>
            <a:off x="1438275" y="523875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endParaRPr/>
          </a:p>
        </p:txBody>
      </p:sp>
      <p:sp>
        <p:nvSpPr>
          <p:cNvPr id="224" name="Google Shape;224;g3fb35e99b17_1_140"/>
          <p:cNvSpPr/>
          <p:nvPr/>
        </p:nvSpPr>
        <p:spPr>
          <a:xfrm>
            <a:off x="4048125" y="5238750"/>
            <a:ext cx="71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Use the same process for the next application change.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b35e99b17_1_171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Serious applications add controls before changes reach production</a:t>
            </a:r>
            <a:endParaRPr/>
          </a:p>
        </p:txBody>
      </p:sp>
      <p:sp>
        <p:nvSpPr>
          <p:cNvPr id="231" name="Google Shape;231;g3fb35e99b17_1_171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32" name="Google Shape;232;g3fb35e99b17_1_171"/>
          <p:cNvSpPr/>
          <p:nvPr/>
        </p:nvSpPr>
        <p:spPr>
          <a:xfrm>
            <a:off x="809625" y="1381125"/>
            <a:ext cx="10287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single production environment teaches the basic deployment process, but it does not protect users from every release mistake.</a:t>
            </a:r>
            <a:endParaRPr/>
          </a:p>
        </p:txBody>
      </p:sp>
      <p:sp>
        <p:nvSpPr>
          <p:cNvPr id="233" name="Google Shape;233;g3fb35e99b17_1_171"/>
          <p:cNvSpPr/>
          <p:nvPr/>
        </p:nvSpPr>
        <p:spPr>
          <a:xfrm>
            <a:off x="1143000" y="2619375"/>
            <a:ext cx="9906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Untested code can break the live service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Separate environments catch issues before production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Teams need a structured collaboration 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Rollbacks and hotfixes need predictable procedures</a:t>
            </a:r>
            <a:endParaRPr/>
          </a:p>
        </p:txBody>
      </p:sp>
      <p:sp>
        <p:nvSpPr>
          <p:cNvPr id="234" name="Google Shape;234;g3fb35e99b17_1_171"/>
          <p:cNvSpPr/>
          <p:nvPr/>
        </p:nvSpPr>
        <p:spPr>
          <a:xfrm>
            <a:off x="2286000" y="5191125"/>
            <a:ext cx="7620000" cy="619200"/>
          </a:xfrm>
          <a:prstGeom prst="roundRect">
            <a:avLst>
              <a:gd fmla="val 21538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b35e99b17_1_171"/>
          <p:cNvSpPr/>
          <p:nvPr/>
        </p:nvSpPr>
        <p:spPr>
          <a:xfrm>
            <a:off x="2571750" y="5372100"/>
            <a:ext cx="7048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 deployment pipeline improves safety, reliability and release confidence.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35e99b17_1_181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 typical deployment pipeline moves changes through four environments</a:t>
            </a:r>
            <a:endParaRPr/>
          </a:p>
        </p:txBody>
      </p:sp>
      <p:sp>
        <p:nvSpPr>
          <p:cNvPr id="242" name="Google Shape;242;g3fb35e99b17_1_181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43" name="Google Shape;243;g3fb35e99b17_1_181"/>
          <p:cNvSpPr/>
          <p:nvPr/>
        </p:nvSpPr>
        <p:spPr>
          <a:xfrm>
            <a:off x="714375" y="1381125"/>
            <a:ext cx="10763400" cy="1062000"/>
          </a:xfrm>
          <a:prstGeom prst="roundRect">
            <a:avLst>
              <a:gd fmla="val 12556" name="adj"/>
            </a:avLst>
          </a:prstGeom>
          <a:solidFill>
            <a:srgbClr val="EAF1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b35e99b17_1_181"/>
          <p:cNvSpPr/>
          <p:nvPr/>
        </p:nvSpPr>
        <p:spPr>
          <a:xfrm>
            <a:off x="885825" y="1514475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b35e99b17_1_181"/>
          <p:cNvSpPr/>
          <p:nvPr/>
        </p:nvSpPr>
        <p:spPr>
          <a:xfrm>
            <a:off x="885825" y="1600200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6" name="Google Shape;246;g3fb35e99b17_1_181"/>
          <p:cNvSpPr/>
          <p:nvPr/>
        </p:nvSpPr>
        <p:spPr>
          <a:xfrm>
            <a:off x="1438275" y="1495425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/>
          </a:p>
        </p:txBody>
      </p:sp>
      <p:sp>
        <p:nvSpPr>
          <p:cNvPr id="247" name="Google Shape;247;g3fb35e99b17_1_181"/>
          <p:cNvSpPr/>
          <p:nvPr/>
        </p:nvSpPr>
        <p:spPr>
          <a:xfrm>
            <a:off x="4048125" y="1495425"/>
            <a:ext cx="7191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Engineers write code, fix bugs and run initial tests in isolated environments.</a:t>
            </a:r>
            <a:endParaRPr/>
          </a:p>
        </p:txBody>
      </p:sp>
      <p:sp>
        <p:nvSpPr>
          <p:cNvPr id="248" name="Google Shape;248;g3fb35e99b17_1_181"/>
          <p:cNvSpPr/>
          <p:nvPr/>
        </p:nvSpPr>
        <p:spPr>
          <a:xfrm>
            <a:off x="714375" y="2614613"/>
            <a:ext cx="10763400" cy="1062000"/>
          </a:xfrm>
          <a:prstGeom prst="roundRect">
            <a:avLst>
              <a:gd fmla="val 12556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b35e99b17_1_181"/>
          <p:cNvSpPr/>
          <p:nvPr/>
        </p:nvSpPr>
        <p:spPr>
          <a:xfrm>
            <a:off x="885825" y="2747963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b35e99b17_1_181"/>
          <p:cNvSpPr/>
          <p:nvPr/>
        </p:nvSpPr>
        <p:spPr>
          <a:xfrm>
            <a:off x="885825" y="2833688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51" name="Google Shape;251;g3fb35e99b17_1_181"/>
          <p:cNvSpPr/>
          <p:nvPr/>
        </p:nvSpPr>
        <p:spPr>
          <a:xfrm>
            <a:off x="1438275" y="2728913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252" name="Google Shape;252;g3fb35e99b17_1_181"/>
          <p:cNvSpPr/>
          <p:nvPr/>
        </p:nvSpPr>
        <p:spPr>
          <a:xfrm>
            <a:off x="4048125" y="2728913"/>
            <a:ext cx="7191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Automated tests and QA checks identify failures and edge cases.</a:t>
            </a:r>
            <a:endParaRPr/>
          </a:p>
        </p:txBody>
      </p:sp>
      <p:sp>
        <p:nvSpPr>
          <p:cNvPr id="253" name="Google Shape;253;g3fb35e99b17_1_181"/>
          <p:cNvSpPr/>
          <p:nvPr/>
        </p:nvSpPr>
        <p:spPr>
          <a:xfrm>
            <a:off x="714375" y="3848100"/>
            <a:ext cx="10763400" cy="1062000"/>
          </a:xfrm>
          <a:prstGeom prst="roundRect">
            <a:avLst>
              <a:gd fmla="val 12556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b35e99b17_1_181"/>
          <p:cNvSpPr/>
          <p:nvPr/>
        </p:nvSpPr>
        <p:spPr>
          <a:xfrm>
            <a:off x="885825" y="3981450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b35e99b17_1_181"/>
          <p:cNvSpPr/>
          <p:nvPr/>
        </p:nvSpPr>
        <p:spPr>
          <a:xfrm>
            <a:off x="885825" y="4067175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56" name="Google Shape;256;g3fb35e99b17_1_181"/>
          <p:cNvSpPr/>
          <p:nvPr/>
        </p:nvSpPr>
        <p:spPr>
          <a:xfrm>
            <a:off x="1438275" y="3962400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/>
          </a:p>
        </p:txBody>
      </p:sp>
      <p:sp>
        <p:nvSpPr>
          <p:cNvPr id="257" name="Google Shape;257;g3fb35e99b17_1_181"/>
          <p:cNvSpPr/>
          <p:nvPr/>
        </p:nvSpPr>
        <p:spPr>
          <a:xfrm>
            <a:off x="4048125" y="3962400"/>
            <a:ext cx="7191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staging environment mirrors production so stakeholders can validate requirements.</a:t>
            </a:r>
            <a:endParaRPr/>
          </a:p>
        </p:txBody>
      </p:sp>
      <p:sp>
        <p:nvSpPr>
          <p:cNvPr id="258" name="Google Shape;258;g3fb35e99b17_1_181"/>
          <p:cNvSpPr/>
          <p:nvPr/>
        </p:nvSpPr>
        <p:spPr>
          <a:xfrm>
            <a:off x="714375" y="5081588"/>
            <a:ext cx="10763400" cy="1062000"/>
          </a:xfrm>
          <a:prstGeom prst="roundRect">
            <a:avLst>
              <a:gd fmla="val 12556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b35e99b17_1_181"/>
          <p:cNvSpPr/>
          <p:nvPr/>
        </p:nvSpPr>
        <p:spPr>
          <a:xfrm>
            <a:off x="885825" y="5214938"/>
            <a:ext cx="362100" cy="362100"/>
          </a:xfrm>
          <a:prstGeom prst="roundRect">
            <a:avLst>
              <a:gd fmla="val 50000" name="adj"/>
            </a:avLst>
          </a:prstGeom>
          <a:solidFill>
            <a:srgbClr val="172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b35e99b17_1_181"/>
          <p:cNvSpPr/>
          <p:nvPr/>
        </p:nvSpPr>
        <p:spPr>
          <a:xfrm>
            <a:off x="885825" y="5300663"/>
            <a:ext cx="3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61" name="Google Shape;261;g3fb35e99b17_1_181"/>
          <p:cNvSpPr/>
          <p:nvPr/>
        </p:nvSpPr>
        <p:spPr>
          <a:xfrm>
            <a:off x="1438275" y="5195888"/>
            <a:ext cx="25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/>
          </a:p>
        </p:txBody>
      </p:sp>
      <p:sp>
        <p:nvSpPr>
          <p:cNvPr id="262" name="Google Shape;262;g3fb35e99b17_1_181"/>
          <p:cNvSpPr/>
          <p:nvPr/>
        </p:nvSpPr>
        <p:spPr>
          <a:xfrm>
            <a:off x="4048125" y="5195888"/>
            <a:ext cx="7191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approved application serves real users while monitoring checks its health.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b35e99b17_1_207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Multiple environments add operational complexity beyond this project</a:t>
            </a:r>
            <a:endParaRPr/>
          </a:p>
        </p:txBody>
      </p:sp>
      <p:sp>
        <p:nvSpPr>
          <p:cNvPr id="269" name="Google Shape;269;g3fb35e99b17_1_207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70" name="Google Shape;270;g3fb35e99b17_1_207"/>
          <p:cNvSpPr/>
          <p:nvPr/>
        </p:nvSpPr>
        <p:spPr>
          <a:xfrm>
            <a:off x="857250" y="1381125"/>
            <a:ext cx="10001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8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 complete deployment pipeline can involve:</a:t>
            </a:r>
            <a:endParaRPr/>
          </a:p>
        </p:txBody>
      </p:sp>
      <p:sp>
        <p:nvSpPr>
          <p:cNvPr id="271" name="Google Shape;271;g3fb35e99b17_1_207"/>
          <p:cNvSpPr/>
          <p:nvPr/>
        </p:nvSpPr>
        <p:spPr>
          <a:xfrm>
            <a:off x="1047750" y="2143125"/>
            <a:ext cx="100014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Separate development, test, acceptance and production environments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Independent settings, credentials and infrastructure for each environment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Controlled promotion of code between stages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Consistent configuration across all environments</a:t>
            </a:r>
            <a:endParaRPr/>
          </a:p>
        </p:txBody>
      </p:sp>
      <p:sp>
        <p:nvSpPr>
          <p:cNvPr id="272" name="Google Shape;272;g3fb35e99b17_1_207"/>
          <p:cNvSpPr/>
          <p:nvPr/>
        </p:nvSpPr>
        <p:spPr>
          <a:xfrm>
            <a:off x="1809750" y="4857750"/>
            <a:ext cx="8572500" cy="952500"/>
          </a:xfrm>
          <a:prstGeom prst="roundRect">
            <a:avLst>
              <a:gd fmla="val 16000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b35e99b17_1_207"/>
          <p:cNvSpPr/>
          <p:nvPr/>
        </p:nvSpPr>
        <p:spPr>
          <a:xfrm>
            <a:off x="2143125" y="5067300"/>
            <a:ext cx="16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Current scope</a:t>
            </a:r>
            <a:endParaRPr/>
          </a:p>
        </p:txBody>
      </p:sp>
      <p:sp>
        <p:nvSpPr>
          <p:cNvPr id="274" name="Google Shape;274;g3fb35e99b17_1_207"/>
          <p:cNvSpPr/>
          <p:nvPr/>
        </p:nvSpPr>
        <p:spPr>
          <a:xfrm>
            <a:off x="3905250" y="5029200"/>
            <a:ext cx="6000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Master one production deployment first, then add environments and automation when the application needs them.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b35e99b17_1_218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CI/CD automates testing and deployment after code reaches the repository</a:t>
            </a:r>
            <a:endParaRPr/>
          </a:p>
        </p:txBody>
      </p:sp>
      <p:sp>
        <p:nvSpPr>
          <p:cNvPr id="281" name="Google Shape;281;g3fb35e99b17_1_218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82" name="Google Shape;282;g3fb35e99b17_1_218"/>
          <p:cNvSpPr/>
          <p:nvPr/>
        </p:nvSpPr>
        <p:spPr>
          <a:xfrm>
            <a:off x="857250" y="1428750"/>
            <a:ext cx="4476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Continuous Integration</a:t>
            </a:r>
            <a:endParaRPr/>
          </a:p>
        </p:txBody>
      </p:sp>
      <p:sp>
        <p:nvSpPr>
          <p:cNvPr id="283" name="Google Shape;283;g3fb35e99b17_1_218"/>
          <p:cNvSpPr/>
          <p:nvPr/>
        </p:nvSpPr>
        <p:spPr>
          <a:xfrm>
            <a:off x="857250" y="2047875"/>
            <a:ext cx="447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push or pull request starts automated checks so the team finds failures before release.</a:t>
            </a:r>
            <a:endParaRPr/>
          </a:p>
        </p:txBody>
      </p:sp>
      <p:sp>
        <p:nvSpPr>
          <p:cNvPr id="284" name="Google Shape;284;g3fb35e99b17_1_218"/>
          <p:cNvSpPr/>
          <p:nvPr/>
        </p:nvSpPr>
        <p:spPr>
          <a:xfrm>
            <a:off x="6762750" y="1428750"/>
            <a:ext cx="4476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Continuous Deployment</a:t>
            </a:r>
            <a:endParaRPr/>
          </a:p>
        </p:txBody>
      </p:sp>
      <p:sp>
        <p:nvSpPr>
          <p:cNvPr id="285" name="Google Shape;285;g3fb35e99b17_1_218"/>
          <p:cNvSpPr/>
          <p:nvPr/>
        </p:nvSpPr>
        <p:spPr>
          <a:xfrm>
            <a:off x="6762750" y="2047875"/>
            <a:ext cx="447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Approved code moves through staging and production without repeating every command manually.</a:t>
            </a:r>
            <a:endParaRPr/>
          </a:p>
        </p:txBody>
      </p:sp>
      <p:sp>
        <p:nvSpPr>
          <p:cNvPr id="286" name="Google Shape;286;g3fb35e99b17_1_218"/>
          <p:cNvSpPr/>
          <p:nvPr/>
        </p:nvSpPr>
        <p:spPr>
          <a:xfrm>
            <a:off x="2143125" y="3810000"/>
            <a:ext cx="7905900" cy="685800"/>
          </a:xfrm>
          <a:prstGeom prst="roundRect">
            <a:avLst>
              <a:gd fmla="val 19444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b35e99b17_1_218"/>
          <p:cNvSpPr/>
          <p:nvPr/>
        </p:nvSpPr>
        <p:spPr>
          <a:xfrm>
            <a:off x="2352675" y="3981450"/>
            <a:ext cx="7486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git push  -&gt;  tests  -&gt;  acceptance  -&gt;  production</a:t>
            </a:r>
            <a:endParaRPr/>
          </a:p>
        </p:txBody>
      </p:sp>
      <p:sp>
        <p:nvSpPr>
          <p:cNvPr id="288" name="Google Shape;288;g3fb35e99b17_1_218"/>
          <p:cNvSpPr/>
          <p:nvPr/>
        </p:nvSpPr>
        <p:spPr>
          <a:xfrm>
            <a:off x="2381250" y="5095875"/>
            <a:ext cx="742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Examples: GitHub Actions, Jenkins and Azure DevOps</a:t>
            </a:r>
            <a:endParaRPr/>
          </a:p>
        </p:txBody>
      </p:sp>
      <p:sp>
        <p:nvSpPr>
          <p:cNvPr id="289" name="Google Shape;289;g3fb35e99b17_1_218"/>
          <p:cNvSpPr/>
          <p:nvPr/>
        </p:nvSpPr>
        <p:spPr>
          <a:xfrm>
            <a:off x="1714500" y="5619750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This course first documents the manual process that future automation will reproduce.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B9C8E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47700" y="762000"/>
            <a:ext cx="1714500" cy="3619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81050" y="85725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647700" y="1857375"/>
            <a:ext cx="9715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 it ourselves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666750" y="306705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A simple, repeatable walkthrough for the AI News API</a:t>
            </a:r>
            <a:br>
              <a:rPr b="0" lang="en-US" sz="16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650">
                <a:solidFill>
                  <a:srgbClr val="FF0000"/>
                </a:solidFill>
              </a:rPr>
              <a:t>FOLLOW README FOR </a:t>
            </a:r>
            <a:r>
              <a:rPr b="1" lang="en-US" sz="1650">
                <a:solidFill>
                  <a:srgbClr val="FF0000"/>
                </a:solidFill>
              </a:rPr>
              <a:t>WEEK 5 </a:t>
            </a:r>
            <a:r>
              <a:rPr b="1" lang="en-US" sz="165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b35e99b17_0_6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The deployment separates web traffic from scheduled processing</a:t>
            </a:r>
            <a:endParaRPr/>
          </a:p>
        </p:txBody>
      </p:sp>
      <p:sp>
        <p:nvSpPr>
          <p:cNvPr id="306" name="Google Shape;306;g3fb35e99b17_0_6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07" name="Google Shape;307;g3fb35e99b17_0_6"/>
          <p:cNvSpPr/>
          <p:nvPr/>
        </p:nvSpPr>
        <p:spPr>
          <a:xfrm>
            <a:off x="523875" y="1857375"/>
            <a:ext cx="2333700" cy="2095500"/>
          </a:xfrm>
          <a:prstGeom prst="roundRect">
            <a:avLst>
              <a:gd fmla="val 10000" name="adj"/>
            </a:avLst>
          </a:prstGeom>
          <a:solidFill>
            <a:srgbClr val="FFF3D6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b35e99b17_0_6"/>
          <p:cNvSpPr/>
          <p:nvPr/>
        </p:nvSpPr>
        <p:spPr>
          <a:xfrm>
            <a:off x="695325" y="2047875"/>
            <a:ext cx="1990800" cy="324000"/>
          </a:xfrm>
          <a:prstGeom prst="roundRect">
            <a:avLst>
              <a:gd fmla="val 50000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b35e99b17_0_6"/>
          <p:cNvSpPr/>
          <p:nvPr/>
        </p:nvSpPr>
        <p:spPr>
          <a:xfrm>
            <a:off x="790575" y="2066925"/>
            <a:ext cx="1800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Scheduler</a:t>
            </a:r>
            <a:endParaRPr/>
          </a:p>
        </p:txBody>
      </p:sp>
      <p:sp>
        <p:nvSpPr>
          <p:cNvPr id="310" name="Google Shape;310;g3fb35e99b17_0_6"/>
          <p:cNvSpPr/>
          <p:nvPr/>
        </p:nvSpPr>
        <p:spPr>
          <a:xfrm>
            <a:off x="733425" y="2571750"/>
            <a:ext cx="1914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Weekly timer</a:t>
            </a:r>
            <a:endParaRPr/>
          </a:p>
        </p:txBody>
      </p:sp>
      <p:sp>
        <p:nvSpPr>
          <p:cNvPr id="311" name="Google Shape;311;g3fb35e99b17_0_6"/>
          <p:cNvSpPr/>
          <p:nvPr/>
        </p:nvSpPr>
        <p:spPr>
          <a:xfrm>
            <a:off x="3571875" y="1238250"/>
            <a:ext cx="2667000" cy="1428900"/>
          </a:xfrm>
          <a:prstGeom prst="roundRect">
            <a:avLst>
              <a:gd fmla="val 14667" name="adj"/>
            </a:avLst>
          </a:prstGeom>
          <a:solidFill>
            <a:srgbClr val="DDEB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b35e99b17_0_6"/>
          <p:cNvSpPr/>
          <p:nvPr/>
        </p:nvSpPr>
        <p:spPr>
          <a:xfrm>
            <a:off x="3743325" y="1428750"/>
            <a:ext cx="2324100" cy="3240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35e99b17_0_6"/>
          <p:cNvSpPr/>
          <p:nvPr/>
        </p:nvSpPr>
        <p:spPr>
          <a:xfrm>
            <a:off x="3838575" y="1447800"/>
            <a:ext cx="213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Run Service</a:t>
            </a:r>
            <a:endParaRPr/>
          </a:p>
        </p:txBody>
      </p:sp>
      <p:sp>
        <p:nvSpPr>
          <p:cNvPr id="314" name="Google Shape;314;g3fb35e99b17_0_6"/>
          <p:cNvSpPr/>
          <p:nvPr/>
        </p:nvSpPr>
        <p:spPr>
          <a:xfrm>
            <a:off x="3781425" y="1952625"/>
            <a:ext cx="2247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/health · /news · /search</a:t>
            </a:r>
            <a:endParaRPr/>
          </a:p>
        </p:txBody>
      </p:sp>
      <p:sp>
        <p:nvSpPr>
          <p:cNvPr id="315" name="Google Shape;315;g3fb35e99b17_0_6"/>
          <p:cNvSpPr/>
          <p:nvPr/>
        </p:nvSpPr>
        <p:spPr>
          <a:xfrm>
            <a:off x="3571875" y="3333750"/>
            <a:ext cx="2667000" cy="1428900"/>
          </a:xfrm>
          <a:prstGeom prst="roundRect">
            <a:avLst>
              <a:gd fmla="val 14667" name="adj"/>
            </a:avLst>
          </a:prstGeom>
          <a:solidFill>
            <a:srgbClr val="E9E7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b35e99b17_0_6"/>
          <p:cNvSpPr/>
          <p:nvPr/>
        </p:nvSpPr>
        <p:spPr>
          <a:xfrm>
            <a:off x="3743325" y="3524250"/>
            <a:ext cx="2324100" cy="324000"/>
          </a:xfrm>
          <a:prstGeom prst="roundRect">
            <a:avLst>
              <a:gd fmla="val 50000" name="adj"/>
            </a:avLst>
          </a:prstGeom>
          <a:solidFill>
            <a:srgbClr val="675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b35e99b17_0_6"/>
          <p:cNvSpPr/>
          <p:nvPr/>
        </p:nvSpPr>
        <p:spPr>
          <a:xfrm>
            <a:off x="3838575" y="3543300"/>
            <a:ext cx="213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Run Job</a:t>
            </a:r>
            <a:endParaRPr/>
          </a:p>
        </p:txBody>
      </p:sp>
      <p:sp>
        <p:nvSpPr>
          <p:cNvPr id="318" name="Google Shape;318;g3fb35e99b17_0_6"/>
          <p:cNvSpPr/>
          <p:nvPr/>
        </p:nvSpPr>
        <p:spPr>
          <a:xfrm>
            <a:off x="3781425" y="4048125"/>
            <a:ext cx="2247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app.pipeline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scrape · enrich · index</a:t>
            </a:r>
            <a:endParaRPr/>
          </a:p>
        </p:txBody>
      </p:sp>
      <p:sp>
        <p:nvSpPr>
          <p:cNvPr id="319" name="Google Shape;319;g3fb35e99b17_0_6"/>
          <p:cNvSpPr/>
          <p:nvPr/>
        </p:nvSpPr>
        <p:spPr>
          <a:xfrm>
            <a:off x="7286625" y="2238375"/>
            <a:ext cx="2857500" cy="1905000"/>
          </a:xfrm>
          <a:prstGeom prst="roundRect">
            <a:avLst>
              <a:gd fmla="val 11000" name="adj"/>
            </a:avLst>
          </a:prstGeom>
          <a:solidFill>
            <a:srgbClr val="E4F8E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b35e99b17_0_6"/>
          <p:cNvSpPr/>
          <p:nvPr/>
        </p:nvSpPr>
        <p:spPr>
          <a:xfrm>
            <a:off x="7458075" y="2428875"/>
            <a:ext cx="2514600" cy="3240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b35e99b17_0_6"/>
          <p:cNvSpPr/>
          <p:nvPr/>
        </p:nvSpPr>
        <p:spPr>
          <a:xfrm>
            <a:off x="7553325" y="2447925"/>
            <a:ext cx="2324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/>
          </a:p>
        </p:txBody>
      </p:sp>
      <p:sp>
        <p:nvSpPr>
          <p:cNvPr id="322" name="Google Shape;322;g3fb35e99b17_0_6"/>
          <p:cNvSpPr/>
          <p:nvPr/>
        </p:nvSpPr>
        <p:spPr>
          <a:xfrm>
            <a:off x="7496175" y="2952750"/>
            <a:ext cx="2438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PostgreSQL + pgvector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news_items · news_chunks</a:t>
            </a:r>
            <a:endParaRPr/>
          </a:p>
        </p:txBody>
      </p:sp>
      <p:sp>
        <p:nvSpPr>
          <p:cNvPr id="323" name="Google Shape;323;g3fb35e99b17_0_6"/>
          <p:cNvSpPr/>
          <p:nvPr/>
        </p:nvSpPr>
        <p:spPr>
          <a:xfrm>
            <a:off x="2952750" y="3714750"/>
            <a:ext cx="4953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b35e99b17_0_6"/>
          <p:cNvSpPr/>
          <p:nvPr/>
        </p:nvSpPr>
        <p:spPr>
          <a:xfrm>
            <a:off x="6477000" y="2352675"/>
            <a:ext cx="5907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b35e99b17_0_6"/>
          <p:cNvSpPr/>
          <p:nvPr/>
        </p:nvSpPr>
        <p:spPr>
          <a:xfrm>
            <a:off x="6477000" y="3876675"/>
            <a:ext cx="5907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5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b35e99b17_0_6"/>
          <p:cNvSpPr/>
          <p:nvPr/>
        </p:nvSpPr>
        <p:spPr>
          <a:xfrm>
            <a:off x="6200775" y="1809750"/>
            <a:ext cx="1047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2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HTTPS requests</a:t>
            </a:r>
            <a:endParaRPr/>
          </a:p>
        </p:txBody>
      </p:sp>
      <p:sp>
        <p:nvSpPr>
          <p:cNvPr id="327" name="Google Shape;327;g3fb35e99b17_0_6"/>
          <p:cNvSpPr/>
          <p:nvPr/>
        </p:nvSpPr>
        <p:spPr>
          <a:xfrm>
            <a:off x="6343650" y="4400550"/>
            <a:ext cx="95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2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Database writes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b35e99b17_0_33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Three accounts and two local tools cover the complete setup</a:t>
            </a:r>
            <a:endParaRPr/>
          </a:p>
        </p:txBody>
      </p:sp>
      <p:sp>
        <p:nvSpPr>
          <p:cNvPr id="334" name="Google Shape;334;g3fb35e99b17_0_33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35" name="Google Shape;335;g3fb35e99b17_0_33"/>
          <p:cNvSpPr/>
          <p:nvPr/>
        </p:nvSpPr>
        <p:spPr>
          <a:xfrm>
            <a:off x="552450" y="1381125"/>
            <a:ext cx="3429000" cy="2143200"/>
          </a:xfrm>
          <a:prstGeom prst="roundRect">
            <a:avLst>
              <a:gd fmla="val 9778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b35e99b17_0_33"/>
          <p:cNvSpPr/>
          <p:nvPr/>
        </p:nvSpPr>
        <p:spPr>
          <a:xfrm>
            <a:off x="781050" y="1619250"/>
            <a:ext cx="514500" cy="514500"/>
          </a:xfrm>
          <a:prstGeom prst="roundRect">
            <a:avLst>
              <a:gd fmla="val 25926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b35e99b17_0_33"/>
          <p:cNvSpPr/>
          <p:nvPr/>
        </p:nvSpPr>
        <p:spPr>
          <a:xfrm>
            <a:off x="781050" y="161925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8" name="Google Shape;338;g3fb35e99b17_0_33"/>
          <p:cNvSpPr/>
          <p:nvPr/>
        </p:nvSpPr>
        <p:spPr>
          <a:xfrm>
            <a:off x="1447800" y="1619250"/>
            <a:ext cx="2190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Google Cloud</a:t>
            </a:r>
            <a:endParaRPr/>
          </a:p>
        </p:txBody>
      </p:sp>
      <p:sp>
        <p:nvSpPr>
          <p:cNvPr id="339" name="Google Shape;339;g3fb35e99b17_0_33"/>
          <p:cNvSpPr/>
          <p:nvPr/>
        </p:nvSpPr>
        <p:spPr>
          <a:xfrm>
            <a:off x="781050" y="2286000"/>
            <a:ext cx="297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Runs containers, stores secrets, schedules the pipeline</a:t>
            </a:r>
            <a:endParaRPr/>
          </a:p>
        </p:txBody>
      </p:sp>
      <p:sp>
        <p:nvSpPr>
          <p:cNvPr id="340" name="Google Shape;340;g3fb35e99b17_0_33"/>
          <p:cNvSpPr/>
          <p:nvPr/>
        </p:nvSpPr>
        <p:spPr>
          <a:xfrm>
            <a:off x="781050" y="3086100"/>
            <a:ext cx="2971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3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cloud.google.com</a:t>
            </a:r>
            <a:endParaRPr/>
          </a:p>
        </p:txBody>
      </p:sp>
      <p:sp>
        <p:nvSpPr>
          <p:cNvPr id="341" name="Google Shape;341;g3fb35e99b17_0_33"/>
          <p:cNvSpPr/>
          <p:nvPr/>
        </p:nvSpPr>
        <p:spPr>
          <a:xfrm>
            <a:off x="4410075" y="1381125"/>
            <a:ext cx="3429000" cy="2143200"/>
          </a:xfrm>
          <a:prstGeom prst="roundRect">
            <a:avLst>
              <a:gd fmla="val 9778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b35e99b17_0_33"/>
          <p:cNvSpPr/>
          <p:nvPr/>
        </p:nvSpPr>
        <p:spPr>
          <a:xfrm>
            <a:off x="4638675" y="1619250"/>
            <a:ext cx="514500" cy="514500"/>
          </a:xfrm>
          <a:prstGeom prst="roundRect">
            <a:avLst>
              <a:gd fmla="val 25926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b35e99b17_0_33"/>
          <p:cNvSpPr/>
          <p:nvPr/>
        </p:nvSpPr>
        <p:spPr>
          <a:xfrm>
            <a:off x="4638675" y="161925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4" name="Google Shape;344;g3fb35e99b17_0_33"/>
          <p:cNvSpPr/>
          <p:nvPr/>
        </p:nvSpPr>
        <p:spPr>
          <a:xfrm>
            <a:off x="5305425" y="1619250"/>
            <a:ext cx="2190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/>
          </a:p>
        </p:txBody>
      </p:sp>
      <p:sp>
        <p:nvSpPr>
          <p:cNvPr id="345" name="Google Shape;345;g3fb35e99b17_0_33"/>
          <p:cNvSpPr/>
          <p:nvPr/>
        </p:nvSpPr>
        <p:spPr>
          <a:xfrm>
            <a:off x="4638675" y="2286000"/>
            <a:ext cx="297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Hosts PostgreSQL and the pgvector extension</a:t>
            </a:r>
            <a:endParaRPr/>
          </a:p>
        </p:txBody>
      </p:sp>
      <p:sp>
        <p:nvSpPr>
          <p:cNvPr id="346" name="Google Shape;346;g3fb35e99b17_0_33"/>
          <p:cNvSpPr/>
          <p:nvPr/>
        </p:nvSpPr>
        <p:spPr>
          <a:xfrm>
            <a:off x="4638675" y="3086100"/>
            <a:ext cx="2971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3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supabase.com</a:t>
            </a:r>
            <a:endParaRPr/>
          </a:p>
        </p:txBody>
      </p:sp>
      <p:sp>
        <p:nvSpPr>
          <p:cNvPr id="347" name="Google Shape;347;g3fb35e99b17_0_33"/>
          <p:cNvSpPr/>
          <p:nvPr/>
        </p:nvSpPr>
        <p:spPr>
          <a:xfrm>
            <a:off x="8267700" y="1381125"/>
            <a:ext cx="3429000" cy="2143200"/>
          </a:xfrm>
          <a:prstGeom prst="roundRect">
            <a:avLst>
              <a:gd fmla="val 9778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b35e99b17_0_33"/>
          <p:cNvSpPr/>
          <p:nvPr/>
        </p:nvSpPr>
        <p:spPr>
          <a:xfrm>
            <a:off x="8496300" y="1619250"/>
            <a:ext cx="514500" cy="514500"/>
          </a:xfrm>
          <a:prstGeom prst="roundRect">
            <a:avLst>
              <a:gd fmla="val 25926" name="adj"/>
            </a:avLst>
          </a:prstGeom>
          <a:solidFill>
            <a:srgbClr val="15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b35e99b17_0_33"/>
          <p:cNvSpPr/>
          <p:nvPr/>
        </p:nvSpPr>
        <p:spPr>
          <a:xfrm>
            <a:off x="8496300" y="161925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0" name="Google Shape;350;g3fb35e99b17_0_33"/>
          <p:cNvSpPr/>
          <p:nvPr/>
        </p:nvSpPr>
        <p:spPr>
          <a:xfrm>
            <a:off x="9163050" y="1619250"/>
            <a:ext cx="2190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/>
          </a:p>
        </p:txBody>
      </p:sp>
      <p:sp>
        <p:nvSpPr>
          <p:cNvPr id="351" name="Google Shape;351;g3fb35e99b17_0_33"/>
          <p:cNvSpPr/>
          <p:nvPr/>
        </p:nvSpPr>
        <p:spPr>
          <a:xfrm>
            <a:off x="8496300" y="2286000"/>
            <a:ext cx="297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Provides enrichment and embedding API access</a:t>
            </a:r>
            <a:endParaRPr/>
          </a:p>
        </p:txBody>
      </p:sp>
      <p:sp>
        <p:nvSpPr>
          <p:cNvPr id="352" name="Google Shape;352;g3fb35e99b17_0_33"/>
          <p:cNvSpPr/>
          <p:nvPr/>
        </p:nvSpPr>
        <p:spPr>
          <a:xfrm>
            <a:off x="8496300" y="3086100"/>
            <a:ext cx="2971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3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platform.openai.com</a:t>
            </a:r>
            <a:endParaRPr/>
          </a:p>
        </p:txBody>
      </p:sp>
      <p:sp>
        <p:nvSpPr>
          <p:cNvPr id="353" name="Google Shape;353;g3fb35e99b17_0_33"/>
          <p:cNvSpPr/>
          <p:nvPr/>
        </p:nvSpPr>
        <p:spPr>
          <a:xfrm>
            <a:off x="2000250" y="4143375"/>
            <a:ext cx="8191500" cy="1143000"/>
          </a:xfrm>
          <a:prstGeom prst="roundRect">
            <a:avLst>
              <a:gd fmla="val 20000" name="adj"/>
            </a:avLst>
          </a:prstGeom>
          <a:solidFill>
            <a:srgbClr val="EAF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b35e99b17_0_33"/>
          <p:cNvSpPr/>
          <p:nvPr/>
        </p:nvSpPr>
        <p:spPr>
          <a:xfrm>
            <a:off x="2333625" y="4324350"/>
            <a:ext cx="21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Local prerequisites</a:t>
            </a:r>
            <a:endParaRPr/>
          </a:p>
        </p:txBody>
      </p:sp>
      <p:sp>
        <p:nvSpPr>
          <p:cNvPr id="355" name="Google Shape;355;g3fb35e99b17_0_33"/>
          <p:cNvSpPr/>
          <p:nvPr/>
        </p:nvSpPr>
        <p:spPr>
          <a:xfrm>
            <a:off x="4762500" y="4305300"/>
            <a:ext cx="1809600" cy="324000"/>
          </a:xfrm>
          <a:prstGeom prst="roundRect">
            <a:avLst>
              <a:gd fmla="val 50000" name="adj"/>
            </a:avLst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b35e99b17_0_33"/>
          <p:cNvSpPr/>
          <p:nvPr/>
        </p:nvSpPr>
        <p:spPr>
          <a:xfrm>
            <a:off x="4857750" y="4324350"/>
            <a:ext cx="1619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 Desktop</a:t>
            </a:r>
            <a:endParaRPr/>
          </a:p>
        </p:txBody>
      </p:sp>
      <p:sp>
        <p:nvSpPr>
          <p:cNvPr id="357" name="Google Shape;357;g3fb35e99b17_0_33"/>
          <p:cNvSpPr/>
          <p:nvPr/>
        </p:nvSpPr>
        <p:spPr>
          <a:xfrm>
            <a:off x="6810375" y="4305300"/>
            <a:ext cx="2000100" cy="3240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b35e99b17_0_33"/>
          <p:cNvSpPr/>
          <p:nvPr/>
        </p:nvSpPr>
        <p:spPr>
          <a:xfrm>
            <a:off x="6905625" y="4324350"/>
            <a:ext cx="180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Cloud CLI</a:t>
            </a:r>
            <a:endParaRPr/>
          </a:p>
        </p:txBody>
      </p:sp>
      <p:sp>
        <p:nvSpPr>
          <p:cNvPr id="359" name="Google Shape;359;g3fb35e99b17_0_33"/>
          <p:cNvSpPr/>
          <p:nvPr/>
        </p:nvSpPr>
        <p:spPr>
          <a:xfrm>
            <a:off x="2333625" y="4810125"/>
            <a:ext cx="733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A billing account is required for Google Cloud, even when usage stays inside free allowances.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b35e99b17_0_64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 working local application provides the baseline for deployment</a:t>
            </a:r>
            <a:endParaRPr/>
          </a:p>
        </p:txBody>
      </p:sp>
      <p:sp>
        <p:nvSpPr>
          <p:cNvPr id="366" name="Google Shape;366;g3fb35e99b17_0_64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67" name="Google Shape;367;g3fb35e99b17_0_64"/>
          <p:cNvSpPr/>
          <p:nvPr/>
        </p:nvSpPr>
        <p:spPr>
          <a:xfrm>
            <a:off x="571500" y="1381125"/>
            <a:ext cx="538170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b35e99b17_0_64"/>
          <p:cNvSpPr/>
          <p:nvPr/>
        </p:nvSpPr>
        <p:spPr>
          <a:xfrm>
            <a:off x="781050" y="1647825"/>
            <a:ext cx="438300" cy="3240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b35e99b17_0_64"/>
          <p:cNvSpPr/>
          <p:nvPr/>
        </p:nvSpPr>
        <p:spPr>
          <a:xfrm>
            <a:off x="876300" y="1666875"/>
            <a:ext cx="247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0" name="Google Shape;370;g3fb35e99b17_0_64"/>
          <p:cNvSpPr/>
          <p:nvPr/>
        </p:nvSpPr>
        <p:spPr>
          <a:xfrm>
            <a:off x="1428750" y="1533525"/>
            <a:ext cx="404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Canonical schema</a:t>
            </a:r>
            <a:endParaRPr/>
          </a:p>
        </p:txBody>
      </p:sp>
      <p:sp>
        <p:nvSpPr>
          <p:cNvPr id="371" name="Google Shape;371;g3fb35e99b17_0_64"/>
          <p:cNvSpPr/>
          <p:nvPr/>
        </p:nvSpPr>
        <p:spPr>
          <a:xfrm>
            <a:off x="1428750" y="1905000"/>
            <a:ext cx="404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One NewsItem shape across scraping, enrichment, storage and API responses</a:t>
            </a:r>
            <a:endParaRPr/>
          </a:p>
        </p:txBody>
      </p:sp>
      <p:sp>
        <p:nvSpPr>
          <p:cNvPr id="372" name="Google Shape;372;g3fb35e99b17_0_64"/>
          <p:cNvSpPr/>
          <p:nvPr/>
        </p:nvSpPr>
        <p:spPr>
          <a:xfrm>
            <a:off x="571500" y="2762250"/>
            <a:ext cx="538170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b35e99b17_0_64"/>
          <p:cNvSpPr/>
          <p:nvPr/>
        </p:nvSpPr>
        <p:spPr>
          <a:xfrm>
            <a:off x="781050" y="3028950"/>
            <a:ext cx="438300" cy="3240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b35e99b17_0_64"/>
          <p:cNvSpPr/>
          <p:nvPr/>
        </p:nvSpPr>
        <p:spPr>
          <a:xfrm>
            <a:off x="876300" y="3048000"/>
            <a:ext cx="247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75" name="Google Shape;375;g3fb35e99b17_0_64"/>
          <p:cNvSpPr/>
          <p:nvPr/>
        </p:nvSpPr>
        <p:spPr>
          <a:xfrm>
            <a:off x="1428750" y="2914650"/>
            <a:ext cx="404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Separate entry points</a:t>
            </a:r>
            <a:endParaRPr/>
          </a:p>
        </p:txBody>
      </p:sp>
      <p:sp>
        <p:nvSpPr>
          <p:cNvPr id="376" name="Google Shape;376;g3fb35e99b17_0_64"/>
          <p:cNvSpPr/>
          <p:nvPr/>
        </p:nvSpPr>
        <p:spPr>
          <a:xfrm>
            <a:off x="1428750" y="3286125"/>
            <a:ext cx="404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app.main serves HTTP; app.pipeline performs batch processing</a:t>
            </a:r>
            <a:endParaRPr/>
          </a:p>
        </p:txBody>
      </p:sp>
      <p:sp>
        <p:nvSpPr>
          <p:cNvPr id="377" name="Google Shape;377;g3fb35e99b17_0_64"/>
          <p:cNvSpPr/>
          <p:nvPr/>
        </p:nvSpPr>
        <p:spPr>
          <a:xfrm>
            <a:off x="571500" y="4143375"/>
            <a:ext cx="538170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b35e99b17_0_64"/>
          <p:cNvSpPr/>
          <p:nvPr/>
        </p:nvSpPr>
        <p:spPr>
          <a:xfrm>
            <a:off x="781050" y="4410075"/>
            <a:ext cx="438300" cy="324000"/>
          </a:xfrm>
          <a:prstGeom prst="roundRect">
            <a:avLst>
              <a:gd fmla="val 50000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b35e99b17_0_64"/>
          <p:cNvSpPr/>
          <p:nvPr/>
        </p:nvSpPr>
        <p:spPr>
          <a:xfrm>
            <a:off x="876300" y="4429125"/>
            <a:ext cx="247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0" name="Google Shape;380;g3fb35e99b17_0_64"/>
          <p:cNvSpPr/>
          <p:nvPr/>
        </p:nvSpPr>
        <p:spPr>
          <a:xfrm>
            <a:off x="1428750" y="4295775"/>
            <a:ext cx="404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Environment file</a:t>
            </a:r>
            <a:endParaRPr/>
          </a:p>
        </p:txBody>
      </p:sp>
      <p:sp>
        <p:nvSpPr>
          <p:cNvPr id="381" name="Google Shape;381;g3fb35e99b17_0_64"/>
          <p:cNvSpPr/>
          <p:nvPr/>
        </p:nvSpPr>
        <p:spPr>
          <a:xfrm>
            <a:off x="1428750" y="4667250"/>
            <a:ext cx="404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.env supplies DATABASE_URL and OPENAI_API_KEY during local development</a:t>
            </a:r>
            <a:endParaRPr/>
          </a:p>
        </p:txBody>
      </p:sp>
      <p:sp>
        <p:nvSpPr>
          <p:cNvPr id="382" name="Google Shape;382;g3fb35e99b17_0_64"/>
          <p:cNvSpPr/>
          <p:nvPr/>
        </p:nvSpPr>
        <p:spPr>
          <a:xfrm>
            <a:off x="6572250" y="1619250"/>
            <a:ext cx="4857900" cy="2714700"/>
          </a:xfrm>
          <a:prstGeom prst="roundRect">
            <a:avLst>
              <a:gd fmla="val 5614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b35e99b17_0_64"/>
          <p:cNvSpPr/>
          <p:nvPr/>
        </p:nvSpPr>
        <p:spPr>
          <a:xfrm>
            <a:off x="6781800" y="1752600"/>
            <a:ext cx="44388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sync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app.database.create_tables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uvicorn app.main:app --reload</a:t>
            </a:r>
            <a:endParaRPr/>
          </a:p>
        </p:txBody>
      </p:sp>
      <p:sp>
        <p:nvSpPr>
          <p:cNvPr id="384" name="Google Shape;384;g3fb35e99b17_0_64"/>
          <p:cNvSpPr/>
          <p:nvPr/>
        </p:nvSpPr>
        <p:spPr>
          <a:xfrm>
            <a:off x="6572250" y="123825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Local checks</a:t>
            </a:r>
            <a:endParaRPr/>
          </a:p>
        </p:txBody>
      </p:sp>
      <p:sp>
        <p:nvSpPr>
          <p:cNvPr id="385" name="Google Shape;385;g3fb35e99b17_0_64"/>
          <p:cNvSpPr/>
          <p:nvPr/>
        </p:nvSpPr>
        <p:spPr>
          <a:xfrm>
            <a:off x="6667500" y="4524375"/>
            <a:ext cx="466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Open http://127.0.0.1:8000/docs and verify the endpoints before introducing cloud infrastructure.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b35e99b17_0_89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4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Docker creates one reproducible package for local and cloud execution</a:t>
            </a:r>
            <a:endParaRPr/>
          </a:p>
        </p:txBody>
      </p:sp>
      <p:sp>
        <p:nvSpPr>
          <p:cNvPr id="392" name="Google Shape;392;g3fb35e99b17_0_89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93" name="Google Shape;393;g3fb35e99b17_0_89"/>
          <p:cNvSpPr/>
          <p:nvPr/>
        </p:nvSpPr>
        <p:spPr>
          <a:xfrm>
            <a:off x="523875" y="1190625"/>
            <a:ext cx="7143900" cy="3905400"/>
          </a:xfrm>
          <a:prstGeom prst="roundRect">
            <a:avLst>
              <a:gd fmla="val 3902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fb35e99b17_0_89"/>
          <p:cNvSpPr/>
          <p:nvPr/>
        </p:nvSpPr>
        <p:spPr>
          <a:xfrm>
            <a:off x="733425" y="1323975"/>
            <a:ext cx="67248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python:3.12-slim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RUN pip install --no-cache-dir uv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COPY pyproject.toml uv.lock ./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RUN uv sync --frozen --no-dev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COPY app ./app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ENV PATH="/app/.venv/bin:$PATH"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CMD ["sh", "-c", "uvicorn app.main:app --host 0.0.0.0 --port ${PORT:-8080}"]</a:t>
            </a:r>
            <a:endParaRPr/>
          </a:p>
        </p:txBody>
      </p:sp>
      <p:sp>
        <p:nvSpPr>
          <p:cNvPr id="395" name="Google Shape;395;g3fb35e99b17_0_89"/>
          <p:cNvSpPr/>
          <p:nvPr/>
        </p:nvSpPr>
        <p:spPr>
          <a:xfrm>
            <a:off x="8048625" y="1381125"/>
            <a:ext cx="3429000" cy="10002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b35e99b17_0_89"/>
          <p:cNvSpPr/>
          <p:nvPr/>
        </p:nvSpPr>
        <p:spPr>
          <a:xfrm>
            <a:off x="8258175" y="1524000"/>
            <a:ext cx="295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Dependencies</a:t>
            </a:r>
            <a:endParaRPr/>
          </a:p>
        </p:txBody>
      </p:sp>
      <p:sp>
        <p:nvSpPr>
          <p:cNvPr id="397" name="Google Shape;397;g3fb35e99b17_0_89"/>
          <p:cNvSpPr/>
          <p:nvPr/>
        </p:nvSpPr>
        <p:spPr>
          <a:xfrm>
            <a:off x="8258175" y="1838325"/>
            <a:ext cx="29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uv installs the locked Python environment</a:t>
            </a:r>
            <a:endParaRPr/>
          </a:p>
        </p:txBody>
      </p:sp>
      <p:sp>
        <p:nvSpPr>
          <p:cNvPr id="398" name="Google Shape;398;g3fb35e99b17_0_89"/>
          <p:cNvSpPr/>
          <p:nvPr/>
        </p:nvSpPr>
        <p:spPr>
          <a:xfrm>
            <a:off x="8048625" y="2667000"/>
            <a:ext cx="3429000" cy="1000200"/>
          </a:xfrm>
          <a:prstGeom prst="roundRect">
            <a:avLst>
              <a:gd fmla="val 17143" name="adj"/>
            </a:avLst>
          </a:prstGeom>
          <a:solidFill>
            <a:srgbClr val="DDEB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b35e99b17_0_89"/>
          <p:cNvSpPr/>
          <p:nvPr/>
        </p:nvSpPr>
        <p:spPr>
          <a:xfrm>
            <a:off x="8258175" y="2809875"/>
            <a:ext cx="295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400" name="Google Shape;400;g3fb35e99b17_0_89"/>
          <p:cNvSpPr/>
          <p:nvPr/>
        </p:nvSpPr>
        <p:spPr>
          <a:xfrm>
            <a:off x="8258175" y="3124200"/>
            <a:ext cx="29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44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Uvicorn listens on 0.0.0.0 and Cloud Run's PORT</a:t>
            </a:r>
            <a:endParaRPr/>
          </a:p>
        </p:txBody>
      </p:sp>
      <p:sp>
        <p:nvSpPr>
          <p:cNvPr id="401" name="Google Shape;401;g3fb35e99b17_0_89"/>
          <p:cNvSpPr/>
          <p:nvPr/>
        </p:nvSpPr>
        <p:spPr>
          <a:xfrm>
            <a:off x="8048625" y="3952875"/>
            <a:ext cx="3429000" cy="10002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b35e99b17_0_89"/>
          <p:cNvSpPr/>
          <p:nvPr/>
        </p:nvSpPr>
        <p:spPr>
          <a:xfrm>
            <a:off x="8258175" y="4095750"/>
            <a:ext cx="295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Entrypoint</a:t>
            </a:r>
            <a:endParaRPr/>
          </a:p>
        </p:txBody>
      </p:sp>
      <p:sp>
        <p:nvSpPr>
          <p:cNvPr id="403" name="Google Shape;403;g3fb35e99b17_0_89"/>
          <p:cNvSpPr/>
          <p:nvPr/>
        </p:nvSpPr>
        <p:spPr>
          <a:xfrm>
            <a:off x="8258175" y="4410075"/>
            <a:ext cx="29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44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The default container starts the FastAPI service</a:t>
            </a:r>
            <a:endParaRPr/>
          </a:p>
        </p:txBody>
      </p:sp>
      <p:sp>
        <p:nvSpPr>
          <p:cNvPr id="404" name="Google Shape;404;g3fb35e99b17_0_89"/>
          <p:cNvSpPr/>
          <p:nvPr/>
        </p:nvSpPr>
        <p:spPr>
          <a:xfrm>
            <a:off x="523875" y="5429250"/>
            <a:ext cx="10953900" cy="781200"/>
          </a:xfrm>
          <a:prstGeom prst="roundRect">
            <a:avLst>
              <a:gd fmla="val 19512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b35e99b17_0_89"/>
          <p:cNvSpPr/>
          <p:nvPr/>
        </p:nvSpPr>
        <p:spPr>
          <a:xfrm>
            <a:off x="733425" y="5562600"/>
            <a:ext cx="1053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-t ai-news-api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--rm --env-file .env -e PORT=8080 -p 8080:8080 ai-news-api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b35e99b17_0_108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4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Supabase supplies PostgreSQL and pgvector without a Cloud SQL instance</a:t>
            </a:r>
            <a:endParaRPr/>
          </a:p>
        </p:txBody>
      </p:sp>
      <p:sp>
        <p:nvSpPr>
          <p:cNvPr id="412" name="Google Shape;412;g3fb35e99b17_0_108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13" name="Google Shape;413;g3fb35e99b17_0_108"/>
          <p:cNvSpPr/>
          <p:nvPr/>
        </p:nvSpPr>
        <p:spPr>
          <a:xfrm>
            <a:off x="523875" y="1381125"/>
            <a:ext cx="2381400" cy="12384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b35e99b17_0_108"/>
          <p:cNvSpPr/>
          <p:nvPr/>
        </p:nvSpPr>
        <p:spPr>
          <a:xfrm>
            <a:off x="695325" y="154305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15" name="Google Shape;415;g3fb35e99b17_0_108"/>
          <p:cNvSpPr/>
          <p:nvPr/>
        </p:nvSpPr>
        <p:spPr>
          <a:xfrm>
            <a:off x="1114425" y="1504950"/>
            <a:ext cx="157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/>
          </a:p>
        </p:txBody>
      </p:sp>
      <p:sp>
        <p:nvSpPr>
          <p:cNvPr id="416" name="Google Shape;416;g3fb35e99b17_0_108"/>
          <p:cNvSpPr/>
          <p:nvPr/>
        </p:nvSpPr>
        <p:spPr>
          <a:xfrm>
            <a:off x="733425" y="1981200"/>
            <a:ext cx="1952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Free Supabase project</a:t>
            </a:r>
            <a:endParaRPr/>
          </a:p>
        </p:txBody>
      </p:sp>
      <p:sp>
        <p:nvSpPr>
          <p:cNvPr id="417" name="Google Shape;417;g3fb35e99b17_0_108"/>
          <p:cNvSpPr/>
          <p:nvPr/>
        </p:nvSpPr>
        <p:spPr>
          <a:xfrm>
            <a:off x="2952750" y="18478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b35e99b17_0_108"/>
          <p:cNvSpPr/>
          <p:nvPr/>
        </p:nvSpPr>
        <p:spPr>
          <a:xfrm>
            <a:off x="3333750" y="1381125"/>
            <a:ext cx="2381400" cy="1238400"/>
          </a:xfrm>
          <a:prstGeom prst="roundRect">
            <a:avLst>
              <a:gd fmla="val 15385" name="adj"/>
            </a:avLst>
          </a:prstGeom>
          <a:solidFill>
            <a:srgbClr val="E4F8E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b35e99b17_0_108"/>
          <p:cNvSpPr/>
          <p:nvPr/>
        </p:nvSpPr>
        <p:spPr>
          <a:xfrm>
            <a:off x="3505200" y="154305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0" name="Google Shape;420;g3fb35e99b17_0_108"/>
          <p:cNvSpPr/>
          <p:nvPr/>
        </p:nvSpPr>
        <p:spPr>
          <a:xfrm>
            <a:off x="3924300" y="1504950"/>
            <a:ext cx="157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Enable</a:t>
            </a:r>
            <a:endParaRPr/>
          </a:p>
        </p:txBody>
      </p:sp>
      <p:sp>
        <p:nvSpPr>
          <p:cNvPr id="421" name="Google Shape;421;g3fb35e99b17_0_108"/>
          <p:cNvSpPr/>
          <p:nvPr/>
        </p:nvSpPr>
        <p:spPr>
          <a:xfrm>
            <a:off x="3543300" y="1981200"/>
            <a:ext cx="1952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vector extension</a:t>
            </a:r>
            <a:endParaRPr/>
          </a:p>
        </p:txBody>
      </p:sp>
      <p:sp>
        <p:nvSpPr>
          <p:cNvPr id="422" name="Google Shape;422;g3fb35e99b17_0_108"/>
          <p:cNvSpPr/>
          <p:nvPr/>
        </p:nvSpPr>
        <p:spPr>
          <a:xfrm>
            <a:off x="5762625" y="18478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b35e99b17_0_108"/>
          <p:cNvSpPr/>
          <p:nvPr/>
        </p:nvSpPr>
        <p:spPr>
          <a:xfrm>
            <a:off x="6143625" y="1381125"/>
            <a:ext cx="2381400" cy="12384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fb35e99b17_0_108"/>
          <p:cNvSpPr/>
          <p:nvPr/>
        </p:nvSpPr>
        <p:spPr>
          <a:xfrm>
            <a:off x="6315075" y="154305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25" name="Google Shape;425;g3fb35e99b17_0_108"/>
          <p:cNvSpPr/>
          <p:nvPr/>
        </p:nvSpPr>
        <p:spPr>
          <a:xfrm>
            <a:off x="6734175" y="1504950"/>
            <a:ext cx="157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/>
          </a:p>
        </p:txBody>
      </p:sp>
      <p:sp>
        <p:nvSpPr>
          <p:cNvPr id="426" name="Google Shape;426;g3fb35e99b17_0_108"/>
          <p:cNvSpPr/>
          <p:nvPr/>
        </p:nvSpPr>
        <p:spPr>
          <a:xfrm>
            <a:off x="6353175" y="1981200"/>
            <a:ext cx="1952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Session pooler URI</a:t>
            </a:r>
            <a:endParaRPr/>
          </a:p>
        </p:txBody>
      </p:sp>
      <p:sp>
        <p:nvSpPr>
          <p:cNvPr id="427" name="Google Shape;427;g3fb35e99b17_0_108"/>
          <p:cNvSpPr/>
          <p:nvPr/>
        </p:nvSpPr>
        <p:spPr>
          <a:xfrm>
            <a:off x="8572500" y="18478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b35e99b17_0_108"/>
          <p:cNvSpPr/>
          <p:nvPr/>
        </p:nvSpPr>
        <p:spPr>
          <a:xfrm>
            <a:off x="8953500" y="1381125"/>
            <a:ext cx="2381400" cy="12384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b35e99b17_0_108"/>
          <p:cNvSpPr/>
          <p:nvPr/>
        </p:nvSpPr>
        <p:spPr>
          <a:xfrm>
            <a:off x="9124950" y="154305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30" name="Google Shape;430;g3fb35e99b17_0_108"/>
          <p:cNvSpPr/>
          <p:nvPr/>
        </p:nvSpPr>
        <p:spPr>
          <a:xfrm>
            <a:off x="9544050" y="1504950"/>
            <a:ext cx="157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Initialize</a:t>
            </a:r>
            <a:endParaRPr/>
          </a:p>
        </p:txBody>
      </p:sp>
      <p:sp>
        <p:nvSpPr>
          <p:cNvPr id="431" name="Google Shape;431;g3fb35e99b17_0_108"/>
          <p:cNvSpPr/>
          <p:nvPr/>
        </p:nvSpPr>
        <p:spPr>
          <a:xfrm>
            <a:off x="9163050" y="1981200"/>
            <a:ext cx="1952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project tables</a:t>
            </a:r>
            <a:endParaRPr/>
          </a:p>
        </p:txBody>
      </p:sp>
      <p:sp>
        <p:nvSpPr>
          <p:cNvPr id="432" name="Google Shape;432;g3fb35e99b17_0_108"/>
          <p:cNvSpPr/>
          <p:nvPr/>
        </p:nvSpPr>
        <p:spPr>
          <a:xfrm>
            <a:off x="523875" y="3048000"/>
            <a:ext cx="11144400" cy="743100"/>
          </a:xfrm>
          <a:prstGeom prst="roundRect">
            <a:avLst>
              <a:gd fmla="val 2051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fb35e99b17_0_108"/>
          <p:cNvSpPr/>
          <p:nvPr/>
        </p:nvSpPr>
        <p:spPr>
          <a:xfrm>
            <a:off x="733425" y="3181350"/>
            <a:ext cx="10725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DATABASE_URL=postgresql://postgres.PROJECT_REF:PASSWORD@POOLER_HOST:5432/postgres?sslmode=require</a:t>
            </a:r>
            <a:endParaRPr/>
          </a:p>
        </p:txBody>
      </p:sp>
      <p:sp>
        <p:nvSpPr>
          <p:cNvPr id="434" name="Google Shape;434;g3fb35e99b17_0_108"/>
          <p:cNvSpPr/>
          <p:nvPr/>
        </p:nvSpPr>
        <p:spPr>
          <a:xfrm>
            <a:off x="523875" y="4048125"/>
            <a:ext cx="11144400" cy="1476300"/>
          </a:xfrm>
          <a:prstGeom prst="roundRect">
            <a:avLst>
              <a:gd fmla="val 1032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b35e99b17_0_108"/>
          <p:cNvSpPr/>
          <p:nvPr/>
        </p:nvSpPr>
        <p:spPr>
          <a:xfrm>
            <a:off x="733425" y="4181475"/>
            <a:ext cx="107253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-c "from sqlalchemy import text; from app.database.connection import engine; c=engine.connect(); print(c.execute(text('SELECT version()')).scalar()); c.close()"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app.database.create_tables</a:t>
            </a:r>
            <a:endParaRPr/>
          </a:p>
        </p:txBody>
      </p:sp>
      <p:sp>
        <p:nvSpPr>
          <p:cNvPr id="436" name="Google Shape;436;g3fb35e99b17_0_108"/>
          <p:cNvSpPr/>
          <p:nvPr/>
        </p:nvSpPr>
        <p:spPr>
          <a:xfrm>
            <a:off x="3000375" y="5810250"/>
            <a:ext cx="1619100" cy="3240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b35e99b17_0_108"/>
          <p:cNvSpPr/>
          <p:nvPr/>
        </p:nvSpPr>
        <p:spPr>
          <a:xfrm>
            <a:off x="3095625" y="58293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news_items</a:t>
            </a:r>
            <a:endParaRPr/>
          </a:p>
        </p:txBody>
      </p:sp>
      <p:sp>
        <p:nvSpPr>
          <p:cNvPr id="438" name="Google Shape;438;g3fb35e99b17_0_108"/>
          <p:cNvSpPr/>
          <p:nvPr/>
        </p:nvSpPr>
        <p:spPr>
          <a:xfrm>
            <a:off x="4857750" y="5810250"/>
            <a:ext cx="1714500" cy="3240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b35e99b17_0_108"/>
          <p:cNvSpPr/>
          <p:nvPr/>
        </p:nvSpPr>
        <p:spPr>
          <a:xfrm>
            <a:off x="4953000" y="5829300"/>
            <a:ext cx="152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news_chunks</a:t>
            </a:r>
            <a:endParaRPr/>
          </a:p>
        </p:txBody>
      </p:sp>
      <p:sp>
        <p:nvSpPr>
          <p:cNvPr id="440" name="Google Shape;440;g3fb35e99b17_0_108"/>
          <p:cNvSpPr/>
          <p:nvPr/>
        </p:nvSpPr>
        <p:spPr>
          <a:xfrm>
            <a:off x="6810375" y="5810250"/>
            <a:ext cx="1809600" cy="324000"/>
          </a:xfrm>
          <a:prstGeom prst="roundRect">
            <a:avLst>
              <a:gd fmla="val 50000" name="adj"/>
            </a:avLst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b35e99b17_0_108"/>
          <p:cNvSpPr/>
          <p:nvPr/>
        </p:nvSpPr>
        <p:spPr>
          <a:xfrm>
            <a:off x="6905625" y="5829300"/>
            <a:ext cx="1619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enabled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b35e99b17_0_143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66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Enabling all required APIs </a:t>
            </a:r>
            <a:endParaRPr/>
          </a:p>
        </p:txBody>
      </p:sp>
      <p:sp>
        <p:nvSpPr>
          <p:cNvPr id="448" name="Google Shape;448;g3fb35e99b17_0_143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449" name="Google Shape;449;g3fb35e99b17_0_143"/>
          <p:cNvSpPr/>
          <p:nvPr/>
        </p:nvSpPr>
        <p:spPr>
          <a:xfrm>
            <a:off x="523875" y="1238250"/>
            <a:ext cx="6429300" cy="3714900"/>
          </a:xfrm>
          <a:prstGeom prst="roundRect">
            <a:avLst>
              <a:gd fmla="val 410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b35e99b17_0_143"/>
          <p:cNvSpPr/>
          <p:nvPr/>
        </p:nvSpPr>
        <p:spPr>
          <a:xfrm>
            <a:off x="733425" y="1371600"/>
            <a:ext cx="60102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auth 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config set project YOUR_PROJECT_ID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75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services enable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run.googleapis.com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cloudbuild.googleapis.com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artifactregistry.googleapis.com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secretmanager.googleapis.com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cloudscheduler.googleapis.com</a:t>
            </a:r>
            <a:endParaRPr/>
          </a:p>
        </p:txBody>
      </p:sp>
      <p:sp>
        <p:nvSpPr>
          <p:cNvPr id="451" name="Google Shape;451;g3fb35e99b17_0_143"/>
          <p:cNvSpPr/>
          <p:nvPr/>
        </p:nvSpPr>
        <p:spPr>
          <a:xfrm>
            <a:off x="7381875" y="1190625"/>
            <a:ext cx="4095900" cy="7143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fb35e99b17_0_143"/>
          <p:cNvSpPr/>
          <p:nvPr/>
        </p:nvSpPr>
        <p:spPr>
          <a:xfrm>
            <a:off x="7581900" y="1352550"/>
            <a:ext cx="381000" cy="381000"/>
          </a:xfrm>
          <a:prstGeom prst="roundRect">
            <a:avLst>
              <a:gd fmla="val 3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b35e99b17_0_143"/>
          <p:cNvSpPr/>
          <p:nvPr/>
        </p:nvSpPr>
        <p:spPr>
          <a:xfrm>
            <a:off x="7581900" y="13525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4" name="Google Shape;454;g3fb35e99b17_0_143"/>
          <p:cNvSpPr/>
          <p:nvPr/>
        </p:nvSpPr>
        <p:spPr>
          <a:xfrm>
            <a:off x="8143875" y="1285875"/>
            <a:ext cx="3048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/>
          </a:p>
        </p:txBody>
      </p:sp>
      <p:sp>
        <p:nvSpPr>
          <p:cNvPr id="455" name="Google Shape;455;g3fb35e99b17_0_143"/>
          <p:cNvSpPr/>
          <p:nvPr/>
        </p:nvSpPr>
        <p:spPr>
          <a:xfrm>
            <a:off x="8143875" y="1552575"/>
            <a:ext cx="30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Container service and batch job</a:t>
            </a:r>
            <a:endParaRPr/>
          </a:p>
        </p:txBody>
      </p:sp>
      <p:sp>
        <p:nvSpPr>
          <p:cNvPr id="456" name="Google Shape;456;g3fb35e99b17_0_143"/>
          <p:cNvSpPr/>
          <p:nvPr/>
        </p:nvSpPr>
        <p:spPr>
          <a:xfrm>
            <a:off x="7381875" y="2085975"/>
            <a:ext cx="4095900" cy="7143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b35e99b17_0_143"/>
          <p:cNvSpPr/>
          <p:nvPr/>
        </p:nvSpPr>
        <p:spPr>
          <a:xfrm>
            <a:off x="7581900" y="2247900"/>
            <a:ext cx="381000" cy="381000"/>
          </a:xfrm>
          <a:prstGeom prst="roundRect">
            <a:avLst>
              <a:gd fmla="val 3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b35e99b17_0_143"/>
          <p:cNvSpPr/>
          <p:nvPr/>
        </p:nvSpPr>
        <p:spPr>
          <a:xfrm>
            <a:off x="7581900" y="2247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59" name="Google Shape;459;g3fb35e99b17_0_143"/>
          <p:cNvSpPr/>
          <p:nvPr/>
        </p:nvSpPr>
        <p:spPr>
          <a:xfrm>
            <a:off x="8143875" y="2181225"/>
            <a:ext cx="3048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Cloud Build</a:t>
            </a:r>
            <a:endParaRPr/>
          </a:p>
        </p:txBody>
      </p:sp>
      <p:sp>
        <p:nvSpPr>
          <p:cNvPr id="460" name="Google Shape;460;g3fb35e99b17_0_143"/>
          <p:cNvSpPr/>
          <p:nvPr/>
        </p:nvSpPr>
        <p:spPr>
          <a:xfrm>
            <a:off x="8143875" y="2447925"/>
            <a:ext cx="30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Build image from source</a:t>
            </a:r>
            <a:endParaRPr/>
          </a:p>
        </p:txBody>
      </p:sp>
      <p:sp>
        <p:nvSpPr>
          <p:cNvPr id="461" name="Google Shape;461;g3fb35e99b17_0_143"/>
          <p:cNvSpPr/>
          <p:nvPr/>
        </p:nvSpPr>
        <p:spPr>
          <a:xfrm>
            <a:off x="7381875" y="2981325"/>
            <a:ext cx="4095900" cy="7143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b35e99b17_0_143"/>
          <p:cNvSpPr/>
          <p:nvPr/>
        </p:nvSpPr>
        <p:spPr>
          <a:xfrm>
            <a:off x="7581900" y="3143250"/>
            <a:ext cx="381000" cy="381000"/>
          </a:xfrm>
          <a:prstGeom prst="roundRect">
            <a:avLst>
              <a:gd fmla="val 30000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35e99b17_0_143"/>
          <p:cNvSpPr/>
          <p:nvPr/>
        </p:nvSpPr>
        <p:spPr>
          <a:xfrm>
            <a:off x="7581900" y="31432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64" name="Google Shape;464;g3fb35e99b17_0_143"/>
          <p:cNvSpPr/>
          <p:nvPr/>
        </p:nvSpPr>
        <p:spPr>
          <a:xfrm>
            <a:off x="8143875" y="3076575"/>
            <a:ext cx="3048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Artifact Registry</a:t>
            </a:r>
            <a:endParaRPr/>
          </a:p>
        </p:txBody>
      </p:sp>
      <p:sp>
        <p:nvSpPr>
          <p:cNvPr id="465" name="Google Shape;465;g3fb35e99b17_0_143"/>
          <p:cNvSpPr/>
          <p:nvPr/>
        </p:nvSpPr>
        <p:spPr>
          <a:xfrm>
            <a:off x="8143875" y="3343275"/>
            <a:ext cx="30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Store container image</a:t>
            </a:r>
            <a:endParaRPr/>
          </a:p>
        </p:txBody>
      </p:sp>
      <p:sp>
        <p:nvSpPr>
          <p:cNvPr id="466" name="Google Shape;466;g3fb35e99b17_0_143"/>
          <p:cNvSpPr/>
          <p:nvPr/>
        </p:nvSpPr>
        <p:spPr>
          <a:xfrm>
            <a:off x="7381875" y="3876675"/>
            <a:ext cx="4095900" cy="7143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b35e99b17_0_143"/>
          <p:cNvSpPr/>
          <p:nvPr/>
        </p:nvSpPr>
        <p:spPr>
          <a:xfrm>
            <a:off x="7581900" y="4038600"/>
            <a:ext cx="381000" cy="381000"/>
          </a:xfrm>
          <a:prstGeom prst="roundRect">
            <a:avLst>
              <a:gd fmla="val 3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fb35e99b17_0_143"/>
          <p:cNvSpPr/>
          <p:nvPr/>
        </p:nvSpPr>
        <p:spPr>
          <a:xfrm>
            <a:off x="75819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69" name="Google Shape;469;g3fb35e99b17_0_143"/>
          <p:cNvSpPr/>
          <p:nvPr/>
        </p:nvSpPr>
        <p:spPr>
          <a:xfrm>
            <a:off x="8143875" y="3971925"/>
            <a:ext cx="3048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Secret Manager</a:t>
            </a:r>
            <a:endParaRPr/>
          </a:p>
        </p:txBody>
      </p:sp>
      <p:sp>
        <p:nvSpPr>
          <p:cNvPr id="470" name="Google Shape;470;g3fb35e99b17_0_143"/>
          <p:cNvSpPr/>
          <p:nvPr/>
        </p:nvSpPr>
        <p:spPr>
          <a:xfrm>
            <a:off x="8143875" y="4238625"/>
            <a:ext cx="30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Store credentials</a:t>
            </a:r>
            <a:endParaRPr/>
          </a:p>
        </p:txBody>
      </p:sp>
      <p:sp>
        <p:nvSpPr>
          <p:cNvPr id="471" name="Google Shape;471;g3fb35e99b17_0_143"/>
          <p:cNvSpPr/>
          <p:nvPr/>
        </p:nvSpPr>
        <p:spPr>
          <a:xfrm>
            <a:off x="7381875" y="4772025"/>
            <a:ext cx="4095900" cy="714300"/>
          </a:xfrm>
          <a:prstGeom prst="roundRect">
            <a:avLst>
              <a:gd fmla="val 21333" name="adj"/>
            </a:avLst>
          </a:prstGeom>
          <a:solidFill>
            <a:srgbClr val="FDE9E7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fb35e99b17_0_143"/>
          <p:cNvSpPr/>
          <p:nvPr/>
        </p:nvSpPr>
        <p:spPr>
          <a:xfrm>
            <a:off x="7581900" y="4933950"/>
            <a:ext cx="381000" cy="381000"/>
          </a:xfrm>
          <a:prstGeom prst="roundRect">
            <a:avLst>
              <a:gd fmla="val 30000" name="adj"/>
            </a:avLst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fb35e99b17_0_143"/>
          <p:cNvSpPr/>
          <p:nvPr/>
        </p:nvSpPr>
        <p:spPr>
          <a:xfrm>
            <a:off x="7581900" y="49339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74" name="Google Shape;474;g3fb35e99b17_0_143"/>
          <p:cNvSpPr/>
          <p:nvPr/>
        </p:nvSpPr>
        <p:spPr>
          <a:xfrm>
            <a:off x="8143875" y="4867275"/>
            <a:ext cx="3048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Cloud Scheduler</a:t>
            </a:r>
            <a:endParaRPr/>
          </a:p>
        </p:txBody>
      </p:sp>
      <p:sp>
        <p:nvSpPr>
          <p:cNvPr id="475" name="Google Shape;475;g3fb35e99b17_0_143"/>
          <p:cNvSpPr/>
          <p:nvPr/>
        </p:nvSpPr>
        <p:spPr>
          <a:xfrm>
            <a:off x="8143875" y="5133975"/>
            <a:ext cx="30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Trigger weekly execution</a:t>
            </a:r>
            <a:endParaRPr/>
          </a:p>
        </p:txBody>
      </p:sp>
      <p:sp>
        <p:nvSpPr>
          <p:cNvPr id="476" name="Google Shape;476;g3fb35e99b17_0_143"/>
          <p:cNvSpPr/>
          <p:nvPr/>
        </p:nvSpPr>
        <p:spPr>
          <a:xfrm>
            <a:off x="523875" y="5286375"/>
            <a:ext cx="10953900" cy="714300"/>
          </a:xfrm>
          <a:prstGeom prst="roundRect">
            <a:avLst>
              <a:gd fmla="val 24000" name="adj"/>
            </a:avLst>
          </a:prstGeom>
          <a:solidFill>
            <a:srgbClr val="FF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b35e99b17_0_143"/>
          <p:cNvSpPr/>
          <p:nvPr/>
        </p:nvSpPr>
        <p:spPr>
          <a:xfrm>
            <a:off x="742950" y="5448300"/>
            <a:ext cx="1476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Lesson learned</a:t>
            </a:r>
            <a:endParaRPr/>
          </a:p>
        </p:txBody>
      </p:sp>
      <p:sp>
        <p:nvSpPr>
          <p:cNvPr id="478" name="Google Shape;478;g3fb35e99b17_0_143"/>
          <p:cNvSpPr/>
          <p:nvPr/>
        </p:nvSpPr>
        <p:spPr>
          <a:xfrm>
            <a:off x="2333625" y="5391150"/>
            <a:ext cx="88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The Scheduler console showed “no access” until cloudscheduler.googleapis.com was enabled for this project.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b35e99b17_0_179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2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Secret Manager keeps database and OpenAI credentials outside the image</a:t>
            </a:r>
            <a:endParaRPr/>
          </a:p>
        </p:txBody>
      </p:sp>
      <p:sp>
        <p:nvSpPr>
          <p:cNvPr id="485" name="Google Shape;485;g3fb35e99b17_0_179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486" name="Google Shape;486;g3fb35e99b17_0_179"/>
          <p:cNvSpPr/>
          <p:nvPr/>
        </p:nvSpPr>
        <p:spPr>
          <a:xfrm>
            <a:off x="619125" y="1285875"/>
            <a:ext cx="3905400" cy="1428900"/>
          </a:xfrm>
          <a:prstGeom prst="roundRect">
            <a:avLst>
              <a:gd fmla="val 14667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b35e99b17_0_179"/>
          <p:cNvSpPr/>
          <p:nvPr/>
        </p:nvSpPr>
        <p:spPr>
          <a:xfrm>
            <a:off x="857250" y="1571625"/>
            <a:ext cx="514500" cy="5145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b35e99b17_0_179"/>
          <p:cNvSpPr/>
          <p:nvPr/>
        </p:nvSpPr>
        <p:spPr>
          <a:xfrm>
            <a:off x="857250" y="156210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89" name="Google Shape;489;g3fb35e99b17_0_179"/>
          <p:cNvSpPr/>
          <p:nvPr/>
        </p:nvSpPr>
        <p:spPr>
          <a:xfrm>
            <a:off x="1571625" y="1457325"/>
            <a:ext cx="2667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database-url</a:t>
            </a:r>
            <a:endParaRPr/>
          </a:p>
        </p:txBody>
      </p:sp>
      <p:sp>
        <p:nvSpPr>
          <p:cNvPr id="490" name="Google Shape;490;g3fb35e99b17_0_179"/>
          <p:cNvSpPr/>
          <p:nvPr/>
        </p:nvSpPr>
        <p:spPr>
          <a:xfrm>
            <a:off x="1571625" y="1885950"/>
            <a:ext cx="266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Complete Supabase connection URI</a:t>
            </a:r>
            <a:endParaRPr/>
          </a:p>
        </p:txBody>
      </p:sp>
      <p:sp>
        <p:nvSpPr>
          <p:cNvPr id="491" name="Google Shape;491;g3fb35e99b17_0_179"/>
          <p:cNvSpPr/>
          <p:nvPr/>
        </p:nvSpPr>
        <p:spPr>
          <a:xfrm>
            <a:off x="1571625" y="2286000"/>
            <a:ext cx="23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Paste only the value</a:t>
            </a:r>
            <a:endParaRPr/>
          </a:p>
        </p:txBody>
      </p:sp>
      <p:sp>
        <p:nvSpPr>
          <p:cNvPr id="492" name="Google Shape;492;g3fb35e99b17_0_179"/>
          <p:cNvSpPr/>
          <p:nvPr/>
        </p:nvSpPr>
        <p:spPr>
          <a:xfrm>
            <a:off x="5000625" y="1285875"/>
            <a:ext cx="3905400" cy="1428900"/>
          </a:xfrm>
          <a:prstGeom prst="roundRect">
            <a:avLst>
              <a:gd fmla="val 14667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b35e99b17_0_179"/>
          <p:cNvSpPr/>
          <p:nvPr/>
        </p:nvSpPr>
        <p:spPr>
          <a:xfrm>
            <a:off x="5238750" y="1571625"/>
            <a:ext cx="514500" cy="514500"/>
          </a:xfrm>
          <a:prstGeom prst="roundRect">
            <a:avLst>
              <a:gd fmla="val 50000" name="adj"/>
            </a:avLst>
          </a:prstGeom>
          <a:solidFill>
            <a:srgbClr val="15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b35e99b17_0_179"/>
          <p:cNvSpPr/>
          <p:nvPr/>
        </p:nvSpPr>
        <p:spPr>
          <a:xfrm>
            <a:off x="5238750" y="156210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95" name="Google Shape;495;g3fb35e99b17_0_179"/>
          <p:cNvSpPr/>
          <p:nvPr/>
        </p:nvSpPr>
        <p:spPr>
          <a:xfrm>
            <a:off x="5953125" y="1457325"/>
            <a:ext cx="2667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openai-api-key</a:t>
            </a:r>
            <a:endParaRPr/>
          </a:p>
        </p:txBody>
      </p:sp>
      <p:sp>
        <p:nvSpPr>
          <p:cNvPr id="496" name="Google Shape;496;g3fb35e99b17_0_179"/>
          <p:cNvSpPr/>
          <p:nvPr/>
        </p:nvSpPr>
        <p:spPr>
          <a:xfrm>
            <a:off x="5953125" y="1885950"/>
            <a:ext cx="266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OpenAI project API key</a:t>
            </a:r>
            <a:endParaRPr/>
          </a:p>
        </p:txBody>
      </p:sp>
      <p:sp>
        <p:nvSpPr>
          <p:cNvPr id="497" name="Google Shape;497;g3fb35e99b17_0_179"/>
          <p:cNvSpPr/>
          <p:nvPr/>
        </p:nvSpPr>
        <p:spPr>
          <a:xfrm>
            <a:off x="5953125" y="2286000"/>
            <a:ext cx="23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Paste only the value</a:t>
            </a:r>
            <a:endParaRPr/>
          </a:p>
        </p:txBody>
      </p:sp>
      <p:sp>
        <p:nvSpPr>
          <p:cNvPr id="498" name="Google Shape;498;g3fb35e99b17_0_179"/>
          <p:cNvSpPr/>
          <p:nvPr/>
        </p:nvSpPr>
        <p:spPr>
          <a:xfrm>
            <a:off x="9048750" y="1809750"/>
            <a:ext cx="743100" cy="36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b35e99b17_0_179"/>
          <p:cNvSpPr/>
          <p:nvPr/>
        </p:nvSpPr>
        <p:spPr>
          <a:xfrm>
            <a:off x="10001250" y="1381125"/>
            <a:ext cx="1571700" cy="1238400"/>
          </a:xfrm>
          <a:prstGeom prst="roundRect">
            <a:avLst>
              <a:gd fmla="val 16923" name="adj"/>
            </a:avLst>
          </a:prstGeom>
          <a:solidFill>
            <a:srgbClr val="DDEBFF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b35e99b17_0_179"/>
          <p:cNvSpPr/>
          <p:nvPr/>
        </p:nvSpPr>
        <p:spPr>
          <a:xfrm>
            <a:off x="10163175" y="165735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service account</a:t>
            </a:r>
            <a:endParaRPr/>
          </a:p>
        </p:txBody>
      </p:sp>
      <p:sp>
        <p:nvSpPr>
          <p:cNvPr id="501" name="Google Shape;501;g3fb35e99b17_0_179"/>
          <p:cNvSpPr/>
          <p:nvPr/>
        </p:nvSpPr>
        <p:spPr>
          <a:xfrm>
            <a:off x="619125" y="3143250"/>
            <a:ext cx="10953900" cy="2333700"/>
          </a:xfrm>
          <a:prstGeom prst="roundRect">
            <a:avLst>
              <a:gd fmla="val 6531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b35e99b17_0_179"/>
          <p:cNvSpPr/>
          <p:nvPr/>
        </p:nvSpPr>
        <p:spPr>
          <a:xfrm>
            <a:off x="828675" y="3276600"/>
            <a:ext cx="105348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secrets add-iam-policy-binding openai-api-key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--member="serviceAccount:314655597972-compute@developer.gserviceaccount.com"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--role="roles/secretmanager.secretAccessor"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50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secrets add-iam-policy-binding database-url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--member="serviceAccount:314655597972-compute@developer.gserviceaccount.com"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--role="roles/secretmanager.secretAccessor"</a:t>
            </a:r>
            <a:endParaRPr/>
          </a:p>
        </p:txBody>
      </p:sp>
      <p:sp>
        <p:nvSpPr>
          <p:cNvPr id="503" name="Google Shape;503;g3fb35e99b17_0_179"/>
          <p:cNvSpPr/>
          <p:nvPr/>
        </p:nvSpPr>
        <p:spPr>
          <a:xfrm>
            <a:off x="666750" y="5753100"/>
            <a:ext cx="1047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The service account represents the running container, not the human deploying it.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b35e99b17_0_203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8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Cloud Run deploys the FastAPI service and provides a managed HTTPS endpoint</a:t>
            </a:r>
            <a:endParaRPr/>
          </a:p>
        </p:txBody>
      </p:sp>
      <p:sp>
        <p:nvSpPr>
          <p:cNvPr id="510" name="Google Shape;510;g3fb35e99b17_0_203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511" name="Google Shape;511;g3fb35e99b17_0_203"/>
          <p:cNvSpPr/>
          <p:nvPr/>
        </p:nvSpPr>
        <p:spPr>
          <a:xfrm>
            <a:off x="523875" y="1238250"/>
            <a:ext cx="6762900" cy="3714900"/>
          </a:xfrm>
          <a:prstGeom prst="roundRect">
            <a:avLst>
              <a:gd fmla="val 410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fb35e99b17_0_203"/>
          <p:cNvSpPr/>
          <p:nvPr/>
        </p:nvSpPr>
        <p:spPr>
          <a:xfrm>
            <a:off x="733425" y="1371600"/>
            <a:ext cx="63438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run deploy ai-news-api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--source .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--region europe-west1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--allow-unauthenticated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--min-instances=0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--max-instances=1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--memory=512Mi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--cpu=1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--set-secrets="DATABASE_URL=database-url:latest,OPENAI_API_KEY=openai-api-key:latest"</a:t>
            </a:r>
            <a:endParaRPr/>
          </a:p>
        </p:txBody>
      </p:sp>
      <p:sp>
        <p:nvSpPr>
          <p:cNvPr id="513" name="Google Shape;513;g3fb35e99b17_0_203"/>
          <p:cNvSpPr/>
          <p:nvPr/>
        </p:nvSpPr>
        <p:spPr>
          <a:xfrm>
            <a:off x="7762875" y="1238250"/>
            <a:ext cx="3714900" cy="37149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fb35e99b17_0_203"/>
          <p:cNvSpPr/>
          <p:nvPr/>
        </p:nvSpPr>
        <p:spPr>
          <a:xfrm>
            <a:off x="8048625" y="1504950"/>
            <a:ext cx="3143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Cloud Run handles</a:t>
            </a:r>
            <a:endParaRPr/>
          </a:p>
        </p:txBody>
      </p:sp>
      <p:sp>
        <p:nvSpPr>
          <p:cNvPr id="515" name="Google Shape;515;g3fb35e99b17_0_203"/>
          <p:cNvSpPr/>
          <p:nvPr/>
        </p:nvSpPr>
        <p:spPr>
          <a:xfrm>
            <a:off x="8048625" y="2095500"/>
            <a:ext cx="324000" cy="324000"/>
          </a:xfrm>
          <a:prstGeom prst="roundRect">
            <a:avLst>
              <a:gd fmla="val 50000" name="adj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b35e99b17_0_203"/>
          <p:cNvSpPr/>
          <p:nvPr/>
        </p:nvSpPr>
        <p:spPr>
          <a:xfrm>
            <a:off x="8048625" y="207645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17" name="Google Shape;517;g3fb35e99b17_0_203"/>
          <p:cNvSpPr/>
          <p:nvPr/>
        </p:nvSpPr>
        <p:spPr>
          <a:xfrm>
            <a:off x="8524875" y="205740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Server provisioning</a:t>
            </a:r>
            <a:endParaRPr/>
          </a:p>
        </p:txBody>
      </p:sp>
      <p:sp>
        <p:nvSpPr>
          <p:cNvPr id="518" name="Google Shape;518;g3fb35e99b17_0_203"/>
          <p:cNvSpPr/>
          <p:nvPr/>
        </p:nvSpPr>
        <p:spPr>
          <a:xfrm>
            <a:off x="8048625" y="2714625"/>
            <a:ext cx="324000" cy="324000"/>
          </a:xfrm>
          <a:prstGeom prst="roundRect">
            <a:avLst>
              <a:gd fmla="val 50000" name="adj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35e99b17_0_203"/>
          <p:cNvSpPr/>
          <p:nvPr/>
        </p:nvSpPr>
        <p:spPr>
          <a:xfrm>
            <a:off x="8048625" y="2695575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0" name="Google Shape;520;g3fb35e99b17_0_203"/>
          <p:cNvSpPr/>
          <p:nvPr/>
        </p:nvSpPr>
        <p:spPr>
          <a:xfrm>
            <a:off x="8524875" y="267652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HTTPS certificate</a:t>
            </a:r>
            <a:endParaRPr/>
          </a:p>
        </p:txBody>
      </p:sp>
      <p:sp>
        <p:nvSpPr>
          <p:cNvPr id="521" name="Google Shape;521;g3fb35e99b17_0_203"/>
          <p:cNvSpPr/>
          <p:nvPr/>
        </p:nvSpPr>
        <p:spPr>
          <a:xfrm>
            <a:off x="8048625" y="3333750"/>
            <a:ext cx="324000" cy="324000"/>
          </a:xfrm>
          <a:prstGeom prst="roundRect">
            <a:avLst>
              <a:gd fmla="val 50000" name="adj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fb35e99b17_0_203"/>
          <p:cNvSpPr/>
          <p:nvPr/>
        </p:nvSpPr>
        <p:spPr>
          <a:xfrm>
            <a:off x="8048625" y="3314700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3" name="Google Shape;523;g3fb35e99b17_0_203"/>
          <p:cNvSpPr/>
          <p:nvPr/>
        </p:nvSpPr>
        <p:spPr>
          <a:xfrm>
            <a:off x="8524875" y="329565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Public routing</a:t>
            </a:r>
            <a:endParaRPr/>
          </a:p>
        </p:txBody>
      </p:sp>
      <p:sp>
        <p:nvSpPr>
          <p:cNvPr id="524" name="Google Shape;524;g3fb35e99b17_0_203"/>
          <p:cNvSpPr/>
          <p:nvPr/>
        </p:nvSpPr>
        <p:spPr>
          <a:xfrm>
            <a:off x="8048625" y="3952875"/>
            <a:ext cx="324000" cy="324000"/>
          </a:xfrm>
          <a:prstGeom prst="roundRect">
            <a:avLst>
              <a:gd fmla="val 50000" name="adj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fb35e99b17_0_203"/>
          <p:cNvSpPr/>
          <p:nvPr/>
        </p:nvSpPr>
        <p:spPr>
          <a:xfrm>
            <a:off x="8048625" y="3933825"/>
            <a:ext cx="32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6" name="Google Shape;526;g3fb35e99b17_0_203"/>
          <p:cNvSpPr/>
          <p:nvPr/>
        </p:nvSpPr>
        <p:spPr>
          <a:xfrm>
            <a:off x="8524875" y="391477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Restarts and scaling</a:t>
            </a:r>
            <a:endParaRPr/>
          </a:p>
        </p:txBody>
      </p:sp>
      <p:sp>
        <p:nvSpPr>
          <p:cNvPr id="527" name="Google Shape;527;g3fb35e99b17_0_203"/>
          <p:cNvSpPr/>
          <p:nvPr/>
        </p:nvSpPr>
        <p:spPr>
          <a:xfrm>
            <a:off x="1809750" y="5381625"/>
            <a:ext cx="8572500" cy="685800"/>
          </a:xfrm>
          <a:prstGeom prst="roundRect">
            <a:avLst>
              <a:gd fmla="val 22222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b35e99b17_0_203"/>
          <p:cNvSpPr/>
          <p:nvPr/>
        </p:nvSpPr>
        <p:spPr>
          <a:xfrm>
            <a:off x="2019300" y="5514975"/>
            <a:ext cx="8153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curl https://YOUR_CLOUD_RUN_URL/health/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# Also verify /docs, /news/ and /search/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b35e99b17_0_227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 separate Cloud Run Job runs the pipeline once and then exits</a:t>
            </a:r>
            <a:endParaRPr/>
          </a:p>
        </p:txBody>
      </p:sp>
      <p:sp>
        <p:nvSpPr>
          <p:cNvPr id="535" name="Google Shape;535;g3fb35e99b17_0_227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536" name="Google Shape;536;g3fb35e99b17_0_227"/>
          <p:cNvSpPr/>
          <p:nvPr/>
        </p:nvSpPr>
        <p:spPr>
          <a:xfrm>
            <a:off x="523875" y="1238250"/>
            <a:ext cx="4572000" cy="1714500"/>
          </a:xfrm>
          <a:prstGeom prst="roundRect">
            <a:avLst>
              <a:gd fmla="val 12222" name="adj"/>
            </a:avLst>
          </a:prstGeom>
          <a:solidFill>
            <a:srgbClr val="DDEBFF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b35e99b17_0_227"/>
          <p:cNvSpPr/>
          <p:nvPr/>
        </p:nvSpPr>
        <p:spPr>
          <a:xfrm>
            <a:off x="809625" y="147637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Cloud Run Service</a:t>
            </a:r>
            <a:endParaRPr/>
          </a:p>
        </p:txBody>
      </p:sp>
      <p:sp>
        <p:nvSpPr>
          <p:cNvPr id="538" name="Google Shape;538;g3fb35e99b17_0_227"/>
          <p:cNvSpPr/>
          <p:nvPr/>
        </p:nvSpPr>
        <p:spPr>
          <a:xfrm>
            <a:off x="809625" y="1952625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Command: uvicorn app.main:app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Purpose: answer HTTP requests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Lifecycle: scales with traffic</a:t>
            </a:r>
            <a:endParaRPr/>
          </a:p>
        </p:txBody>
      </p:sp>
      <p:sp>
        <p:nvSpPr>
          <p:cNvPr id="539" name="Google Shape;539;g3fb35e99b17_0_227"/>
          <p:cNvSpPr/>
          <p:nvPr/>
        </p:nvSpPr>
        <p:spPr>
          <a:xfrm>
            <a:off x="7096125" y="1238250"/>
            <a:ext cx="4572000" cy="1714500"/>
          </a:xfrm>
          <a:prstGeom prst="roundRect">
            <a:avLst>
              <a:gd fmla="val 12222" name="adj"/>
            </a:avLst>
          </a:prstGeom>
          <a:solidFill>
            <a:srgbClr val="E9E7FF"/>
          </a:solidFill>
          <a:ln cap="flat" cmpd="sng" w="9525">
            <a:solidFill>
              <a:srgbClr val="675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b35e99b17_0_227"/>
          <p:cNvSpPr/>
          <p:nvPr/>
        </p:nvSpPr>
        <p:spPr>
          <a:xfrm>
            <a:off x="7381875" y="1476375"/>
            <a:ext cx="4000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553C9A"/>
                </a:solidFill>
                <a:latin typeface="Arial"/>
                <a:ea typeface="Arial"/>
                <a:cs typeface="Arial"/>
                <a:sym typeface="Arial"/>
              </a:rPr>
              <a:t>Cloud Run Job</a:t>
            </a:r>
            <a:endParaRPr/>
          </a:p>
        </p:txBody>
      </p:sp>
      <p:sp>
        <p:nvSpPr>
          <p:cNvPr id="541" name="Google Shape;541;g3fb35e99b17_0_227"/>
          <p:cNvSpPr/>
          <p:nvPr/>
        </p:nvSpPr>
        <p:spPr>
          <a:xfrm>
            <a:off x="7381875" y="1952625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Command: python -m app.pipeline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Purpose: write fresh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Lifecycle: runs and exits</a:t>
            </a:r>
            <a:endParaRPr/>
          </a:p>
        </p:txBody>
      </p:sp>
      <p:sp>
        <p:nvSpPr>
          <p:cNvPr id="542" name="Google Shape;542;g3fb35e99b17_0_227"/>
          <p:cNvSpPr/>
          <p:nvPr/>
        </p:nvSpPr>
        <p:spPr>
          <a:xfrm>
            <a:off x="5476875" y="1933575"/>
            <a:ext cx="11907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5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b35e99b17_0_227"/>
          <p:cNvSpPr/>
          <p:nvPr/>
        </p:nvSpPr>
        <p:spPr>
          <a:xfrm>
            <a:off x="1714500" y="3381375"/>
            <a:ext cx="8763000" cy="705000"/>
          </a:xfrm>
          <a:prstGeom prst="roundRect">
            <a:avLst>
              <a:gd fmla="val 21622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b35e99b17_0_227"/>
          <p:cNvSpPr/>
          <p:nvPr/>
        </p:nvSpPr>
        <p:spPr>
          <a:xfrm>
            <a:off x="1924050" y="3514725"/>
            <a:ext cx="834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run jobs execute ai-news-pipeline --region=europe-west1 --wait</a:t>
            </a:r>
            <a:endParaRPr/>
          </a:p>
        </p:txBody>
      </p:sp>
      <p:sp>
        <p:nvSpPr>
          <p:cNvPr id="545" name="Google Shape;545;g3fb35e99b17_0_227"/>
          <p:cNvSpPr/>
          <p:nvPr/>
        </p:nvSpPr>
        <p:spPr>
          <a:xfrm>
            <a:off x="1619250" y="4524375"/>
            <a:ext cx="2714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b35e99b17_0_227"/>
          <p:cNvSpPr/>
          <p:nvPr/>
        </p:nvSpPr>
        <p:spPr>
          <a:xfrm>
            <a:off x="1809750" y="4638675"/>
            <a:ext cx="857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47" name="Google Shape;547;g3fb35e99b17_0_227"/>
          <p:cNvSpPr/>
          <p:nvPr/>
        </p:nvSpPr>
        <p:spPr>
          <a:xfrm>
            <a:off x="2619375" y="4781550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articles</a:t>
            </a:r>
            <a:endParaRPr/>
          </a:p>
        </p:txBody>
      </p:sp>
      <p:sp>
        <p:nvSpPr>
          <p:cNvPr id="548" name="Google Shape;548;g3fb35e99b17_0_227"/>
          <p:cNvSpPr/>
          <p:nvPr/>
        </p:nvSpPr>
        <p:spPr>
          <a:xfrm>
            <a:off x="4762500" y="4524375"/>
            <a:ext cx="2714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fb35e99b17_0_227"/>
          <p:cNvSpPr/>
          <p:nvPr/>
        </p:nvSpPr>
        <p:spPr>
          <a:xfrm>
            <a:off x="4953000" y="4638675"/>
            <a:ext cx="857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550" name="Google Shape;550;g3fb35e99b17_0_227"/>
          <p:cNvSpPr/>
          <p:nvPr/>
        </p:nvSpPr>
        <p:spPr>
          <a:xfrm>
            <a:off x="5762625" y="4781550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chunks</a:t>
            </a:r>
            <a:endParaRPr/>
          </a:p>
        </p:txBody>
      </p:sp>
      <p:sp>
        <p:nvSpPr>
          <p:cNvPr id="551" name="Google Shape;551;g3fb35e99b17_0_227"/>
          <p:cNvSpPr/>
          <p:nvPr/>
        </p:nvSpPr>
        <p:spPr>
          <a:xfrm>
            <a:off x="7905750" y="4524375"/>
            <a:ext cx="2714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fb35e99b17_0_227"/>
          <p:cNvSpPr/>
          <p:nvPr/>
        </p:nvSpPr>
        <p:spPr>
          <a:xfrm>
            <a:off x="8096250" y="4638675"/>
            <a:ext cx="857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A56D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53" name="Google Shape;553;g3fb35e99b17_0_227"/>
          <p:cNvSpPr/>
          <p:nvPr/>
        </p:nvSpPr>
        <p:spPr>
          <a:xfrm>
            <a:off x="8905875" y="4781550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successful manual run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b35e99b17_0_251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2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Cloud Scheduler triggers the pipeline through the Cloud Run Jobs API</a:t>
            </a:r>
            <a:endParaRPr/>
          </a:p>
        </p:txBody>
      </p:sp>
      <p:sp>
        <p:nvSpPr>
          <p:cNvPr id="560" name="Google Shape;560;g3fb35e99b17_0_251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61" name="Google Shape;561;g3fb35e99b17_0_251"/>
          <p:cNvSpPr/>
          <p:nvPr/>
        </p:nvSpPr>
        <p:spPr>
          <a:xfrm>
            <a:off x="523875" y="1190625"/>
            <a:ext cx="4762500" cy="3476700"/>
          </a:xfrm>
          <a:prstGeom prst="roundRect">
            <a:avLst>
              <a:gd fmla="val 5479" name="adj"/>
            </a:avLst>
          </a:prstGeom>
          <a:solidFill>
            <a:srgbClr val="20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b35e99b17_0_251"/>
          <p:cNvSpPr/>
          <p:nvPr/>
        </p:nvSpPr>
        <p:spPr>
          <a:xfrm>
            <a:off x="781050" y="140970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Scheduler job</a:t>
            </a:r>
            <a:endParaRPr/>
          </a:p>
        </p:txBody>
      </p:sp>
      <p:sp>
        <p:nvSpPr>
          <p:cNvPr id="563" name="Google Shape;563;g3fb35e99b17_0_251"/>
          <p:cNvSpPr/>
          <p:nvPr/>
        </p:nvSpPr>
        <p:spPr>
          <a:xfrm>
            <a:off x="781050" y="1952625"/>
            <a:ext cx="409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DADCE0"/>
                </a:solidFill>
                <a:latin typeface="Arial"/>
                <a:ea typeface="Arial"/>
                <a:cs typeface="Arial"/>
                <a:sym typeface="Arial"/>
              </a:rPr>
              <a:t>Configure the execution</a:t>
            </a:r>
            <a:endParaRPr/>
          </a:p>
        </p:txBody>
      </p:sp>
      <p:sp>
        <p:nvSpPr>
          <p:cNvPr id="564" name="Google Shape;564;g3fb35e99b17_0_251"/>
          <p:cNvSpPr/>
          <p:nvPr/>
        </p:nvSpPr>
        <p:spPr>
          <a:xfrm>
            <a:off x="781050" y="23812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AA0A6"/>
                </a:solidFill>
                <a:latin typeface="Arial"/>
                <a:ea typeface="Arial"/>
                <a:cs typeface="Arial"/>
                <a:sym typeface="Arial"/>
              </a:rPr>
              <a:t>Target type</a:t>
            </a:r>
            <a:endParaRPr/>
          </a:p>
        </p:txBody>
      </p:sp>
      <p:sp>
        <p:nvSpPr>
          <p:cNvPr id="565" name="Google Shape;565;g3fb35e99b17_0_251"/>
          <p:cNvSpPr/>
          <p:nvPr/>
        </p:nvSpPr>
        <p:spPr>
          <a:xfrm>
            <a:off x="2000250" y="2343150"/>
            <a:ext cx="2952900" cy="362100"/>
          </a:xfrm>
          <a:prstGeom prst="roundRect">
            <a:avLst>
              <a:gd fmla="val 21053" name="adj"/>
            </a:avLst>
          </a:prstGeom>
          <a:solidFill>
            <a:srgbClr val="303134"/>
          </a:solidFill>
          <a:ln cap="flat" cmpd="sng" w="9525">
            <a:solidFill>
              <a:srgbClr val="5F6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b35e99b17_0_251"/>
          <p:cNvSpPr/>
          <p:nvPr/>
        </p:nvSpPr>
        <p:spPr>
          <a:xfrm>
            <a:off x="2143125" y="2381250"/>
            <a:ext cx="2667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/>
          </a:p>
        </p:txBody>
      </p:sp>
      <p:sp>
        <p:nvSpPr>
          <p:cNvPr id="567" name="Google Shape;567;g3fb35e99b17_0_251"/>
          <p:cNvSpPr/>
          <p:nvPr/>
        </p:nvSpPr>
        <p:spPr>
          <a:xfrm>
            <a:off x="781050" y="290512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AA0A6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sp>
        <p:nvSpPr>
          <p:cNvPr id="568" name="Google Shape;568;g3fb35e99b17_0_251"/>
          <p:cNvSpPr/>
          <p:nvPr/>
        </p:nvSpPr>
        <p:spPr>
          <a:xfrm>
            <a:off x="2000250" y="2867025"/>
            <a:ext cx="2952900" cy="362100"/>
          </a:xfrm>
          <a:prstGeom prst="roundRect">
            <a:avLst>
              <a:gd fmla="val 21053" name="adj"/>
            </a:avLst>
          </a:prstGeom>
          <a:solidFill>
            <a:srgbClr val="303134"/>
          </a:solidFill>
          <a:ln cap="flat" cmpd="sng" w="9525">
            <a:solidFill>
              <a:srgbClr val="5F6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fb35e99b17_0_251"/>
          <p:cNvSpPr/>
          <p:nvPr/>
        </p:nvSpPr>
        <p:spPr>
          <a:xfrm>
            <a:off x="2143125" y="2905125"/>
            <a:ext cx="2667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run.googleapis.com/.../ai-news-pipeline:run</a:t>
            </a:r>
            <a:endParaRPr/>
          </a:p>
        </p:txBody>
      </p:sp>
      <p:sp>
        <p:nvSpPr>
          <p:cNvPr id="570" name="Google Shape;570;g3fb35e99b17_0_251"/>
          <p:cNvSpPr/>
          <p:nvPr/>
        </p:nvSpPr>
        <p:spPr>
          <a:xfrm>
            <a:off x="781050" y="3429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AA0A6"/>
                </a:solidFill>
                <a:latin typeface="Arial"/>
                <a:ea typeface="Arial"/>
                <a:cs typeface="Arial"/>
                <a:sym typeface="Arial"/>
              </a:rPr>
              <a:t>HTTP method</a:t>
            </a:r>
            <a:endParaRPr/>
          </a:p>
        </p:txBody>
      </p:sp>
      <p:sp>
        <p:nvSpPr>
          <p:cNvPr id="571" name="Google Shape;571;g3fb35e99b17_0_251"/>
          <p:cNvSpPr/>
          <p:nvPr/>
        </p:nvSpPr>
        <p:spPr>
          <a:xfrm>
            <a:off x="2000250" y="3390900"/>
            <a:ext cx="2952900" cy="362100"/>
          </a:xfrm>
          <a:prstGeom prst="roundRect">
            <a:avLst>
              <a:gd fmla="val 21053" name="adj"/>
            </a:avLst>
          </a:prstGeom>
          <a:solidFill>
            <a:srgbClr val="303134"/>
          </a:solidFill>
          <a:ln cap="flat" cmpd="sng" w="9525">
            <a:solidFill>
              <a:srgbClr val="5F6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b35e99b17_0_251"/>
          <p:cNvSpPr/>
          <p:nvPr/>
        </p:nvSpPr>
        <p:spPr>
          <a:xfrm>
            <a:off x="2143125" y="3429000"/>
            <a:ext cx="2667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573" name="Google Shape;573;g3fb35e99b17_0_251"/>
          <p:cNvSpPr/>
          <p:nvPr/>
        </p:nvSpPr>
        <p:spPr>
          <a:xfrm>
            <a:off x="781050" y="395287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AA0A6"/>
                </a:solidFill>
                <a:latin typeface="Arial"/>
                <a:ea typeface="Arial"/>
                <a:cs typeface="Arial"/>
                <a:sym typeface="Arial"/>
              </a:rPr>
              <a:t>Auth header</a:t>
            </a:r>
            <a:endParaRPr/>
          </a:p>
        </p:txBody>
      </p:sp>
      <p:sp>
        <p:nvSpPr>
          <p:cNvPr id="574" name="Google Shape;574;g3fb35e99b17_0_251"/>
          <p:cNvSpPr/>
          <p:nvPr/>
        </p:nvSpPr>
        <p:spPr>
          <a:xfrm>
            <a:off x="2000250" y="3914775"/>
            <a:ext cx="2952900" cy="362100"/>
          </a:xfrm>
          <a:prstGeom prst="roundRect">
            <a:avLst>
              <a:gd fmla="val 21053" name="adj"/>
            </a:avLst>
          </a:prstGeom>
          <a:solidFill>
            <a:srgbClr val="303134"/>
          </a:solidFill>
          <a:ln cap="flat" cmpd="sng" w="9525">
            <a:solidFill>
              <a:srgbClr val="5F6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b35e99b17_0_251"/>
          <p:cNvSpPr/>
          <p:nvPr/>
        </p:nvSpPr>
        <p:spPr>
          <a:xfrm>
            <a:off x="2143125" y="3952875"/>
            <a:ext cx="2667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OAuth token</a:t>
            </a:r>
            <a:endParaRPr/>
          </a:p>
        </p:txBody>
      </p:sp>
      <p:sp>
        <p:nvSpPr>
          <p:cNvPr id="576" name="Google Shape;576;g3fb35e99b17_0_251"/>
          <p:cNvSpPr/>
          <p:nvPr/>
        </p:nvSpPr>
        <p:spPr>
          <a:xfrm>
            <a:off x="5619750" y="1190625"/>
            <a:ext cx="5905500" cy="3476700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fb35e99b17_0_251"/>
          <p:cNvSpPr/>
          <p:nvPr/>
        </p:nvSpPr>
        <p:spPr>
          <a:xfrm>
            <a:off x="5905500" y="1381125"/>
            <a:ext cx="5238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Configure the scheduler target</a:t>
            </a:r>
            <a:endParaRPr/>
          </a:p>
        </p:txBody>
      </p:sp>
      <p:sp>
        <p:nvSpPr>
          <p:cNvPr id="578" name="Google Shape;578;g3fb35e99b17_0_251"/>
          <p:cNvSpPr/>
          <p:nvPr/>
        </p:nvSpPr>
        <p:spPr>
          <a:xfrm>
            <a:off x="5905500" y="1885950"/>
            <a:ext cx="147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Target type</a:t>
            </a:r>
            <a:endParaRPr/>
          </a:p>
        </p:txBody>
      </p:sp>
      <p:sp>
        <p:nvSpPr>
          <p:cNvPr id="579" name="Google Shape;579;g3fb35e99b17_0_251"/>
          <p:cNvSpPr/>
          <p:nvPr/>
        </p:nvSpPr>
        <p:spPr>
          <a:xfrm>
            <a:off x="7524750" y="1885950"/>
            <a:ext cx="366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/>
          </a:p>
        </p:txBody>
      </p:sp>
      <p:sp>
        <p:nvSpPr>
          <p:cNvPr id="580" name="Google Shape;580;g3fb35e99b17_0_251"/>
          <p:cNvSpPr/>
          <p:nvPr/>
        </p:nvSpPr>
        <p:spPr>
          <a:xfrm>
            <a:off x="5905500" y="2476500"/>
            <a:ext cx="147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581" name="Google Shape;581;g3fb35e99b17_0_251"/>
          <p:cNvSpPr/>
          <p:nvPr/>
        </p:nvSpPr>
        <p:spPr>
          <a:xfrm>
            <a:off x="7524750" y="2476500"/>
            <a:ext cx="366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582" name="Google Shape;582;g3fb35e99b17_0_251"/>
          <p:cNvSpPr/>
          <p:nvPr/>
        </p:nvSpPr>
        <p:spPr>
          <a:xfrm>
            <a:off x="5905500" y="3067050"/>
            <a:ext cx="147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/>
          </a:p>
        </p:txBody>
      </p:sp>
      <p:sp>
        <p:nvSpPr>
          <p:cNvPr id="583" name="Google Shape;583;g3fb35e99b17_0_251"/>
          <p:cNvSpPr/>
          <p:nvPr/>
        </p:nvSpPr>
        <p:spPr>
          <a:xfrm>
            <a:off x="7524750" y="3067050"/>
            <a:ext cx="366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OAuth token</a:t>
            </a:r>
            <a:endParaRPr/>
          </a:p>
        </p:txBody>
      </p:sp>
      <p:sp>
        <p:nvSpPr>
          <p:cNvPr id="584" name="Google Shape;584;g3fb35e99b17_0_251"/>
          <p:cNvSpPr/>
          <p:nvPr/>
        </p:nvSpPr>
        <p:spPr>
          <a:xfrm>
            <a:off x="5905500" y="3657600"/>
            <a:ext cx="147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Service account</a:t>
            </a:r>
            <a:endParaRPr/>
          </a:p>
        </p:txBody>
      </p:sp>
      <p:sp>
        <p:nvSpPr>
          <p:cNvPr id="585" name="Google Shape;585;g3fb35e99b17_0_251"/>
          <p:cNvSpPr/>
          <p:nvPr/>
        </p:nvSpPr>
        <p:spPr>
          <a:xfrm>
            <a:off x="7524750" y="3657600"/>
            <a:ext cx="366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52238"/>
                </a:solidFill>
                <a:latin typeface="Courier New"/>
                <a:ea typeface="Courier New"/>
                <a:cs typeface="Courier New"/>
                <a:sym typeface="Courier New"/>
              </a:rPr>
              <a:t>314655597972-compute@developer.gserviceaccount.com</a:t>
            </a:r>
            <a:endParaRPr/>
          </a:p>
        </p:txBody>
      </p:sp>
      <p:sp>
        <p:nvSpPr>
          <p:cNvPr id="586" name="Google Shape;586;g3fb35e99b17_0_251"/>
          <p:cNvSpPr/>
          <p:nvPr/>
        </p:nvSpPr>
        <p:spPr>
          <a:xfrm>
            <a:off x="5905500" y="4191000"/>
            <a:ext cx="5286300" cy="714300"/>
          </a:xfrm>
          <a:prstGeom prst="roundRect">
            <a:avLst>
              <a:gd fmla="val 2133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b35e99b17_0_251"/>
          <p:cNvSpPr/>
          <p:nvPr/>
        </p:nvSpPr>
        <p:spPr>
          <a:xfrm>
            <a:off x="6115050" y="4324350"/>
            <a:ext cx="4867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https://run.googleapis.com/v2/projects/YOUR_PROJECT_ID/locations/europe-west1/jobs/ai-news-pipeline:run</a:t>
            </a:r>
            <a:endParaRPr/>
          </a:p>
        </p:txBody>
      </p:sp>
      <p:sp>
        <p:nvSpPr>
          <p:cNvPr id="588" name="Google Shape;588;g3fb35e99b17_0_251"/>
          <p:cNvSpPr/>
          <p:nvPr/>
        </p:nvSpPr>
        <p:spPr>
          <a:xfrm>
            <a:off x="1476375" y="5191125"/>
            <a:ext cx="9239400" cy="1143000"/>
          </a:xfrm>
          <a:prstGeom prst="roundRect">
            <a:avLst>
              <a:gd fmla="val 1333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b35e99b17_0_251"/>
          <p:cNvSpPr/>
          <p:nvPr/>
        </p:nvSpPr>
        <p:spPr>
          <a:xfrm>
            <a:off x="1685925" y="5324475"/>
            <a:ext cx="88203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run jobs add-iam-policy-binding ai-news-pipeline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--region=europe-west1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--member="serviceAccount:314655597972-compute@developer.gserviceaccount.com"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+  --role="roles/run.invoker"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b35e99b17_0_286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3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 short verification chain proves that every deployed component works</a:t>
            </a:r>
            <a:endParaRPr/>
          </a:p>
        </p:txBody>
      </p:sp>
      <p:sp>
        <p:nvSpPr>
          <p:cNvPr id="596" name="Google Shape;596;g3fb35e99b17_0_286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597" name="Google Shape;597;g3fb35e99b17_0_286"/>
          <p:cNvSpPr/>
          <p:nvPr/>
        </p:nvSpPr>
        <p:spPr>
          <a:xfrm>
            <a:off x="523875" y="1381125"/>
            <a:ext cx="2428800" cy="161910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b35e99b17_0_286"/>
          <p:cNvSpPr/>
          <p:nvPr/>
        </p:nvSpPr>
        <p:spPr>
          <a:xfrm>
            <a:off x="714375" y="157162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fb35e99b17_0_286"/>
          <p:cNvSpPr/>
          <p:nvPr/>
        </p:nvSpPr>
        <p:spPr>
          <a:xfrm>
            <a:off x="714375" y="15716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00" name="Google Shape;600;g3fb35e99b17_0_286"/>
          <p:cNvSpPr/>
          <p:nvPr/>
        </p:nvSpPr>
        <p:spPr>
          <a:xfrm>
            <a:off x="1304925" y="1609725"/>
            <a:ext cx="13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</p:txBody>
      </p:sp>
      <p:sp>
        <p:nvSpPr>
          <p:cNvPr id="601" name="Google Shape;601;g3fb35e99b17_0_286"/>
          <p:cNvSpPr/>
          <p:nvPr/>
        </p:nvSpPr>
        <p:spPr>
          <a:xfrm>
            <a:off x="733425" y="2190750"/>
            <a:ext cx="2000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curl .../health/</a:t>
            </a:r>
            <a:endParaRPr/>
          </a:p>
        </p:txBody>
      </p:sp>
      <p:sp>
        <p:nvSpPr>
          <p:cNvPr id="602" name="Google Shape;602;g3fb35e99b17_0_286"/>
          <p:cNvSpPr/>
          <p:nvPr/>
        </p:nvSpPr>
        <p:spPr>
          <a:xfrm>
            <a:off x="3000375" y="2028825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fb35e99b17_0_286"/>
          <p:cNvSpPr/>
          <p:nvPr/>
        </p:nvSpPr>
        <p:spPr>
          <a:xfrm>
            <a:off x="3381375" y="1381125"/>
            <a:ext cx="2428800" cy="161910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fb35e99b17_0_286"/>
          <p:cNvSpPr/>
          <p:nvPr/>
        </p:nvSpPr>
        <p:spPr>
          <a:xfrm>
            <a:off x="3571875" y="157162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b35e99b17_0_286"/>
          <p:cNvSpPr/>
          <p:nvPr/>
        </p:nvSpPr>
        <p:spPr>
          <a:xfrm>
            <a:off x="3571875" y="15716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06" name="Google Shape;606;g3fb35e99b17_0_286"/>
          <p:cNvSpPr/>
          <p:nvPr/>
        </p:nvSpPr>
        <p:spPr>
          <a:xfrm>
            <a:off x="4162425" y="1609725"/>
            <a:ext cx="13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607" name="Google Shape;607;g3fb35e99b17_0_286"/>
          <p:cNvSpPr/>
          <p:nvPr/>
        </p:nvSpPr>
        <p:spPr>
          <a:xfrm>
            <a:off x="3590925" y="2190750"/>
            <a:ext cx="2000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Check news_items and news_chunks</a:t>
            </a:r>
            <a:endParaRPr/>
          </a:p>
        </p:txBody>
      </p:sp>
      <p:sp>
        <p:nvSpPr>
          <p:cNvPr id="608" name="Google Shape;608;g3fb35e99b17_0_286"/>
          <p:cNvSpPr/>
          <p:nvPr/>
        </p:nvSpPr>
        <p:spPr>
          <a:xfrm>
            <a:off x="5857875" y="2028825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b35e99b17_0_286"/>
          <p:cNvSpPr/>
          <p:nvPr/>
        </p:nvSpPr>
        <p:spPr>
          <a:xfrm>
            <a:off x="6238875" y="1381125"/>
            <a:ext cx="2428800" cy="161910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fb35e99b17_0_286"/>
          <p:cNvSpPr/>
          <p:nvPr/>
        </p:nvSpPr>
        <p:spPr>
          <a:xfrm>
            <a:off x="6429375" y="157162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675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fb35e99b17_0_286"/>
          <p:cNvSpPr/>
          <p:nvPr/>
        </p:nvSpPr>
        <p:spPr>
          <a:xfrm>
            <a:off x="6429375" y="15716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12" name="Google Shape;612;g3fb35e99b17_0_286"/>
          <p:cNvSpPr/>
          <p:nvPr/>
        </p:nvSpPr>
        <p:spPr>
          <a:xfrm>
            <a:off x="7019925" y="1609725"/>
            <a:ext cx="13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</p:txBody>
      </p:sp>
      <p:sp>
        <p:nvSpPr>
          <p:cNvPr id="613" name="Google Shape;613;g3fb35e99b17_0_286"/>
          <p:cNvSpPr/>
          <p:nvPr/>
        </p:nvSpPr>
        <p:spPr>
          <a:xfrm>
            <a:off x="6448425" y="2190750"/>
            <a:ext cx="2000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List Cloud Run executions</a:t>
            </a:r>
            <a:endParaRPr/>
          </a:p>
        </p:txBody>
      </p:sp>
      <p:sp>
        <p:nvSpPr>
          <p:cNvPr id="614" name="Google Shape;614;g3fb35e99b17_0_286"/>
          <p:cNvSpPr/>
          <p:nvPr/>
        </p:nvSpPr>
        <p:spPr>
          <a:xfrm>
            <a:off x="8715375" y="2028825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5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fb35e99b17_0_286"/>
          <p:cNvSpPr/>
          <p:nvPr/>
        </p:nvSpPr>
        <p:spPr>
          <a:xfrm>
            <a:off x="9096375" y="1381125"/>
            <a:ext cx="2428800" cy="161910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b35e99b17_0_286"/>
          <p:cNvSpPr/>
          <p:nvPr/>
        </p:nvSpPr>
        <p:spPr>
          <a:xfrm>
            <a:off x="9286875" y="157162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b35e99b17_0_286"/>
          <p:cNvSpPr/>
          <p:nvPr/>
        </p:nvSpPr>
        <p:spPr>
          <a:xfrm>
            <a:off x="9286875" y="15716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18" name="Google Shape;618;g3fb35e99b17_0_286"/>
          <p:cNvSpPr/>
          <p:nvPr/>
        </p:nvSpPr>
        <p:spPr>
          <a:xfrm>
            <a:off x="9877425" y="1609725"/>
            <a:ext cx="13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/>
          </a:p>
        </p:txBody>
      </p:sp>
      <p:sp>
        <p:nvSpPr>
          <p:cNvPr id="619" name="Google Shape;619;g3fb35e99b17_0_286"/>
          <p:cNvSpPr/>
          <p:nvPr/>
        </p:nvSpPr>
        <p:spPr>
          <a:xfrm>
            <a:off x="9305925" y="2190750"/>
            <a:ext cx="2000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Force-run the Scheduler job</a:t>
            </a:r>
            <a:endParaRPr/>
          </a:p>
        </p:txBody>
      </p:sp>
      <p:sp>
        <p:nvSpPr>
          <p:cNvPr id="620" name="Google Shape;620;g3fb35e99b17_0_286"/>
          <p:cNvSpPr/>
          <p:nvPr/>
        </p:nvSpPr>
        <p:spPr>
          <a:xfrm>
            <a:off x="1190625" y="3571875"/>
            <a:ext cx="9810900" cy="1666800"/>
          </a:xfrm>
          <a:prstGeom prst="roundRect">
            <a:avLst>
              <a:gd fmla="val 914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b35e99b17_0_286"/>
          <p:cNvSpPr/>
          <p:nvPr/>
        </p:nvSpPr>
        <p:spPr>
          <a:xfrm>
            <a:off x="1400175" y="3705225"/>
            <a:ext cx="93918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run services logs read ai-news-api --region=europe-west1 --limit=100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run jobs executions list --job=ai-news-pipeline --region=europe-west1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gcloud scheduler jobs run ai-news-pipeline-weekly --location=europe-west1</a:t>
            </a:r>
            <a:endParaRPr/>
          </a:p>
        </p:txBody>
      </p:sp>
      <p:sp>
        <p:nvSpPr>
          <p:cNvPr id="622" name="Google Shape;622;g3fb35e99b17_0_286"/>
          <p:cNvSpPr/>
          <p:nvPr/>
        </p:nvSpPr>
        <p:spPr>
          <a:xfrm>
            <a:off x="3000375" y="5572125"/>
            <a:ext cx="6191400" cy="523800"/>
          </a:xfrm>
          <a:prstGeom prst="roundRect">
            <a:avLst>
              <a:gd fmla="val 32727" name="adj"/>
            </a:avLst>
          </a:prstGeom>
          <a:solidFill>
            <a:srgbClr val="E4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b35e99b17_0_286"/>
          <p:cNvSpPr/>
          <p:nvPr/>
        </p:nvSpPr>
        <p:spPr>
          <a:xfrm>
            <a:off x="3238500" y="5657850"/>
            <a:ext cx="571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5">
                <a:solidFill>
                  <a:srgbClr val="177A55"/>
                </a:solidFill>
                <a:latin typeface="Arial"/>
                <a:ea typeface="Arial"/>
                <a:cs typeface="Arial"/>
                <a:sym typeface="Arial"/>
              </a:rPr>
              <a:t>Expected result: a new successful pipeline execution and fresh rows in Supabase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b35e99b17_0_319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3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Free allowances help with learning, but explicit limits prevent surprises</a:t>
            </a:r>
            <a:endParaRPr/>
          </a:p>
        </p:txBody>
      </p:sp>
      <p:sp>
        <p:nvSpPr>
          <p:cNvPr id="630" name="Google Shape;630;g3fb35e99b17_0_319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631" name="Google Shape;631;g3fb35e99b17_0_319"/>
          <p:cNvSpPr/>
          <p:nvPr/>
        </p:nvSpPr>
        <p:spPr>
          <a:xfrm>
            <a:off x="523875" y="1285875"/>
            <a:ext cx="5286300" cy="1381200"/>
          </a:xfrm>
          <a:prstGeom prst="roundRect">
            <a:avLst>
              <a:gd fmla="val 15172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b35e99b17_0_319"/>
          <p:cNvSpPr/>
          <p:nvPr/>
        </p:nvSpPr>
        <p:spPr>
          <a:xfrm>
            <a:off x="752475" y="1571625"/>
            <a:ext cx="552600" cy="552600"/>
          </a:xfrm>
          <a:prstGeom prst="roundRect">
            <a:avLst>
              <a:gd fmla="val 31034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b35e99b17_0_319"/>
          <p:cNvSpPr/>
          <p:nvPr/>
        </p:nvSpPr>
        <p:spPr>
          <a:xfrm>
            <a:off x="752475" y="157162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34" name="Google Shape;634;g3fb35e99b17_0_319"/>
          <p:cNvSpPr/>
          <p:nvPr/>
        </p:nvSpPr>
        <p:spPr>
          <a:xfrm>
            <a:off x="1524000" y="1524000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Scale to zero</a:t>
            </a:r>
            <a:endParaRPr/>
          </a:p>
        </p:txBody>
      </p:sp>
      <p:sp>
        <p:nvSpPr>
          <p:cNvPr id="635" name="Google Shape;635;g3fb35e99b17_0_319"/>
          <p:cNvSpPr/>
          <p:nvPr/>
        </p:nvSpPr>
        <p:spPr>
          <a:xfrm>
            <a:off x="1524000" y="1933575"/>
            <a:ext cx="39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Keep Cloud Run minimum instances at 0</a:t>
            </a:r>
            <a:endParaRPr/>
          </a:p>
        </p:txBody>
      </p:sp>
      <p:sp>
        <p:nvSpPr>
          <p:cNvPr id="636" name="Google Shape;636;g3fb35e99b17_0_319"/>
          <p:cNvSpPr/>
          <p:nvPr/>
        </p:nvSpPr>
        <p:spPr>
          <a:xfrm>
            <a:off x="6286500" y="1285875"/>
            <a:ext cx="5286300" cy="1381200"/>
          </a:xfrm>
          <a:prstGeom prst="roundRect">
            <a:avLst>
              <a:gd fmla="val 15172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fb35e99b17_0_319"/>
          <p:cNvSpPr/>
          <p:nvPr/>
        </p:nvSpPr>
        <p:spPr>
          <a:xfrm>
            <a:off x="6515100" y="1571625"/>
            <a:ext cx="552600" cy="552600"/>
          </a:xfrm>
          <a:prstGeom prst="roundRect">
            <a:avLst>
              <a:gd fmla="val 31034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b35e99b17_0_319"/>
          <p:cNvSpPr/>
          <p:nvPr/>
        </p:nvSpPr>
        <p:spPr>
          <a:xfrm>
            <a:off x="6515100" y="1571625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39" name="Google Shape;639;g3fb35e99b17_0_319"/>
          <p:cNvSpPr/>
          <p:nvPr/>
        </p:nvSpPr>
        <p:spPr>
          <a:xfrm>
            <a:off x="7286625" y="1524000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Cap instances</a:t>
            </a:r>
            <a:endParaRPr/>
          </a:p>
        </p:txBody>
      </p:sp>
      <p:sp>
        <p:nvSpPr>
          <p:cNvPr id="640" name="Google Shape;640;g3fb35e99b17_0_319"/>
          <p:cNvSpPr/>
          <p:nvPr/>
        </p:nvSpPr>
        <p:spPr>
          <a:xfrm>
            <a:off x="7286625" y="1933575"/>
            <a:ext cx="39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Keep maximum instances at 1 while testing</a:t>
            </a:r>
            <a:endParaRPr/>
          </a:p>
        </p:txBody>
      </p:sp>
      <p:sp>
        <p:nvSpPr>
          <p:cNvPr id="641" name="Google Shape;641;g3fb35e99b17_0_319"/>
          <p:cNvSpPr/>
          <p:nvPr/>
        </p:nvSpPr>
        <p:spPr>
          <a:xfrm>
            <a:off x="523875" y="3048000"/>
            <a:ext cx="5286300" cy="1381200"/>
          </a:xfrm>
          <a:prstGeom prst="roundRect">
            <a:avLst>
              <a:gd fmla="val 15172" name="adj"/>
            </a:avLst>
          </a:prstGeom>
          <a:solidFill>
            <a:srgbClr val="FFF3D6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b35e99b17_0_319"/>
          <p:cNvSpPr/>
          <p:nvPr/>
        </p:nvSpPr>
        <p:spPr>
          <a:xfrm>
            <a:off x="752475" y="3333750"/>
            <a:ext cx="552600" cy="552600"/>
          </a:xfrm>
          <a:prstGeom prst="roundRect">
            <a:avLst>
              <a:gd fmla="val 31034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fb35e99b17_0_319"/>
          <p:cNvSpPr/>
          <p:nvPr/>
        </p:nvSpPr>
        <p:spPr>
          <a:xfrm>
            <a:off x="752475" y="3333750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44" name="Google Shape;644;g3fb35e99b17_0_319"/>
          <p:cNvSpPr/>
          <p:nvPr/>
        </p:nvSpPr>
        <p:spPr>
          <a:xfrm>
            <a:off x="1524000" y="3286125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Budget alerts</a:t>
            </a:r>
            <a:endParaRPr/>
          </a:p>
        </p:txBody>
      </p:sp>
      <p:sp>
        <p:nvSpPr>
          <p:cNvPr id="645" name="Google Shape;645;g3fb35e99b17_0_319"/>
          <p:cNvSpPr/>
          <p:nvPr/>
        </p:nvSpPr>
        <p:spPr>
          <a:xfrm>
            <a:off x="1524000" y="3695700"/>
            <a:ext cx="39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Create alerts at 50%, 90% and 100%</a:t>
            </a:r>
            <a:endParaRPr/>
          </a:p>
        </p:txBody>
      </p:sp>
      <p:sp>
        <p:nvSpPr>
          <p:cNvPr id="646" name="Google Shape;646;g3fb35e99b17_0_319"/>
          <p:cNvSpPr/>
          <p:nvPr/>
        </p:nvSpPr>
        <p:spPr>
          <a:xfrm>
            <a:off x="6286500" y="3048000"/>
            <a:ext cx="5286300" cy="1381200"/>
          </a:xfrm>
          <a:prstGeom prst="roundRect">
            <a:avLst>
              <a:gd fmla="val 15172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fb35e99b17_0_319"/>
          <p:cNvSpPr/>
          <p:nvPr/>
        </p:nvSpPr>
        <p:spPr>
          <a:xfrm>
            <a:off x="6515100" y="3333750"/>
            <a:ext cx="552600" cy="552600"/>
          </a:xfrm>
          <a:prstGeom prst="roundRect">
            <a:avLst>
              <a:gd fmla="val 31034" name="adj"/>
            </a:avLst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b35e99b17_0_319"/>
          <p:cNvSpPr/>
          <p:nvPr/>
        </p:nvSpPr>
        <p:spPr>
          <a:xfrm>
            <a:off x="6515100" y="3333750"/>
            <a:ext cx="55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49" name="Google Shape;649;g3fb35e99b17_0_319"/>
          <p:cNvSpPr/>
          <p:nvPr/>
        </p:nvSpPr>
        <p:spPr>
          <a:xfrm>
            <a:off x="7286625" y="3286125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Clean images</a:t>
            </a:r>
            <a:endParaRPr/>
          </a:p>
        </p:txBody>
      </p:sp>
      <p:sp>
        <p:nvSpPr>
          <p:cNvPr id="650" name="Google Shape;650;g3fb35e99b17_0_319"/>
          <p:cNvSpPr/>
          <p:nvPr/>
        </p:nvSpPr>
        <p:spPr>
          <a:xfrm>
            <a:off x="7286625" y="3695700"/>
            <a:ext cx="39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Remove old Artifact Registry revisions</a:t>
            </a:r>
            <a:endParaRPr/>
          </a:p>
        </p:txBody>
      </p:sp>
      <p:sp>
        <p:nvSpPr>
          <p:cNvPr id="651" name="Google Shape;651;g3fb35e99b17_0_319"/>
          <p:cNvSpPr/>
          <p:nvPr/>
        </p:nvSpPr>
        <p:spPr>
          <a:xfrm>
            <a:off x="523875" y="5095875"/>
            <a:ext cx="11001300" cy="762000"/>
          </a:xfrm>
          <a:prstGeom prst="roundRect">
            <a:avLst>
              <a:gd fmla="val 25000" name="adj"/>
            </a:avLst>
          </a:prstGeom>
          <a:solidFill>
            <a:srgbClr val="FDE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fb35e99b17_0_319"/>
          <p:cNvSpPr/>
          <p:nvPr/>
        </p:nvSpPr>
        <p:spPr>
          <a:xfrm>
            <a:off x="762000" y="5286375"/>
            <a:ext cx="1143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A4335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/>
          </a:p>
        </p:txBody>
      </p:sp>
      <p:sp>
        <p:nvSpPr>
          <p:cNvPr id="653" name="Google Shape;653;g3fb35e99b17_0_319"/>
          <p:cNvSpPr/>
          <p:nvPr/>
        </p:nvSpPr>
        <p:spPr>
          <a:xfrm>
            <a:off x="2000250" y="5219700"/>
            <a:ext cx="9096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52238"/>
                </a:solidFill>
                <a:latin typeface="Arial"/>
                <a:ea typeface="Arial"/>
                <a:cs typeface="Arial"/>
                <a:sym typeface="Arial"/>
              </a:rPr>
              <a:t>Budget alerts warn you; they do not automatically stop spending. OpenAI usage is billed separately.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b35e99b17_0_348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completed system now collects and serves AI news automatically</a:t>
            </a:r>
            <a:endParaRPr/>
          </a:p>
        </p:txBody>
      </p:sp>
      <p:sp>
        <p:nvSpPr>
          <p:cNvPr id="660" name="Google Shape;660;g3fb35e99b17_0_348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661" name="Google Shape;661;g3fb35e99b17_0_348"/>
          <p:cNvSpPr/>
          <p:nvPr/>
        </p:nvSpPr>
        <p:spPr>
          <a:xfrm>
            <a:off x="400050" y="1809750"/>
            <a:ext cx="1952700" cy="1714500"/>
          </a:xfrm>
          <a:prstGeom prst="roundRect">
            <a:avLst>
              <a:gd fmla="val 12222" name="adj"/>
            </a:avLst>
          </a:prstGeom>
          <a:solidFill>
            <a:srgbClr val="243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fb35e99b17_0_348"/>
          <p:cNvSpPr/>
          <p:nvPr/>
        </p:nvSpPr>
        <p:spPr>
          <a:xfrm>
            <a:off x="1028700" y="2047875"/>
            <a:ext cx="685800" cy="6858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b35e99b17_0_348"/>
          <p:cNvSpPr/>
          <p:nvPr/>
        </p:nvSpPr>
        <p:spPr>
          <a:xfrm>
            <a:off x="1028700" y="204787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64" name="Google Shape;664;g3fb35e99b17_0_348"/>
          <p:cNvSpPr/>
          <p:nvPr/>
        </p:nvSpPr>
        <p:spPr>
          <a:xfrm>
            <a:off x="590550" y="2857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  <a:endParaRPr/>
          </a:p>
        </p:txBody>
      </p:sp>
      <p:sp>
        <p:nvSpPr>
          <p:cNvPr id="665" name="Google Shape;665;g3fb35e99b17_0_348"/>
          <p:cNvSpPr/>
          <p:nvPr/>
        </p:nvSpPr>
        <p:spPr>
          <a:xfrm>
            <a:off x="590550" y="3219450"/>
            <a:ext cx="15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Hacker News scraper</a:t>
            </a:r>
            <a:endParaRPr/>
          </a:p>
        </p:txBody>
      </p:sp>
      <p:sp>
        <p:nvSpPr>
          <p:cNvPr id="666" name="Google Shape;666;g3fb35e99b17_0_348"/>
          <p:cNvSpPr/>
          <p:nvPr/>
        </p:nvSpPr>
        <p:spPr>
          <a:xfrm>
            <a:off x="2371725" y="24955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b35e99b17_0_348"/>
          <p:cNvSpPr/>
          <p:nvPr/>
        </p:nvSpPr>
        <p:spPr>
          <a:xfrm>
            <a:off x="2724150" y="1809750"/>
            <a:ext cx="1952700" cy="1714500"/>
          </a:xfrm>
          <a:prstGeom prst="roundRect">
            <a:avLst>
              <a:gd fmla="val 12222" name="adj"/>
            </a:avLst>
          </a:prstGeom>
          <a:solidFill>
            <a:srgbClr val="243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fb35e99b17_0_348"/>
          <p:cNvSpPr/>
          <p:nvPr/>
        </p:nvSpPr>
        <p:spPr>
          <a:xfrm>
            <a:off x="3352800" y="2047875"/>
            <a:ext cx="685800" cy="6858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fb35e99b17_0_348"/>
          <p:cNvSpPr/>
          <p:nvPr/>
        </p:nvSpPr>
        <p:spPr>
          <a:xfrm>
            <a:off x="3352800" y="204787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70" name="Google Shape;670;g3fb35e99b17_0_348"/>
          <p:cNvSpPr/>
          <p:nvPr/>
        </p:nvSpPr>
        <p:spPr>
          <a:xfrm>
            <a:off x="2914650" y="2857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Enrich</a:t>
            </a:r>
            <a:endParaRPr/>
          </a:p>
        </p:txBody>
      </p:sp>
      <p:sp>
        <p:nvSpPr>
          <p:cNvPr id="671" name="Google Shape;671;g3fb35e99b17_0_348"/>
          <p:cNvSpPr/>
          <p:nvPr/>
        </p:nvSpPr>
        <p:spPr>
          <a:xfrm>
            <a:off x="2914650" y="3219450"/>
            <a:ext cx="15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1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OpenAI summary + tags</a:t>
            </a:r>
            <a:endParaRPr/>
          </a:p>
        </p:txBody>
      </p:sp>
      <p:sp>
        <p:nvSpPr>
          <p:cNvPr id="672" name="Google Shape;672;g3fb35e99b17_0_348"/>
          <p:cNvSpPr/>
          <p:nvPr/>
        </p:nvSpPr>
        <p:spPr>
          <a:xfrm>
            <a:off x="4695825" y="24955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fb35e99b17_0_348"/>
          <p:cNvSpPr/>
          <p:nvPr/>
        </p:nvSpPr>
        <p:spPr>
          <a:xfrm>
            <a:off x="5048250" y="1809750"/>
            <a:ext cx="1952700" cy="1714500"/>
          </a:xfrm>
          <a:prstGeom prst="roundRect">
            <a:avLst>
              <a:gd fmla="val 12222" name="adj"/>
            </a:avLst>
          </a:prstGeom>
          <a:solidFill>
            <a:srgbClr val="243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b35e99b17_0_348"/>
          <p:cNvSpPr/>
          <p:nvPr/>
        </p:nvSpPr>
        <p:spPr>
          <a:xfrm>
            <a:off x="5676900" y="2047875"/>
            <a:ext cx="685800" cy="685800"/>
          </a:xfrm>
          <a:prstGeom prst="roundRect">
            <a:avLst>
              <a:gd fmla="val 50000" name="adj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fb35e99b17_0_348"/>
          <p:cNvSpPr/>
          <p:nvPr/>
        </p:nvSpPr>
        <p:spPr>
          <a:xfrm>
            <a:off x="5676900" y="204787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76" name="Google Shape;676;g3fb35e99b17_0_348"/>
          <p:cNvSpPr/>
          <p:nvPr/>
        </p:nvSpPr>
        <p:spPr>
          <a:xfrm>
            <a:off x="5238750" y="2857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/>
          </a:p>
        </p:txBody>
      </p:sp>
      <p:sp>
        <p:nvSpPr>
          <p:cNvPr id="677" name="Google Shape;677;g3fb35e99b17_0_348"/>
          <p:cNvSpPr/>
          <p:nvPr/>
        </p:nvSpPr>
        <p:spPr>
          <a:xfrm>
            <a:off x="5238750" y="3219450"/>
            <a:ext cx="15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Chunks + embeddings</a:t>
            </a:r>
            <a:endParaRPr/>
          </a:p>
        </p:txBody>
      </p:sp>
      <p:sp>
        <p:nvSpPr>
          <p:cNvPr id="678" name="Google Shape;678;g3fb35e99b17_0_348"/>
          <p:cNvSpPr/>
          <p:nvPr/>
        </p:nvSpPr>
        <p:spPr>
          <a:xfrm>
            <a:off x="7019925" y="24955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A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b35e99b17_0_348"/>
          <p:cNvSpPr/>
          <p:nvPr/>
        </p:nvSpPr>
        <p:spPr>
          <a:xfrm>
            <a:off x="7372350" y="1809750"/>
            <a:ext cx="1952700" cy="1714500"/>
          </a:xfrm>
          <a:prstGeom prst="roundRect">
            <a:avLst>
              <a:gd fmla="val 12222" name="adj"/>
            </a:avLst>
          </a:prstGeom>
          <a:solidFill>
            <a:srgbClr val="243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fb35e99b17_0_348"/>
          <p:cNvSpPr/>
          <p:nvPr/>
        </p:nvSpPr>
        <p:spPr>
          <a:xfrm>
            <a:off x="8001000" y="2047875"/>
            <a:ext cx="685800" cy="685800"/>
          </a:xfrm>
          <a:prstGeom prst="roundRect">
            <a:avLst>
              <a:gd fmla="val 50000" name="adj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fb35e99b17_0_348"/>
          <p:cNvSpPr/>
          <p:nvPr/>
        </p:nvSpPr>
        <p:spPr>
          <a:xfrm>
            <a:off x="8001000" y="204787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82" name="Google Shape;682;g3fb35e99b17_0_348"/>
          <p:cNvSpPr/>
          <p:nvPr/>
        </p:nvSpPr>
        <p:spPr>
          <a:xfrm>
            <a:off x="7562850" y="2857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/>
          </a:p>
        </p:txBody>
      </p:sp>
      <p:sp>
        <p:nvSpPr>
          <p:cNvPr id="683" name="Google Shape;683;g3fb35e99b17_0_348"/>
          <p:cNvSpPr/>
          <p:nvPr/>
        </p:nvSpPr>
        <p:spPr>
          <a:xfrm>
            <a:off x="7562850" y="3219450"/>
            <a:ext cx="15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Supabase pgvector</a:t>
            </a:r>
            <a:endParaRPr/>
          </a:p>
        </p:txBody>
      </p:sp>
      <p:sp>
        <p:nvSpPr>
          <p:cNvPr id="684" name="Google Shape;684;g3fb35e99b17_0_348"/>
          <p:cNvSpPr/>
          <p:nvPr/>
        </p:nvSpPr>
        <p:spPr>
          <a:xfrm>
            <a:off x="9344025" y="2495550"/>
            <a:ext cx="324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C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fb35e99b17_0_348"/>
          <p:cNvSpPr/>
          <p:nvPr/>
        </p:nvSpPr>
        <p:spPr>
          <a:xfrm>
            <a:off x="9696450" y="1809750"/>
            <a:ext cx="1952700" cy="1714500"/>
          </a:xfrm>
          <a:prstGeom prst="roundRect">
            <a:avLst>
              <a:gd fmla="val 12222" name="adj"/>
            </a:avLst>
          </a:prstGeom>
          <a:solidFill>
            <a:srgbClr val="243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fb35e99b17_0_348"/>
          <p:cNvSpPr/>
          <p:nvPr/>
        </p:nvSpPr>
        <p:spPr>
          <a:xfrm>
            <a:off x="10325100" y="2047875"/>
            <a:ext cx="685800" cy="685800"/>
          </a:xfrm>
          <a:prstGeom prst="roundRect">
            <a:avLst>
              <a:gd fmla="val 50000" name="adj"/>
            </a:avLst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fb35e99b17_0_348"/>
          <p:cNvSpPr/>
          <p:nvPr/>
        </p:nvSpPr>
        <p:spPr>
          <a:xfrm>
            <a:off x="10325100" y="204787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88" name="Google Shape;688;g3fb35e99b17_0_348"/>
          <p:cNvSpPr/>
          <p:nvPr/>
        </p:nvSpPr>
        <p:spPr>
          <a:xfrm>
            <a:off x="9886950" y="2857500"/>
            <a:ext cx="157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/>
          </a:p>
        </p:txBody>
      </p:sp>
      <p:sp>
        <p:nvSpPr>
          <p:cNvPr id="689" name="Google Shape;689;g3fb35e99b17_0_348"/>
          <p:cNvSpPr/>
          <p:nvPr/>
        </p:nvSpPr>
        <p:spPr>
          <a:xfrm>
            <a:off x="9886950" y="3219450"/>
            <a:ext cx="15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Cloud Run FastAPI</a:t>
            </a:r>
            <a:endParaRPr/>
          </a:p>
        </p:txBody>
      </p:sp>
      <p:sp>
        <p:nvSpPr>
          <p:cNvPr id="690" name="Google Shape;690;g3fb35e99b17_0_348"/>
          <p:cNvSpPr/>
          <p:nvPr/>
        </p:nvSpPr>
        <p:spPr>
          <a:xfrm>
            <a:off x="1809750" y="4238625"/>
            <a:ext cx="8572500" cy="1000200"/>
          </a:xfrm>
          <a:prstGeom prst="roundRect">
            <a:avLst>
              <a:gd fmla="val 22857" name="adj"/>
            </a:avLst>
          </a:prstGeom>
          <a:solidFill>
            <a:srgbClr val="1D32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fb35e99b17_0_348"/>
          <p:cNvSpPr/>
          <p:nvPr/>
        </p:nvSpPr>
        <p:spPr>
          <a:xfrm>
            <a:off x="2143125" y="4419600"/>
            <a:ext cx="18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7">
                <a:solidFill>
                  <a:srgbClr val="AFC4EF"/>
                </a:solidFill>
                <a:latin typeface="Arial"/>
                <a:ea typeface="Arial"/>
                <a:cs typeface="Arial"/>
                <a:sym typeface="Arial"/>
              </a:rPr>
              <a:t>Deployed resources</a:t>
            </a:r>
            <a:endParaRPr/>
          </a:p>
        </p:txBody>
      </p:sp>
      <p:sp>
        <p:nvSpPr>
          <p:cNvPr id="692" name="Google Shape;692;g3fb35e99b17_0_348"/>
          <p:cNvSpPr/>
          <p:nvPr/>
        </p:nvSpPr>
        <p:spPr>
          <a:xfrm>
            <a:off x="2143125" y="4810125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ai-news-api   ·   ai-news-pipeline   ·   ai-news-pipeline-weekly</a:t>
            </a:r>
            <a:endParaRPr/>
          </a:p>
        </p:txBody>
      </p:sp>
      <p:sp>
        <p:nvSpPr>
          <p:cNvPr id="693" name="Google Shape;693;g3fb35e99b17_0_348"/>
          <p:cNvSpPr/>
          <p:nvPr/>
        </p:nvSpPr>
        <p:spPr>
          <a:xfrm>
            <a:off x="2000250" y="5715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Next improvement: protect costly endpoints and add monitoring before broader use.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8d1f417ba_0_8"/>
          <p:cNvSpPr/>
          <p:nvPr/>
        </p:nvSpPr>
        <p:spPr>
          <a:xfrm>
            <a:off x="590550" y="323850"/>
            <a:ext cx="1047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3">
                <a:solidFill>
                  <a:srgbClr val="152238"/>
                </a:solidFill>
              </a:rPr>
              <a:t>Front end..and simpler alternatives? </a:t>
            </a:r>
            <a:endParaRPr/>
          </a:p>
        </p:txBody>
      </p:sp>
      <p:sp>
        <p:nvSpPr>
          <p:cNvPr id="700" name="Google Shape;700;g3f8d1f417ba_0_8"/>
          <p:cNvSpPr/>
          <p:nvPr/>
        </p:nvSpPr>
        <p:spPr>
          <a:xfrm>
            <a:off x="11144250" y="63341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665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701" name="Google Shape;701;g3f8d1f417ba_0_8"/>
          <p:cNvSpPr/>
          <p:nvPr/>
        </p:nvSpPr>
        <p:spPr>
          <a:xfrm>
            <a:off x="523875" y="1285875"/>
            <a:ext cx="9693300" cy="4763700"/>
          </a:xfrm>
          <a:prstGeom prst="roundRect">
            <a:avLst>
              <a:gd fmla="val 15172" name="adj"/>
            </a:avLst>
          </a:prstGeom>
          <a:solidFill>
            <a:srgbClr val="FFFFFF"/>
          </a:solidFill>
          <a:ln cap="flat" cmpd="sng" w="9525">
            <a:solidFill>
              <a:srgbClr val="D6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f8d1f417ba_0_8"/>
          <p:cNvSpPr/>
          <p:nvPr/>
        </p:nvSpPr>
        <p:spPr>
          <a:xfrm>
            <a:off x="1524000" y="1524000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Streamlit</a:t>
            </a:r>
            <a:endParaRPr/>
          </a:p>
        </p:txBody>
      </p:sp>
      <p:sp>
        <p:nvSpPr>
          <p:cNvPr id="703" name="Google Shape;703;g3f8d1f417ba_0_8"/>
          <p:cNvSpPr/>
          <p:nvPr/>
        </p:nvSpPr>
        <p:spPr>
          <a:xfrm>
            <a:off x="1524000" y="1933575"/>
            <a:ext cx="39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