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7" roundtripDataSignature="AMtx7mjQ6iO3uEsVFL863VjMb775Ggf26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7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Opening slide for the Week 5 lesson on LLM evaluations.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Source: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/Users/linqianpeng/Downloads/Week-5-Introduction-to-LLM-Evaluations.pdf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" name="Google Shape;22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You will have no idea how to tackle this questions without evaluations  or fix things when issues when they appear and u have no idea if u fixing prompt is overfitting to new cases and creating new holes </a:t>
            </a:r>
            <a:endParaRPr/>
          </a:p>
        </p:txBody>
      </p:sp>
      <p:sp>
        <p:nvSpPr>
          <p:cNvPr id="23" name="Google Shape;23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" name="Google Shape;31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The source contrasts non-deterministic, subjective LLM outputs with traditional software and asks how teams can measure quality systematically.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Source: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/Users/linqianpeng/Downloads/Week-5-Introduction-to-LLM-Evaluations.pdf</a:t>
            </a:r>
            <a:endParaRPr/>
          </a:p>
        </p:txBody>
      </p:sp>
      <p:sp>
        <p:nvSpPr>
          <p:cNvPr id="32" name="Google Shape;32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" name="Google Shape;53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The three challenges from the source are understanding the data, specification gaps and inconsistent behavior.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Source: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/Users/linqianpeng/Downloads/Week-5-Introduction-to-LLM-Evaluations.pdf</a:t>
            </a:r>
            <a:endParaRPr/>
          </a:p>
        </p:txBody>
      </p:sp>
      <p:sp>
        <p:nvSpPr>
          <p:cNvPr id="54" name="Google Shape;54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2" name="Google Shape;72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The source frames success as the speed of iteration across evaluation, debugging and behavior change.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Source: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/Users/linqianpeng/Downloads/Week-5-Introduction-to-LLM-Evaluations.pdf</a:t>
            </a:r>
            <a:endParaRPr/>
          </a:p>
        </p:txBody>
      </p:sp>
      <p:sp>
        <p:nvSpPr>
          <p:cNvPr id="73" name="Google Shape;73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2" name="Google Shape;92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The source defines evaluation as systematic measurement and describes operational uses in monitoring, guardrails and improvement.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Source: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/Users/linqianpeng/Downloads/Week-5-Introduction-to-LLM-Evaluations.pdf</a:t>
            </a:r>
            <a:endParaRPr/>
          </a:p>
        </p:txBody>
      </p:sp>
      <p:sp>
        <p:nvSpPr>
          <p:cNvPr id="93" name="Google Shape;93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1" name="Google Shape;111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The source presents a continuous analyze-measure-improve lifecycle and attributes it to Shankar and Husain, 2025.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Source: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/Users/linqianpeng/Downloads/Week-5-Introduction-to-LLM-Evaluations.pdf</a:t>
            </a:r>
            <a:endParaRPr/>
          </a:p>
        </p:txBody>
      </p:sp>
      <p:sp>
        <p:nvSpPr>
          <p:cNvPr id="112" name="Google Shape;112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4" name="Google Shape;134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The source presents unit tests, human and model evaluation, and A/B testing as three levels with increasing cost and effort.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Source: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/Users/linqianpeng/Downloads/Week-5-Introduction-to-LLM-Evaluations.pdf</a:t>
            </a:r>
            <a:endParaRPr/>
          </a:p>
        </p:txBody>
      </p:sp>
      <p:sp>
        <p:nvSpPr>
          <p:cNvPr id="135" name="Google Shape;135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3" name="Google Shape;153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The source describes LLM unit tests as fast checks for explicit properties and highlights Python assert statements for structured output.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Source: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/Users/linqianpeng/Downloads/Week-5-Introduction-to-LLM-Evaluations.pdf</a:t>
            </a:r>
            <a:endParaRPr/>
          </a:p>
        </p:txBody>
      </p:sp>
      <p:sp>
        <p:nvSpPr>
          <p:cNvPr id="154" name="Google Shape;154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8" name="Google Shape;168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The source compares human evaluation with LLM-as-judge and emphasizes alignment between model and human judgments.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Source: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/Users/linqianpeng/Downloads/Week-5-Introduction-to-LLM-Evaluations.pdf</a:t>
            </a:r>
            <a:endParaRPr/>
          </a:p>
        </p:txBody>
      </p:sp>
      <p:sp>
        <p:nvSpPr>
          <p:cNvPr id="169" name="Google Shape;169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2" name="Google Shape;182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The source recommends A/B testing for mature systems and includes an illustrative prompt comparison with a reported 15% satisfaction increase.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Source: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/Users/linqianpeng/Downloads/Week-5-Introduction-to-LLM-Evaluations.pdf</a:t>
            </a:r>
            <a:endParaRPr/>
          </a:p>
        </p:txBody>
      </p:sp>
      <p:sp>
        <p:nvSpPr>
          <p:cNvPr id="183" name="Google Shape;183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4" name="Google Shape;204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The source separates metrics into reference-based and reference-free categories with these examples.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Source: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/Users/linqianpeng/Downloads/Week-5-Introduction-to-LLM-Evaluations.pdf</a:t>
            </a:r>
            <a:endParaRPr/>
          </a:p>
        </p:txBody>
      </p:sp>
      <p:sp>
        <p:nvSpPr>
          <p:cNvPr id="205" name="Google Shape;205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9" name="Google Shape;219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The source identifies tool-first thinking, generic metrics, avoiding real data and unaligned judges as common mistakes.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Source: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/Users/linqianpeng/Downloads/Week-5-Introduction-to-LLM-Evaluations.pdf</a:t>
            </a:r>
            <a:endParaRPr/>
          </a:p>
        </p:txBody>
      </p:sp>
      <p:sp>
        <p:nvSpPr>
          <p:cNvPr id="220" name="Google Shape;220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2" name="Google Shape;242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The source principles are to start simply, inspect real data, remove friction and use LLMs to scale evaluation tasks while retaining human validation.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Source: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/Users/linqianpeng/Downloads/Week-5-Introduction-to-LLM-Evaluations.pdf</a:t>
            </a:r>
            <a:endParaRPr/>
          </a:p>
        </p:txBody>
      </p:sp>
      <p:sp>
        <p:nvSpPr>
          <p:cNvPr id="243" name="Google Shape;243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1" name="Google Shape;261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The source concludes by contrasting systematic, measurable improvement with trial-and-error development.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Source: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/Users/linqianpeng/Downloads/Week-5-Introduction-to-LLM-Evaluations.pdf</a:t>
            </a:r>
            <a:endParaRPr/>
          </a:p>
        </p:txBody>
      </p:sp>
      <p:sp>
        <p:nvSpPr>
          <p:cNvPr id="262" name="Google Shape;262;p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6" name="Google Shape;276;p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Section divider for the practical RAG evaluation workflow implemented in the week-6 branch.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Source: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https://github.com/lindseypeng/ai-news-api/tree/week-6/week6</a:t>
            </a:r>
            <a:endParaRPr/>
          </a:p>
        </p:txBody>
      </p:sp>
      <p:sp>
        <p:nvSpPr>
          <p:cNvPr id="277" name="Google Shape;277;p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7" name="Google Shape;287;p1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The runner reports retrieval accuracy, answer accuracy and combined end-to-end accuracy. The expected source metadata is used only for evaluation.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Source: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https://github.com/lindseypeng/ai-news-api/tree/week-6/week6</a:t>
            </a:r>
            <a:endParaRPr/>
          </a:p>
        </p:txBody>
      </p:sp>
      <p:sp>
        <p:nvSpPr>
          <p:cNvPr id="288" name="Google Shape;288;p1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4" name="Google Shape;304;p2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The evaluation package contains the fixed corpus, test cases, fixture loader, HTTP runner and answer matching functions.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Source: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https://github.com/lindseypeng/ai-news-api/tree/week-6/week6</a:t>
            </a:r>
            <a:endParaRPr/>
          </a:p>
        </p:txBody>
      </p:sp>
      <p:sp>
        <p:nvSpPr>
          <p:cNvPr id="305" name="Google Shape;305;p2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6" name="Google Shape;326;p2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Run the fixture loader once with the database and OpenAI environment variables configured. It is safe to rerun because it skips existing records and chunks.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Source: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https://github.com/lindseypeng/ai-news-api/tree/week-6/week6</a:t>
            </a:r>
            <a:endParaRPr/>
          </a:p>
        </p:txBody>
      </p:sp>
      <p:sp>
        <p:nvSpPr>
          <p:cNvPr id="327" name="Google Shape;327;p2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3" name="Google Shape;343;p2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The README starts the API separately, then demonstrates POST /ask/ with a Cobalt true-or-false question and a retrieval limit of five.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Source: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https://github.com/lindseypeng/ai-news-api/tree/week-6/week6</a:t>
            </a:r>
            <a:endParaRPr/>
          </a:p>
        </p:txBody>
      </p:sp>
      <p:sp>
        <p:nvSpPr>
          <p:cNvPr id="344" name="Google Shape;344;p2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8" name="Google Shape;358;p2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The runner sends all twelve questions to the local API, prints a PASS or FAIL line for each case and reports three accuracy measures.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Source: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https://github.com/lindseypeng/ai-news-api/tree/week-6/week6</a:t>
            </a:r>
            <a:endParaRPr/>
          </a:p>
        </p:txBody>
      </p:sp>
      <p:sp>
        <p:nvSpPr>
          <p:cNvPr id="359" name="Google Shape;359;p2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2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0" name="Google Shape;380;p2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Use failure type to choose the next experiment. Offline unit tests verify the deterministic scorer. The optional minimum-accuracy threshold turns the report into a CI quality gate.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Source: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https://github.com/lindseypeng/ai-news-api/tree/week-6/week6</a:t>
            </a:r>
            <a:endParaRPr/>
          </a:p>
        </p:txBody>
      </p:sp>
      <p:sp>
        <p:nvSpPr>
          <p:cNvPr id="381" name="Google Shape;381;p2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github.com/lindseypeng/ai-news-api/tree/week-6/week6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72554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685800" y="781050"/>
            <a:ext cx="7239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GenAI Accelerator</a:t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685800" y="1666875"/>
            <a:ext cx="8096250" cy="1381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Introduction to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LLM evaluations</a:t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704850" y="3333750"/>
            <a:ext cx="92392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25">
                <a:solidFill>
                  <a:srgbClr val="C7D2FE"/>
                </a:solidFill>
                <a:latin typeface="Arial"/>
                <a:ea typeface="Arial"/>
                <a:cs typeface="Arial"/>
                <a:sym typeface="Arial"/>
              </a:rPr>
              <a:t>A practical framework for measuring, debugging and improving AI systems</a:t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704850" y="6096000"/>
            <a:ext cx="23812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650">
                <a:solidFill>
                  <a:srgbClr val="AFC4EF"/>
                </a:solidFill>
                <a:latin typeface="Arial"/>
                <a:ea typeface="Arial"/>
                <a:cs typeface="Arial"/>
                <a:sym typeface="Arial"/>
              </a:rPr>
              <a:t>Week 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D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"/>
          <p:cNvSpPr/>
          <p:nvPr/>
        </p:nvSpPr>
        <p:spPr>
          <a:xfrm>
            <a:off x="628650" y="361950"/>
            <a:ext cx="107632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58">
                <a:solidFill>
                  <a:srgbClr val="172033"/>
                </a:solidFill>
              </a:rPr>
              <a:t>Every AI Engineer will ask at some point: </a:t>
            </a:r>
            <a:endParaRPr/>
          </a:p>
        </p:txBody>
      </p:sp>
      <p:sp>
        <p:nvSpPr>
          <p:cNvPr id="26" name="Google Shape;26;p2"/>
          <p:cNvSpPr/>
          <p:nvPr/>
        </p:nvSpPr>
        <p:spPr>
          <a:xfrm>
            <a:off x="11191875" y="6419850"/>
            <a:ext cx="381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525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27" name="Google Shape;27;p2"/>
          <p:cNvSpPr/>
          <p:nvPr/>
        </p:nvSpPr>
        <p:spPr>
          <a:xfrm>
            <a:off x="714375" y="1195700"/>
            <a:ext cx="10229400" cy="4614600"/>
          </a:xfrm>
          <a:prstGeom prst="roundRect">
            <a:avLst>
              <a:gd fmla="val 3789" name="adj"/>
            </a:avLst>
          </a:prstGeom>
          <a:solidFill>
            <a:srgbClr val="EAF1FF"/>
          </a:solidFill>
          <a:ln cap="flat" cmpd="sng" w="95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"/>
          <p:cNvSpPr/>
          <p:nvPr/>
        </p:nvSpPr>
        <p:spPr>
          <a:xfrm>
            <a:off x="1047750" y="1438875"/>
            <a:ext cx="9166200" cy="34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• What changes when we adjust a system prompt?</a:t>
            </a:r>
            <a:endParaRPr sz="23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• Does the RAG pipeline </a:t>
            </a:r>
            <a:r>
              <a:rPr lang="en-US" sz="2400">
                <a:solidFill>
                  <a:srgbClr val="556278"/>
                </a:solidFill>
              </a:rPr>
              <a:t>is working correctly?</a:t>
            </a:r>
            <a:endParaRPr sz="23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• Does the classifier make the correct decision?</a:t>
            </a:r>
            <a:endParaRPr sz="23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• Are factual accuracy and tone both acceptable?</a:t>
            </a:r>
            <a:endParaRPr sz="2400">
              <a:solidFill>
                <a:srgbClr val="55627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400">
                <a:solidFill>
                  <a:srgbClr val="556278"/>
                </a:solidFill>
              </a:rPr>
              <a:t>• How will the system handle inputs we have not seen?</a:t>
            </a:r>
            <a:endParaRPr sz="2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400">
                <a:solidFill>
                  <a:srgbClr val="556278"/>
                </a:solidFill>
              </a:rPr>
              <a:t>• Can we catch unsafe outputs before users see them?</a:t>
            </a:r>
            <a:endParaRPr sz="2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556278"/>
                </a:solidFill>
              </a:rPr>
              <a:t>• How will we notice performance degradation?</a:t>
            </a:r>
            <a:endParaRPr sz="2400">
              <a:solidFill>
                <a:srgbClr val="55627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400">
                <a:solidFill>
                  <a:srgbClr val="556278"/>
                </a:solidFill>
              </a:rPr>
              <a:t>• How can i improve the accuracy of this RAG?</a:t>
            </a:r>
            <a:endParaRPr sz="2400">
              <a:solidFill>
                <a:srgbClr val="55627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556278"/>
                </a:solidFill>
              </a:rPr>
              <a:t>• Can the system recognize prompt injection attempts?</a:t>
            </a:r>
            <a:endParaRPr sz="2400">
              <a:solidFill>
                <a:srgbClr val="55627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55627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2400">
              <a:solidFill>
                <a:srgbClr val="556278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"/>
          <p:cNvSpPr/>
          <p:nvPr/>
        </p:nvSpPr>
        <p:spPr>
          <a:xfrm>
            <a:off x="628650" y="361950"/>
            <a:ext cx="107632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75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LLM behavior is harder to evaluate than traditional software</a:t>
            </a:r>
            <a:endParaRPr/>
          </a:p>
        </p:txBody>
      </p:sp>
      <p:sp>
        <p:nvSpPr>
          <p:cNvPr id="35" name="Google Shape;35;p3"/>
          <p:cNvSpPr/>
          <p:nvPr/>
        </p:nvSpPr>
        <p:spPr>
          <a:xfrm>
            <a:off x="11191875" y="6419850"/>
            <a:ext cx="381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525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36" name="Google Shape;36;p3"/>
          <p:cNvSpPr/>
          <p:nvPr/>
        </p:nvSpPr>
        <p:spPr>
          <a:xfrm>
            <a:off x="781050" y="1285875"/>
            <a:ext cx="104775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LLM outputs do not always have one objectively correct answer.</a:t>
            </a:r>
            <a:endParaRPr/>
          </a:p>
        </p:txBody>
      </p:sp>
      <p:sp>
        <p:nvSpPr>
          <p:cNvPr id="37" name="Google Shape;37;p3"/>
          <p:cNvSpPr/>
          <p:nvPr/>
        </p:nvSpPr>
        <p:spPr>
          <a:xfrm>
            <a:off x="714375" y="2047875"/>
            <a:ext cx="3397250" cy="2857500"/>
          </a:xfrm>
          <a:prstGeom prst="roundRect">
            <a:avLst>
              <a:gd fmla="val 6000" name="adj"/>
            </a:avLst>
          </a:prstGeom>
          <a:solidFill>
            <a:srgbClr val="EAF1FF"/>
          </a:solidFill>
          <a:ln cap="flat" cmpd="sng" w="95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3"/>
          <p:cNvSpPr/>
          <p:nvPr/>
        </p:nvSpPr>
        <p:spPr>
          <a:xfrm>
            <a:off x="981075" y="2276475"/>
            <a:ext cx="28638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39" name="Google Shape;39;p3"/>
          <p:cNvSpPr/>
          <p:nvPr/>
        </p:nvSpPr>
        <p:spPr>
          <a:xfrm>
            <a:off x="981075" y="2667000"/>
            <a:ext cx="28638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72033"/>
                </a:solidFill>
              </a:rPr>
              <a:t>Inconsistency and non-deterministic</a:t>
            </a:r>
            <a:endParaRPr/>
          </a:p>
        </p:txBody>
      </p:sp>
      <p:sp>
        <p:nvSpPr>
          <p:cNvPr id="40" name="Google Shape;40;p3"/>
          <p:cNvSpPr/>
          <p:nvPr/>
        </p:nvSpPr>
        <p:spPr>
          <a:xfrm>
            <a:off x="981075" y="3429000"/>
            <a:ext cx="2863850" cy="1190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The same input can produce different responses across runs. Multiple answers may still be valid.</a:t>
            </a:r>
            <a:endParaRPr/>
          </a:p>
        </p:txBody>
      </p:sp>
      <p:sp>
        <p:nvSpPr>
          <p:cNvPr id="41" name="Google Shape;41;p3"/>
          <p:cNvSpPr/>
          <p:nvPr/>
        </p:nvSpPr>
        <p:spPr>
          <a:xfrm>
            <a:off x="4397375" y="2047875"/>
            <a:ext cx="3397250" cy="2857500"/>
          </a:xfrm>
          <a:prstGeom prst="roundRect">
            <a:avLst>
              <a:gd fmla="val 6000" name="adj"/>
            </a:avLst>
          </a:prstGeom>
          <a:solidFill>
            <a:srgbClr val="E8F7F0"/>
          </a:solidFill>
          <a:ln cap="flat" cmpd="sng" w="9525">
            <a:solidFill>
              <a:srgbClr val="1684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3"/>
          <p:cNvSpPr/>
          <p:nvPr/>
        </p:nvSpPr>
        <p:spPr>
          <a:xfrm>
            <a:off x="4664075" y="2276475"/>
            <a:ext cx="28638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16845B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43" name="Google Shape;43;p3"/>
          <p:cNvSpPr/>
          <p:nvPr/>
        </p:nvSpPr>
        <p:spPr>
          <a:xfrm>
            <a:off x="4664075" y="2667000"/>
            <a:ext cx="28638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Context matters</a:t>
            </a:r>
            <a:endParaRPr/>
          </a:p>
        </p:txBody>
      </p:sp>
      <p:sp>
        <p:nvSpPr>
          <p:cNvPr id="44" name="Google Shape;44;p3"/>
          <p:cNvSpPr/>
          <p:nvPr/>
        </p:nvSpPr>
        <p:spPr>
          <a:xfrm>
            <a:off x="4664075" y="3429000"/>
            <a:ext cx="2863850" cy="1190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A response can be acceptable in one situation and inappropriate in another. Quality often depends on user intent. Multiple valid</a:t>
            </a:r>
            <a:r>
              <a:rPr lang="en-US" sz="1350">
                <a:solidFill>
                  <a:srgbClr val="556278"/>
                </a:solidFill>
              </a:rPr>
              <a:t> </a:t>
            </a:r>
            <a:r>
              <a:rPr lang="en-US" sz="1350">
                <a:solidFill>
                  <a:srgbClr val="556278"/>
                </a:solidFill>
              </a:rPr>
              <a:t>response</a:t>
            </a:r>
            <a:r>
              <a:rPr lang="en-US" sz="1350">
                <a:solidFill>
                  <a:srgbClr val="556278"/>
                </a:solidFill>
              </a:rPr>
              <a:t> can exist. </a:t>
            </a:r>
            <a:endParaRPr/>
          </a:p>
        </p:txBody>
      </p:sp>
      <p:sp>
        <p:nvSpPr>
          <p:cNvPr id="45" name="Google Shape;45;p3"/>
          <p:cNvSpPr/>
          <p:nvPr/>
        </p:nvSpPr>
        <p:spPr>
          <a:xfrm>
            <a:off x="8080375" y="2047875"/>
            <a:ext cx="3397250" cy="2857500"/>
          </a:xfrm>
          <a:prstGeom prst="roundRect">
            <a:avLst>
              <a:gd fmla="val 6000" name="adj"/>
            </a:avLst>
          </a:prstGeom>
          <a:solidFill>
            <a:srgbClr val="FFF4DC"/>
          </a:solidFill>
          <a:ln cap="flat" cmpd="sng" w="9525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3"/>
          <p:cNvSpPr/>
          <p:nvPr/>
        </p:nvSpPr>
        <p:spPr>
          <a:xfrm>
            <a:off x="8347075" y="2276475"/>
            <a:ext cx="28638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47" name="Google Shape;47;p3"/>
          <p:cNvSpPr/>
          <p:nvPr/>
        </p:nvSpPr>
        <p:spPr>
          <a:xfrm>
            <a:off x="8347075" y="2667000"/>
            <a:ext cx="28638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Subtle failures</a:t>
            </a:r>
            <a:endParaRPr/>
          </a:p>
        </p:txBody>
      </p:sp>
      <p:sp>
        <p:nvSpPr>
          <p:cNvPr id="48" name="Google Shape;48;p3"/>
          <p:cNvSpPr/>
          <p:nvPr/>
        </p:nvSpPr>
        <p:spPr>
          <a:xfrm>
            <a:off x="8347075" y="3429000"/>
            <a:ext cx="2863850" cy="1190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A response may be factually correct while its tone, completeness or reasoning still feels wrong.</a:t>
            </a:r>
            <a:endParaRPr/>
          </a:p>
        </p:txBody>
      </p:sp>
      <p:sp>
        <p:nvSpPr>
          <p:cNvPr id="49" name="Google Shape;49;p3"/>
          <p:cNvSpPr/>
          <p:nvPr/>
        </p:nvSpPr>
        <p:spPr>
          <a:xfrm>
            <a:off x="1524000" y="5381625"/>
            <a:ext cx="9144000" cy="647700"/>
          </a:xfrm>
          <a:prstGeom prst="roundRect">
            <a:avLst>
              <a:gd fmla="val 20588" name="adj"/>
            </a:avLst>
          </a:prstGeom>
          <a:solidFill>
            <a:srgbClr val="FFFFFF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3"/>
          <p:cNvSpPr/>
          <p:nvPr/>
        </p:nvSpPr>
        <p:spPr>
          <a:xfrm>
            <a:off x="1809750" y="5562600"/>
            <a:ext cx="8572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Core question: How can we measure performance and identify where the system needs improvement?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D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"/>
          <p:cNvSpPr/>
          <p:nvPr/>
        </p:nvSpPr>
        <p:spPr>
          <a:xfrm>
            <a:off x="628650" y="361950"/>
            <a:ext cx="107632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39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LLM teams face gaps in data, specifications and behavioral consistency</a:t>
            </a:r>
            <a:endParaRPr/>
          </a:p>
        </p:txBody>
      </p:sp>
      <p:sp>
        <p:nvSpPr>
          <p:cNvPr id="57" name="Google Shape;57;p4"/>
          <p:cNvSpPr/>
          <p:nvPr/>
        </p:nvSpPr>
        <p:spPr>
          <a:xfrm>
            <a:off x="11191875" y="6419850"/>
            <a:ext cx="381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525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58" name="Google Shape;58;p4"/>
          <p:cNvSpPr/>
          <p:nvPr/>
        </p:nvSpPr>
        <p:spPr>
          <a:xfrm>
            <a:off x="714375" y="1476375"/>
            <a:ext cx="3397250" cy="3714750"/>
          </a:xfrm>
          <a:prstGeom prst="roundRect">
            <a:avLst>
              <a:gd fmla="val 5047" name="adj"/>
            </a:avLst>
          </a:prstGeom>
          <a:solidFill>
            <a:srgbClr val="EAF1FF"/>
          </a:solidFill>
          <a:ln cap="flat" cmpd="sng" w="95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4"/>
          <p:cNvSpPr/>
          <p:nvPr/>
        </p:nvSpPr>
        <p:spPr>
          <a:xfrm>
            <a:off x="981075" y="1704975"/>
            <a:ext cx="28638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60" name="Google Shape;60;p4"/>
          <p:cNvSpPr/>
          <p:nvPr/>
        </p:nvSpPr>
        <p:spPr>
          <a:xfrm>
            <a:off x="981075" y="2095500"/>
            <a:ext cx="28638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Understanding the data</a:t>
            </a:r>
            <a:endParaRPr/>
          </a:p>
        </p:txBody>
      </p:sp>
      <p:sp>
        <p:nvSpPr>
          <p:cNvPr id="61" name="Google Shape;61;p4"/>
          <p:cNvSpPr/>
          <p:nvPr/>
        </p:nvSpPr>
        <p:spPr>
          <a:xfrm>
            <a:off x="981075" y="2857500"/>
            <a:ext cx="2863850" cy="2047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556278"/>
                </a:solidFill>
              </a:rPr>
              <a:t>You build a workflow, but when</a:t>
            </a:r>
            <a:endParaRPr sz="1350">
              <a:solidFill>
                <a:srgbClr val="556278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556278"/>
                </a:solidFill>
              </a:rPr>
              <a:t>users start interacting with it, you</a:t>
            </a:r>
            <a:endParaRPr sz="1350">
              <a:solidFill>
                <a:srgbClr val="556278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556278"/>
                </a:solidFill>
              </a:rPr>
              <a:t>realize you don't understand</a:t>
            </a:r>
            <a:endParaRPr sz="1350">
              <a:solidFill>
                <a:srgbClr val="556278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556278"/>
                </a:solidFill>
              </a:rPr>
              <a:t>what's actually happening at</a:t>
            </a:r>
            <a:endParaRPr sz="1350">
              <a:solidFill>
                <a:srgbClr val="556278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556278"/>
                </a:solidFill>
              </a:rPr>
              <a:t>scale. What are users asking?</a:t>
            </a:r>
            <a:endParaRPr sz="1350">
              <a:solidFill>
                <a:srgbClr val="556278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556278"/>
                </a:solidFill>
              </a:rPr>
              <a:t>How is your system responding?</a:t>
            </a:r>
            <a:endParaRPr sz="1350">
              <a:solidFill>
                <a:srgbClr val="556278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556278"/>
                </a:solidFill>
              </a:rPr>
              <a:t>Where are the edge cases?</a:t>
            </a:r>
            <a:endParaRPr sz="1350">
              <a:solidFill>
                <a:srgbClr val="556278"/>
              </a:solidFill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4397375" y="1476375"/>
            <a:ext cx="3397250" cy="3714750"/>
          </a:xfrm>
          <a:prstGeom prst="roundRect">
            <a:avLst>
              <a:gd fmla="val 5047" name="adj"/>
            </a:avLst>
          </a:prstGeom>
          <a:solidFill>
            <a:srgbClr val="FFF4DC"/>
          </a:solidFill>
          <a:ln cap="flat" cmpd="sng" w="9525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4"/>
          <p:cNvSpPr/>
          <p:nvPr/>
        </p:nvSpPr>
        <p:spPr>
          <a:xfrm>
            <a:off x="4664075" y="1704975"/>
            <a:ext cx="28638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64" name="Google Shape;64;p4"/>
          <p:cNvSpPr/>
          <p:nvPr/>
        </p:nvSpPr>
        <p:spPr>
          <a:xfrm>
            <a:off x="4664075" y="2095500"/>
            <a:ext cx="28638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Specification gaps</a:t>
            </a:r>
            <a:endParaRPr/>
          </a:p>
        </p:txBody>
      </p:sp>
      <p:sp>
        <p:nvSpPr>
          <p:cNvPr id="65" name="Google Shape;65;p4"/>
          <p:cNvSpPr/>
          <p:nvPr/>
        </p:nvSpPr>
        <p:spPr>
          <a:xfrm>
            <a:off x="4664075" y="2857500"/>
            <a:ext cx="2863850" cy="2047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50">
                <a:solidFill>
                  <a:srgbClr val="556278"/>
                </a:solidFill>
              </a:rPr>
              <a:t>There's always a gap between</a:t>
            </a:r>
            <a:endParaRPr sz="1350">
              <a:solidFill>
                <a:srgbClr val="55627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50">
                <a:solidFill>
                  <a:srgbClr val="556278"/>
                </a:solidFill>
              </a:rPr>
              <a:t>what you want your system to do</a:t>
            </a:r>
            <a:endParaRPr sz="1350">
              <a:solidFill>
                <a:srgbClr val="55627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50">
                <a:solidFill>
                  <a:srgbClr val="556278"/>
                </a:solidFill>
              </a:rPr>
              <a:t>and what you can actually specify</a:t>
            </a:r>
            <a:endParaRPr sz="1350">
              <a:solidFill>
                <a:srgbClr val="55627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50">
                <a:solidFill>
                  <a:srgbClr val="556278"/>
                </a:solidFill>
              </a:rPr>
              <a:t>in prompts and code. You know</a:t>
            </a:r>
            <a:endParaRPr sz="1350">
              <a:solidFill>
                <a:srgbClr val="55627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50">
                <a:solidFill>
                  <a:srgbClr val="556278"/>
                </a:solidFill>
              </a:rPr>
              <a:t>good output when you see it, but</a:t>
            </a:r>
            <a:endParaRPr sz="1350">
              <a:solidFill>
                <a:srgbClr val="55627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50">
                <a:solidFill>
                  <a:srgbClr val="556278"/>
                </a:solidFill>
              </a:rPr>
              <a:t>translating that into clear</a:t>
            </a:r>
            <a:endParaRPr sz="1350">
              <a:solidFill>
                <a:srgbClr val="55627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50">
                <a:solidFill>
                  <a:srgbClr val="556278"/>
                </a:solidFill>
              </a:rPr>
              <a:t>instructions is surprisingly hard.</a:t>
            </a:r>
            <a:endParaRPr sz="1350">
              <a:solidFill>
                <a:srgbClr val="556278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556278"/>
              </a:solidFill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8080375" y="1476375"/>
            <a:ext cx="3397250" cy="3714750"/>
          </a:xfrm>
          <a:prstGeom prst="roundRect">
            <a:avLst>
              <a:gd fmla="val 5047" name="adj"/>
            </a:avLst>
          </a:prstGeom>
          <a:solidFill>
            <a:srgbClr val="E8F7F0"/>
          </a:solidFill>
          <a:ln cap="flat" cmpd="sng" w="9525">
            <a:solidFill>
              <a:srgbClr val="1684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4"/>
          <p:cNvSpPr/>
          <p:nvPr/>
        </p:nvSpPr>
        <p:spPr>
          <a:xfrm>
            <a:off x="8347075" y="1704975"/>
            <a:ext cx="28638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16845B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68" name="Google Shape;68;p4"/>
          <p:cNvSpPr/>
          <p:nvPr/>
        </p:nvSpPr>
        <p:spPr>
          <a:xfrm>
            <a:off x="8347075" y="2095500"/>
            <a:ext cx="28638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Inconsistent behavior</a:t>
            </a:r>
            <a:endParaRPr/>
          </a:p>
        </p:txBody>
      </p:sp>
      <p:sp>
        <p:nvSpPr>
          <p:cNvPr id="69" name="Google Shape;69;p4"/>
          <p:cNvSpPr/>
          <p:nvPr/>
        </p:nvSpPr>
        <p:spPr>
          <a:xfrm>
            <a:off x="8347075" y="2857500"/>
            <a:ext cx="2863850" cy="2047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50">
                <a:solidFill>
                  <a:srgbClr val="556278"/>
                </a:solidFill>
              </a:rPr>
              <a:t>Your LLM works great on your test</a:t>
            </a:r>
            <a:endParaRPr sz="1350">
              <a:solidFill>
                <a:srgbClr val="55627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50">
                <a:solidFill>
                  <a:srgbClr val="556278"/>
                </a:solidFill>
              </a:rPr>
              <a:t>cases, but then behaves</a:t>
            </a:r>
            <a:endParaRPr sz="1350">
              <a:solidFill>
                <a:srgbClr val="55627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50">
                <a:solidFill>
                  <a:srgbClr val="556278"/>
                </a:solidFill>
              </a:rPr>
              <a:t>unpredictably on real user inputs.</a:t>
            </a:r>
            <a:endParaRPr sz="1350">
              <a:solidFill>
                <a:srgbClr val="55627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50">
                <a:solidFill>
                  <a:srgbClr val="556278"/>
                </a:solidFill>
              </a:rPr>
              <a:t>Small changes in wording can lead</a:t>
            </a:r>
            <a:endParaRPr sz="1350">
              <a:solidFill>
                <a:srgbClr val="55627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50">
                <a:solidFill>
                  <a:srgbClr val="556278"/>
                </a:solidFill>
              </a:rPr>
              <a:t>to completely different outputs,</a:t>
            </a:r>
            <a:endParaRPr sz="1350">
              <a:solidFill>
                <a:srgbClr val="55627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50">
                <a:solidFill>
                  <a:srgbClr val="556278"/>
                </a:solidFill>
              </a:rPr>
              <a:t>making your system feel</a:t>
            </a:r>
            <a:endParaRPr sz="1350">
              <a:solidFill>
                <a:srgbClr val="55627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50">
                <a:solidFill>
                  <a:srgbClr val="556278"/>
                </a:solidFill>
              </a:rPr>
              <a:t>unreliable.</a:t>
            </a:r>
            <a:endParaRPr sz="1350">
              <a:solidFill>
                <a:srgbClr val="556278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556278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D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"/>
          <p:cNvSpPr/>
          <p:nvPr/>
        </p:nvSpPr>
        <p:spPr>
          <a:xfrm>
            <a:off x="628650" y="361950"/>
            <a:ext cx="107632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75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AI system quality improves through a repeated evaluation cycle</a:t>
            </a:r>
            <a:endParaRPr/>
          </a:p>
        </p:txBody>
      </p:sp>
      <p:sp>
        <p:nvSpPr>
          <p:cNvPr id="76" name="Google Shape;76;p5"/>
          <p:cNvSpPr/>
          <p:nvPr/>
        </p:nvSpPr>
        <p:spPr>
          <a:xfrm>
            <a:off x="11191875" y="6419850"/>
            <a:ext cx="381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525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  <p:sp>
        <p:nvSpPr>
          <p:cNvPr id="77" name="Google Shape;77;p5"/>
          <p:cNvSpPr/>
          <p:nvPr/>
        </p:nvSpPr>
        <p:spPr>
          <a:xfrm>
            <a:off x="714375" y="1571625"/>
            <a:ext cx="3397250" cy="3143250"/>
          </a:xfrm>
          <a:prstGeom prst="roundRect">
            <a:avLst>
              <a:gd fmla="val 5455" name="adj"/>
            </a:avLst>
          </a:prstGeom>
          <a:solidFill>
            <a:srgbClr val="EAF1FF"/>
          </a:solidFill>
          <a:ln cap="flat" cmpd="sng" w="95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5"/>
          <p:cNvSpPr/>
          <p:nvPr/>
        </p:nvSpPr>
        <p:spPr>
          <a:xfrm>
            <a:off x="981075" y="1800225"/>
            <a:ext cx="28638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79" name="Google Shape;79;p5"/>
          <p:cNvSpPr/>
          <p:nvPr/>
        </p:nvSpPr>
        <p:spPr>
          <a:xfrm>
            <a:off x="981075" y="2190750"/>
            <a:ext cx="28638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Evaluate quality</a:t>
            </a:r>
            <a:endParaRPr/>
          </a:p>
        </p:txBody>
      </p:sp>
      <p:sp>
        <p:nvSpPr>
          <p:cNvPr id="80" name="Google Shape;80;p5"/>
          <p:cNvSpPr/>
          <p:nvPr/>
        </p:nvSpPr>
        <p:spPr>
          <a:xfrm>
            <a:off x="981075" y="2952750"/>
            <a:ext cx="2863850" cy="1476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50">
                <a:solidFill>
                  <a:srgbClr val="556278"/>
                </a:solidFill>
              </a:rPr>
              <a:t>Systematic measurement of your</a:t>
            </a:r>
            <a:endParaRPr sz="1350">
              <a:solidFill>
                <a:srgbClr val="55627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50">
                <a:solidFill>
                  <a:srgbClr val="556278"/>
                </a:solidFill>
              </a:rPr>
              <a:t>workflow's performance through</a:t>
            </a:r>
            <a:endParaRPr sz="1350">
              <a:solidFill>
                <a:srgbClr val="55627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50">
                <a:solidFill>
                  <a:srgbClr val="556278"/>
                </a:solidFill>
              </a:rPr>
              <a:t>automated tests, human</a:t>
            </a:r>
            <a:endParaRPr sz="1350">
              <a:solidFill>
                <a:srgbClr val="55627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50">
                <a:solidFill>
                  <a:srgbClr val="556278"/>
                </a:solidFill>
              </a:rPr>
              <a:t>evaluation, and success metrics.</a:t>
            </a:r>
            <a:endParaRPr sz="1350">
              <a:solidFill>
                <a:srgbClr val="556278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556278"/>
              </a:solidFill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4397375" y="1571625"/>
            <a:ext cx="3397250" cy="3143250"/>
          </a:xfrm>
          <a:prstGeom prst="roundRect">
            <a:avLst>
              <a:gd fmla="val 5455" name="adj"/>
            </a:avLst>
          </a:prstGeom>
          <a:solidFill>
            <a:srgbClr val="FFF4DC"/>
          </a:solidFill>
          <a:ln cap="flat" cmpd="sng" w="9525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5"/>
          <p:cNvSpPr/>
          <p:nvPr/>
        </p:nvSpPr>
        <p:spPr>
          <a:xfrm>
            <a:off x="4664075" y="1800225"/>
            <a:ext cx="28638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83" name="Google Shape;83;p5"/>
          <p:cNvSpPr/>
          <p:nvPr/>
        </p:nvSpPr>
        <p:spPr>
          <a:xfrm>
            <a:off x="4664075" y="2190750"/>
            <a:ext cx="28638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Debug issues</a:t>
            </a:r>
            <a:endParaRPr/>
          </a:p>
        </p:txBody>
      </p:sp>
      <p:sp>
        <p:nvSpPr>
          <p:cNvPr id="84" name="Google Shape;84;p5"/>
          <p:cNvSpPr/>
          <p:nvPr/>
        </p:nvSpPr>
        <p:spPr>
          <a:xfrm>
            <a:off x="4664075" y="2952750"/>
            <a:ext cx="2863850" cy="1476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50">
                <a:solidFill>
                  <a:srgbClr val="556278"/>
                </a:solidFill>
              </a:rPr>
              <a:t>Tools to understand and diagnose</a:t>
            </a:r>
            <a:endParaRPr sz="1350">
              <a:solidFill>
                <a:srgbClr val="55627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50">
                <a:solidFill>
                  <a:srgbClr val="556278"/>
                </a:solidFill>
              </a:rPr>
              <a:t>failures including trace logging,</a:t>
            </a:r>
            <a:endParaRPr sz="1350">
              <a:solidFill>
                <a:srgbClr val="55627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50">
                <a:solidFill>
                  <a:srgbClr val="556278"/>
                </a:solidFill>
              </a:rPr>
              <a:t>data inspection, and error</a:t>
            </a:r>
            <a:endParaRPr sz="1350">
              <a:solidFill>
                <a:srgbClr val="55627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50">
                <a:solidFill>
                  <a:srgbClr val="556278"/>
                </a:solidFill>
              </a:rPr>
              <a:t>analysis.</a:t>
            </a:r>
            <a:endParaRPr sz="1350">
              <a:solidFill>
                <a:srgbClr val="556278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556278"/>
              </a:solidFill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8080375" y="1571625"/>
            <a:ext cx="3397250" cy="3143250"/>
          </a:xfrm>
          <a:prstGeom prst="roundRect">
            <a:avLst>
              <a:gd fmla="val 5455" name="adj"/>
            </a:avLst>
          </a:prstGeom>
          <a:solidFill>
            <a:srgbClr val="E8F7F0"/>
          </a:solidFill>
          <a:ln cap="flat" cmpd="sng" w="9525">
            <a:solidFill>
              <a:srgbClr val="1684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5"/>
          <p:cNvSpPr/>
          <p:nvPr/>
        </p:nvSpPr>
        <p:spPr>
          <a:xfrm>
            <a:off x="8347075" y="1800225"/>
            <a:ext cx="28638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16845B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87" name="Google Shape;87;p5"/>
          <p:cNvSpPr/>
          <p:nvPr/>
        </p:nvSpPr>
        <p:spPr>
          <a:xfrm>
            <a:off x="8347075" y="2190750"/>
            <a:ext cx="28638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Change behavior</a:t>
            </a:r>
            <a:endParaRPr/>
          </a:p>
        </p:txBody>
      </p:sp>
      <p:sp>
        <p:nvSpPr>
          <p:cNvPr id="88" name="Google Shape;88;p5"/>
          <p:cNvSpPr/>
          <p:nvPr/>
        </p:nvSpPr>
        <p:spPr>
          <a:xfrm>
            <a:off x="8347075" y="2952750"/>
            <a:ext cx="2863850" cy="1476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50">
                <a:solidFill>
                  <a:srgbClr val="556278"/>
                </a:solidFill>
              </a:rPr>
              <a:t>Techniques to improve your</a:t>
            </a:r>
            <a:endParaRPr sz="1350">
              <a:solidFill>
                <a:srgbClr val="55627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50">
                <a:solidFill>
                  <a:srgbClr val="556278"/>
                </a:solidFill>
              </a:rPr>
              <a:t>system based on insights from</a:t>
            </a:r>
            <a:endParaRPr sz="1350">
              <a:solidFill>
                <a:srgbClr val="55627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50">
                <a:solidFill>
                  <a:srgbClr val="556278"/>
                </a:solidFill>
              </a:rPr>
              <a:t>evaluation and debugging.</a:t>
            </a:r>
            <a:endParaRPr sz="1350">
              <a:solidFill>
                <a:srgbClr val="556278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556278"/>
              </a:solidFill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1619250" y="5286375"/>
            <a:ext cx="89535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25">
                <a:solidFill>
                  <a:srgbClr val="172033"/>
                </a:solidFill>
              </a:rPr>
              <a:t>Most teams focus only on #3, which prevents them from improving beyond a demo. Doing all three creates a virtuous</a:t>
            </a:r>
            <a:endParaRPr b="1" sz="1725">
              <a:solidFill>
                <a:srgbClr val="172033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25">
                <a:solidFill>
                  <a:srgbClr val="172033"/>
                </a:solidFill>
              </a:rPr>
              <a:t>improvement cycle.</a:t>
            </a:r>
            <a:endParaRPr b="1" sz="1725">
              <a:solidFill>
                <a:srgbClr val="172033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25">
              <a:solidFill>
                <a:srgbClr val="172033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D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6"/>
          <p:cNvSpPr/>
          <p:nvPr/>
        </p:nvSpPr>
        <p:spPr>
          <a:xfrm>
            <a:off x="628650" y="361950"/>
            <a:ext cx="107632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75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Evaluation is the systematic measurement of quality in an AI system</a:t>
            </a:r>
            <a:endParaRPr/>
          </a:p>
        </p:txBody>
      </p:sp>
      <p:sp>
        <p:nvSpPr>
          <p:cNvPr id="96" name="Google Shape;96;p6"/>
          <p:cNvSpPr/>
          <p:nvPr/>
        </p:nvSpPr>
        <p:spPr>
          <a:xfrm>
            <a:off x="11191875" y="6419850"/>
            <a:ext cx="381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525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/>
          </a:p>
        </p:txBody>
      </p:sp>
      <p:sp>
        <p:nvSpPr>
          <p:cNvPr id="97" name="Google Shape;97;p6"/>
          <p:cNvSpPr/>
          <p:nvPr/>
        </p:nvSpPr>
        <p:spPr>
          <a:xfrm>
            <a:off x="714375" y="1381125"/>
            <a:ext cx="4953000" cy="3714750"/>
          </a:xfrm>
          <a:prstGeom prst="roundRect">
            <a:avLst>
              <a:gd fmla="val 4615" name="adj"/>
            </a:avLst>
          </a:prstGeom>
          <a:solidFill>
            <a:srgbClr val="EAF1FF"/>
          </a:solidFill>
          <a:ln cap="flat" cmpd="sng" w="95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6"/>
          <p:cNvSpPr/>
          <p:nvPr/>
        </p:nvSpPr>
        <p:spPr>
          <a:xfrm>
            <a:off x="1047750" y="1714500"/>
            <a:ext cx="4191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One evaluation metric</a:t>
            </a:r>
            <a:endParaRPr/>
          </a:p>
        </p:txBody>
      </p:sp>
      <p:sp>
        <p:nvSpPr>
          <p:cNvPr id="99" name="Google Shape;99;p6"/>
          <p:cNvSpPr/>
          <p:nvPr/>
        </p:nvSpPr>
        <p:spPr>
          <a:xfrm>
            <a:off x="1047750" y="2238375"/>
            <a:ext cx="40957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An evaluation measures one defined aspect of performance.</a:t>
            </a:r>
            <a:endParaRPr/>
          </a:p>
        </p:txBody>
      </p:sp>
      <p:sp>
        <p:nvSpPr>
          <p:cNvPr id="100" name="Google Shape;100;p6"/>
          <p:cNvSpPr/>
          <p:nvPr/>
        </p:nvSpPr>
        <p:spPr>
          <a:xfrm>
            <a:off x="1047750" y="3095625"/>
            <a:ext cx="409575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• Factual accuracy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• Tone appropriateness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• Instruction following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• Output format compliance</a:t>
            </a:r>
            <a:endParaRPr/>
          </a:p>
        </p:txBody>
      </p:sp>
      <p:sp>
        <p:nvSpPr>
          <p:cNvPr id="101" name="Google Shape;101;p6"/>
          <p:cNvSpPr/>
          <p:nvPr/>
        </p:nvSpPr>
        <p:spPr>
          <a:xfrm>
            <a:off x="6524625" y="1381125"/>
            <a:ext cx="4953000" cy="3714750"/>
          </a:xfrm>
          <a:prstGeom prst="roundRect">
            <a:avLst>
              <a:gd fmla="val 4615" name="adj"/>
            </a:avLst>
          </a:prstGeom>
          <a:solidFill>
            <a:srgbClr val="E8F7F0"/>
          </a:solidFill>
          <a:ln cap="flat" cmpd="sng" w="9525">
            <a:solidFill>
              <a:srgbClr val="1684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6"/>
          <p:cNvSpPr/>
          <p:nvPr/>
        </p:nvSpPr>
        <p:spPr>
          <a:xfrm>
            <a:off x="6858000" y="1714500"/>
            <a:ext cx="4191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6845B"/>
                </a:solidFill>
              </a:rPr>
              <a:t>Evals can be operationalized as:</a:t>
            </a:r>
            <a:endParaRPr/>
          </a:p>
        </p:txBody>
      </p:sp>
      <p:sp>
        <p:nvSpPr>
          <p:cNvPr id="103" name="Google Shape;103;p6"/>
          <p:cNvSpPr/>
          <p:nvPr/>
        </p:nvSpPr>
        <p:spPr>
          <a:xfrm>
            <a:off x="6858000" y="2381250"/>
            <a:ext cx="1619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25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Monitoring</a:t>
            </a:r>
            <a:endParaRPr/>
          </a:p>
        </p:txBody>
      </p:sp>
      <p:sp>
        <p:nvSpPr>
          <p:cNvPr id="104" name="Google Shape;104;p6"/>
          <p:cNvSpPr/>
          <p:nvPr/>
        </p:nvSpPr>
        <p:spPr>
          <a:xfrm>
            <a:off x="8572500" y="2381250"/>
            <a:ext cx="223837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38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Track performance over time.</a:t>
            </a:r>
            <a:endParaRPr/>
          </a:p>
        </p:txBody>
      </p:sp>
      <p:sp>
        <p:nvSpPr>
          <p:cNvPr id="105" name="Google Shape;105;p6"/>
          <p:cNvSpPr/>
          <p:nvPr/>
        </p:nvSpPr>
        <p:spPr>
          <a:xfrm>
            <a:off x="6858000" y="3095625"/>
            <a:ext cx="1619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25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Guardrails</a:t>
            </a:r>
            <a:endParaRPr/>
          </a:p>
        </p:txBody>
      </p:sp>
      <p:sp>
        <p:nvSpPr>
          <p:cNvPr id="106" name="Google Shape;106;p6"/>
          <p:cNvSpPr/>
          <p:nvPr/>
        </p:nvSpPr>
        <p:spPr>
          <a:xfrm>
            <a:off x="8572500" y="3095625"/>
            <a:ext cx="22383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Block harmful outputs during execution.</a:t>
            </a:r>
            <a:endParaRPr/>
          </a:p>
        </p:txBody>
      </p:sp>
      <p:sp>
        <p:nvSpPr>
          <p:cNvPr id="107" name="Google Shape;107;p6"/>
          <p:cNvSpPr/>
          <p:nvPr/>
        </p:nvSpPr>
        <p:spPr>
          <a:xfrm>
            <a:off x="6858000" y="3905250"/>
            <a:ext cx="1619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25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Improvement</a:t>
            </a:r>
            <a:endParaRPr/>
          </a:p>
        </p:txBody>
      </p:sp>
      <p:sp>
        <p:nvSpPr>
          <p:cNvPr id="108" name="Google Shape;108;p6"/>
          <p:cNvSpPr/>
          <p:nvPr/>
        </p:nvSpPr>
        <p:spPr>
          <a:xfrm>
            <a:off x="8572500" y="3905250"/>
            <a:ext cx="223837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Label data for prompt refinement or fine-tuning.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D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"/>
          <p:cNvSpPr/>
          <p:nvPr/>
        </p:nvSpPr>
        <p:spPr>
          <a:xfrm>
            <a:off x="628650" y="361950"/>
            <a:ext cx="107632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2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The analyze-measure-improve lifecycle turns examples into better system behavior</a:t>
            </a:r>
            <a:endParaRPr/>
          </a:p>
        </p:txBody>
      </p:sp>
      <p:sp>
        <p:nvSpPr>
          <p:cNvPr id="115" name="Google Shape;115;p7"/>
          <p:cNvSpPr/>
          <p:nvPr/>
        </p:nvSpPr>
        <p:spPr>
          <a:xfrm>
            <a:off x="11191875" y="6419850"/>
            <a:ext cx="381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525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/>
          </a:p>
        </p:txBody>
      </p:sp>
      <p:sp>
        <p:nvSpPr>
          <p:cNvPr id="116" name="Google Shape;116;p7"/>
          <p:cNvSpPr/>
          <p:nvPr/>
        </p:nvSpPr>
        <p:spPr>
          <a:xfrm>
            <a:off x="1095375" y="1381125"/>
            <a:ext cx="10001250" cy="1095375"/>
          </a:xfrm>
          <a:prstGeom prst="roundRect">
            <a:avLst>
              <a:gd fmla="val 15652" name="adj"/>
            </a:avLst>
          </a:prstGeom>
          <a:solidFill>
            <a:srgbClr val="EAF1FF"/>
          </a:solidFill>
          <a:ln cap="flat" cmpd="sng" w="95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7"/>
          <p:cNvSpPr/>
          <p:nvPr/>
        </p:nvSpPr>
        <p:spPr>
          <a:xfrm>
            <a:off x="1381125" y="1676400"/>
            <a:ext cx="495300" cy="495300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7"/>
          <p:cNvSpPr/>
          <p:nvPr/>
        </p:nvSpPr>
        <p:spPr>
          <a:xfrm>
            <a:off x="1381125" y="1800225"/>
            <a:ext cx="4953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62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19" name="Google Shape;119;p7"/>
          <p:cNvSpPr/>
          <p:nvPr/>
        </p:nvSpPr>
        <p:spPr>
          <a:xfrm>
            <a:off x="2190750" y="1619250"/>
            <a:ext cx="20002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25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Analyze</a:t>
            </a:r>
            <a:endParaRPr/>
          </a:p>
        </p:txBody>
      </p:sp>
      <p:sp>
        <p:nvSpPr>
          <p:cNvPr id="120" name="Google Shape;120;p7"/>
          <p:cNvSpPr/>
          <p:nvPr/>
        </p:nvSpPr>
        <p:spPr>
          <a:xfrm>
            <a:off x="4381500" y="1619250"/>
            <a:ext cx="623887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Collect examples and categorize recurring failure modes.</a:t>
            </a:r>
            <a:endParaRPr/>
          </a:p>
        </p:txBody>
      </p:sp>
      <p:sp>
        <p:nvSpPr>
          <p:cNvPr id="121" name="Google Shape;121;p7"/>
          <p:cNvSpPr/>
          <p:nvPr/>
        </p:nvSpPr>
        <p:spPr>
          <a:xfrm>
            <a:off x="1095375" y="2809875"/>
            <a:ext cx="10001250" cy="1095375"/>
          </a:xfrm>
          <a:prstGeom prst="roundRect">
            <a:avLst>
              <a:gd fmla="val 15652" name="adj"/>
            </a:avLst>
          </a:prstGeom>
          <a:solidFill>
            <a:srgbClr val="FFF4DC"/>
          </a:solidFill>
          <a:ln cap="flat" cmpd="sng" w="9525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7"/>
          <p:cNvSpPr/>
          <p:nvPr/>
        </p:nvSpPr>
        <p:spPr>
          <a:xfrm>
            <a:off x="1381125" y="3105150"/>
            <a:ext cx="495300" cy="495300"/>
          </a:xfrm>
          <a:prstGeom prst="roundRect">
            <a:avLst>
              <a:gd fmla="val 50000" name="adj"/>
            </a:avLst>
          </a:prstGeom>
          <a:solidFill>
            <a:srgbClr val="D9770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7"/>
          <p:cNvSpPr/>
          <p:nvPr/>
        </p:nvSpPr>
        <p:spPr>
          <a:xfrm>
            <a:off x="1381125" y="3228975"/>
            <a:ext cx="4953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62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24" name="Google Shape;124;p7"/>
          <p:cNvSpPr/>
          <p:nvPr/>
        </p:nvSpPr>
        <p:spPr>
          <a:xfrm>
            <a:off x="2190750" y="3048000"/>
            <a:ext cx="20002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25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Measure</a:t>
            </a:r>
            <a:endParaRPr/>
          </a:p>
        </p:txBody>
      </p:sp>
      <p:sp>
        <p:nvSpPr>
          <p:cNvPr id="125" name="Google Shape;125;p7"/>
          <p:cNvSpPr/>
          <p:nvPr/>
        </p:nvSpPr>
        <p:spPr>
          <a:xfrm>
            <a:off x="4381500" y="3048000"/>
            <a:ext cx="623887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Translate observed problems into quantitative or repeatable metrics.</a:t>
            </a:r>
            <a:endParaRPr/>
          </a:p>
        </p:txBody>
      </p:sp>
      <p:sp>
        <p:nvSpPr>
          <p:cNvPr id="126" name="Google Shape;126;p7"/>
          <p:cNvSpPr/>
          <p:nvPr/>
        </p:nvSpPr>
        <p:spPr>
          <a:xfrm>
            <a:off x="1095375" y="4238625"/>
            <a:ext cx="10001250" cy="1095375"/>
          </a:xfrm>
          <a:prstGeom prst="roundRect">
            <a:avLst>
              <a:gd fmla="val 15652" name="adj"/>
            </a:avLst>
          </a:prstGeom>
          <a:solidFill>
            <a:srgbClr val="E8F7F0"/>
          </a:solidFill>
          <a:ln cap="flat" cmpd="sng" w="9525">
            <a:solidFill>
              <a:srgbClr val="1684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7"/>
          <p:cNvSpPr/>
          <p:nvPr/>
        </p:nvSpPr>
        <p:spPr>
          <a:xfrm>
            <a:off x="1381125" y="4533900"/>
            <a:ext cx="495300" cy="495300"/>
          </a:xfrm>
          <a:prstGeom prst="roundRect">
            <a:avLst>
              <a:gd fmla="val 50000" name="adj"/>
            </a:avLst>
          </a:prstGeom>
          <a:solidFill>
            <a:srgbClr val="1684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7"/>
          <p:cNvSpPr/>
          <p:nvPr/>
        </p:nvSpPr>
        <p:spPr>
          <a:xfrm>
            <a:off x="1381125" y="4657725"/>
            <a:ext cx="4953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62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129" name="Google Shape;129;p7"/>
          <p:cNvSpPr/>
          <p:nvPr/>
        </p:nvSpPr>
        <p:spPr>
          <a:xfrm>
            <a:off x="2190750" y="4476750"/>
            <a:ext cx="20002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25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Improve</a:t>
            </a:r>
            <a:endParaRPr/>
          </a:p>
        </p:txBody>
      </p:sp>
      <p:sp>
        <p:nvSpPr>
          <p:cNvPr id="130" name="Google Shape;130;p7"/>
          <p:cNvSpPr/>
          <p:nvPr/>
        </p:nvSpPr>
        <p:spPr>
          <a:xfrm>
            <a:off x="4381500" y="4476750"/>
            <a:ext cx="623887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Refine prompts, models or architecture, then begin the cycle again.</a:t>
            </a:r>
            <a:endParaRPr/>
          </a:p>
        </p:txBody>
      </p:sp>
      <p:sp>
        <p:nvSpPr>
          <p:cNvPr id="131" name="Google Shape;131;p7"/>
          <p:cNvSpPr/>
          <p:nvPr/>
        </p:nvSpPr>
        <p:spPr>
          <a:xfrm>
            <a:off x="1476375" y="5953125"/>
            <a:ext cx="92392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Based on Application-Centric AI Evals for Engineers and Technical PMs, Shankar and Husain, 2025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D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"/>
          <p:cNvSpPr/>
          <p:nvPr/>
        </p:nvSpPr>
        <p:spPr>
          <a:xfrm>
            <a:off x="628650" y="361950"/>
            <a:ext cx="107632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75">
                <a:solidFill>
                  <a:srgbClr val="172033"/>
                </a:solidFill>
              </a:rPr>
              <a:t>The Three Levels of Evaluation: </a:t>
            </a:r>
            <a:r>
              <a:rPr b="1" lang="en-US" sz="2075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Evaluation cost and effort increase across three levels</a:t>
            </a:r>
            <a:endParaRPr sz="1000"/>
          </a:p>
        </p:txBody>
      </p:sp>
      <p:sp>
        <p:nvSpPr>
          <p:cNvPr id="138" name="Google Shape;138;p8"/>
          <p:cNvSpPr/>
          <p:nvPr/>
        </p:nvSpPr>
        <p:spPr>
          <a:xfrm>
            <a:off x="11191875" y="6419850"/>
            <a:ext cx="381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525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/>
          </a:p>
        </p:txBody>
      </p:sp>
      <p:sp>
        <p:nvSpPr>
          <p:cNvPr id="139" name="Google Shape;139;p8"/>
          <p:cNvSpPr/>
          <p:nvPr/>
        </p:nvSpPr>
        <p:spPr>
          <a:xfrm>
            <a:off x="714375" y="1476375"/>
            <a:ext cx="3397250" cy="3714750"/>
          </a:xfrm>
          <a:prstGeom prst="roundRect">
            <a:avLst>
              <a:gd fmla="val 5047" name="adj"/>
            </a:avLst>
          </a:prstGeom>
          <a:solidFill>
            <a:srgbClr val="EAF1FF"/>
          </a:solidFill>
          <a:ln cap="flat" cmpd="sng" w="95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8"/>
          <p:cNvSpPr/>
          <p:nvPr/>
        </p:nvSpPr>
        <p:spPr>
          <a:xfrm>
            <a:off x="981075" y="1704975"/>
            <a:ext cx="28638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LEVEL 1</a:t>
            </a:r>
            <a:endParaRPr/>
          </a:p>
        </p:txBody>
      </p:sp>
      <p:sp>
        <p:nvSpPr>
          <p:cNvPr id="141" name="Google Shape;141;p8"/>
          <p:cNvSpPr/>
          <p:nvPr/>
        </p:nvSpPr>
        <p:spPr>
          <a:xfrm>
            <a:off x="981075" y="2095500"/>
            <a:ext cx="28638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Unit tests</a:t>
            </a:r>
            <a:endParaRPr/>
          </a:p>
        </p:txBody>
      </p:sp>
      <p:sp>
        <p:nvSpPr>
          <p:cNvPr id="142" name="Google Shape;142;p8"/>
          <p:cNvSpPr/>
          <p:nvPr/>
        </p:nvSpPr>
        <p:spPr>
          <a:xfrm>
            <a:off x="981075" y="2857500"/>
            <a:ext cx="2863850" cy="2047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Fast assertions that check explicit properties.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350">
              <a:solidFill>
                <a:srgbClr val="55627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Run: every commit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Cost: very low</a:t>
            </a:r>
            <a:endParaRPr/>
          </a:p>
        </p:txBody>
      </p:sp>
      <p:sp>
        <p:nvSpPr>
          <p:cNvPr id="143" name="Google Shape;143;p8"/>
          <p:cNvSpPr/>
          <p:nvPr/>
        </p:nvSpPr>
        <p:spPr>
          <a:xfrm>
            <a:off x="4397375" y="1476375"/>
            <a:ext cx="3397250" cy="3714750"/>
          </a:xfrm>
          <a:prstGeom prst="roundRect">
            <a:avLst>
              <a:gd fmla="val 5047" name="adj"/>
            </a:avLst>
          </a:prstGeom>
          <a:solidFill>
            <a:srgbClr val="E8F7F0"/>
          </a:solidFill>
          <a:ln cap="flat" cmpd="sng" w="9525">
            <a:solidFill>
              <a:srgbClr val="1684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8"/>
          <p:cNvSpPr/>
          <p:nvPr/>
        </p:nvSpPr>
        <p:spPr>
          <a:xfrm>
            <a:off x="4664075" y="1704975"/>
            <a:ext cx="28638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16845B"/>
                </a:solidFill>
                <a:latin typeface="Arial"/>
                <a:ea typeface="Arial"/>
                <a:cs typeface="Arial"/>
                <a:sym typeface="Arial"/>
              </a:rPr>
              <a:t>LEVEL 2</a:t>
            </a:r>
            <a:endParaRPr/>
          </a:p>
        </p:txBody>
      </p:sp>
      <p:sp>
        <p:nvSpPr>
          <p:cNvPr id="145" name="Google Shape;145;p8"/>
          <p:cNvSpPr/>
          <p:nvPr/>
        </p:nvSpPr>
        <p:spPr>
          <a:xfrm>
            <a:off x="4664075" y="2095500"/>
            <a:ext cx="28638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31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Human and model evaluation</a:t>
            </a:r>
            <a:endParaRPr/>
          </a:p>
        </p:txBody>
      </p:sp>
      <p:sp>
        <p:nvSpPr>
          <p:cNvPr id="146" name="Google Shape;146;p8"/>
          <p:cNvSpPr/>
          <p:nvPr/>
        </p:nvSpPr>
        <p:spPr>
          <a:xfrm>
            <a:off x="4664075" y="2857500"/>
            <a:ext cx="2863850" cy="2047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Systematic review by people and automated model critics.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350">
              <a:solidFill>
                <a:srgbClr val="55627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Run: weekly or biweekly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Cost: medium</a:t>
            </a:r>
            <a:endParaRPr/>
          </a:p>
        </p:txBody>
      </p:sp>
      <p:sp>
        <p:nvSpPr>
          <p:cNvPr id="147" name="Google Shape;147;p8"/>
          <p:cNvSpPr/>
          <p:nvPr/>
        </p:nvSpPr>
        <p:spPr>
          <a:xfrm>
            <a:off x="8080375" y="1476375"/>
            <a:ext cx="3397250" cy="3714750"/>
          </a:xfrm>
          <a:prstGeom prst="roundRect">
            <a:avLst>
              <a:gd fmla="val 5047" name="adj"/>
            </a:avLst>
          </a:prstGeom>
          <a:solidFill>
            <a:srgbClr val="FFF4DC"/>
          </a:solidFill>
          <a:ln cap="flat" cmpd="sng" w="9525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8"/>
          <p:cNvSpPr/>
          <p:nvPr/>
        </p:nvSpPr>
        <p:spPr>
          <a:xfrm>
            <a:off x="8347075" y="1704975"/>
            <a:ext cx="28638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LEVEL 3</a:t>
            </a:r>
            <a:endParaRPr/>
          </a:p>
        </p:txBody>
      </p:sp>
      <p:sp>
        <p:nvSpPr>
          <p:cNvPr id="149" name="Google Shape;149;p8"/>
          <p:cNvSpPr/>
          <p:nvPr/>
        </p:nvSpPr>
        <p:spPr>
          <a:xfrm>
            <a:off x="8347075" y="2095500"/>
            <a:ext cx="28638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A/B testing</a:t>
            </a:r>
            <a:endParaRPr/>
          </a:p>
        </p:txBody>
      </p:sp>
      <p:sp>
        <p:nvSpPr>
          <p:cNvPr id="150" name="Google Shape;150;p8"/>
          <p:cNvSpPr/>
          <p:nvPr/>
        </p:nvSpPr>
        <p:spPr>
          <a:xfrm>
            <a:off x="8347075" y="2857500"/>
            <a:ext cx="2863850" cy="2047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Experiments with real users to measure product or business impact.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350">
              <a:solidFill>
                <a:srgbClr val="55627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Run: major releases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Cost: high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D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9"/>
          <p:cNvSpPr/>
          <p:nvPr/>
        </p:nvSpPr>
        <p:spPr>
          <a:xfrm>
            <a:off x="628650" y="361950"/>
            <a:ext cx="107632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75">
                <a:solidFill>
                  <a:srgbClr val="172033"/>
                </a:solidFill>
              </a:rPr>
              <a:t>Level 1: </a:t>
            </a:r>
            <a:r>
              <a:rPr b="1" lang="en-US" sz="2475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LLM unit tests check specific properties on every code change</a:t>
            </a:r>
            <a:endParaRPr/>
          </a:p>
        </p:txBody>
      </p:sp>
      <p:sp>
        <p:nvSpPr>
          <p:cNvPr id="157" name="Google Shape;157;p9"/>
          <p:cNvSpPr/>
          <p:nvPr/>
        </p:nvSpPr>
        <p:spPr>
          <a:xfrm>
            <a:off x="11191875" y="6419850"/>
            <a:ext cx="381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525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  <a:endParaRPr/>
          </a:p>
        </p:txBody>
      </p:sp>
      <p:sp>
        <p:nvSpPr>
          <p:cNvPr id="158" name="Google Shape;158;p9"/>
          <p:cNvSpPr/>
          <p:nvPr/>
        </p:nvSpPr>
        <p:spPr>
          <a:xfrm>
            <a:off x="742950" y="1333500"/>
            <a:ext cx="42862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25">
                <a:solidFill>
                  <a:srgbClr val="2563EB"/>
                </a:solidFill>
              </a:rPr>
              <a:t>Create unit test around structured output</a:t>
            </a:r>
            <a:endParaRPr/>
          </a:p>
        </p:txBody>
      </p:sp>
      <p:sp>
        <p:nvSpPr>
          <p:cNvPr id="159" name="Google Shape;159;p9"/>
          <p:cNvSpPr/>
          <p:nvPr/>
        </p:nvSpPr>
        <p:spPr>
          <a:xfrm>
            <a:off x="742950" y="1952625"/>
            <a:ext cx="4333875" cy="1809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• Fast automated assertions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US" sz="1500">
                <a:solidFill>
                  <a:srgbClr val="556278"/>
                </a:solidFill>
              </a:rPr>
              <a:t>Check s</a:t>
            </a:r>
            <a:r>
              <a:rPr b="0" lang="en-US" sz="1500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pecific and testable properties</a:t>
            </a:r>
            <a:endParaRPr sz="1500">
              <a:solidFill>
                <a:srgbClr val="556278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• Reusable checks</a:t>
            </a:r>
            <a:r>
              <a:rPr lang="en-US" sz="1500">
                <a:solidFill>
                  <a:srgbClr val="556278"/>
                </a:solidFill>
              </a:rPr>
              <a:t> and run on every code change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500">
                <a:solidFill>
                  <a:srgbClr val="556278"/>
                </a:solidFill>
              </a:rPr>
              <a:t>• You will iterative add new unit tests as you encounter bugs in production</a:t>
            </a:r>
            <a:endParaRPr/>
          </a:p>
        </p:txBody>
      </p:sp>
      <p:sp>
        <p:nvSpPr>
          <p:cNvPr id="160" name="Google Shape;160;p9"/>
          <p:cNvSpPr/>
          <p:nvPr/>
        </p:nvSpPr>
        <p:spPr>
          <a:xfrm>
            <a:off x="742950" y="4000500"/>
            <a:ext cx="42862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25">
                <a:solidFill>
                  <a:srgbClr val="16845B"/>
                </a:solidFill>
                <a:latin typeface="Arial"/>
                <a:ea typeface="Arial"/>
                <a:cs typeface="Arial"/>
                <a:sym typeface="Arial"/>
              </a:rPr>
              <a:t>Common uses</a:t>
            </a:r>
            <a:endParaRPr/>
          </a:p>
        </p:txBody>
      </p:sp>
      <p:sp>
        <p:nvSpPr>
          <p:cNvPr id="161" name="Google Shape;161;p9"/>
          <p:cNvSpPr/>
          <p:nvPr/>
        </p:nvSpPr>
        <p:spPr>
          <a:xfrm>
            <a:off x="742950" y="4572000"/>
            <a:ext cx="4333875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• Data cleaning and validation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• Automatic retries with feedback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• CI/CD checks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• Obvious failure detection</a:t>
            </a:r>
            <a:endParaRPr/>
          </a:p>
        </p:txBody>
      </p:sp>
      <p:sp>
        <p:nvSpPr>
          <p:cNvPr id="162" name="Google Shape;162;p9"/>
          <p:cNvSpPr/>
          <p:nvPr/>
        </p:nvSpPr>
        <p:spPr>
          <a:xfrm>
            <a:off x="5905500" y="1571625"/>
            <a:ext cx="5524500" cy="3143250"/>
          </a:xfrm>
          <a:prstGeom prst="roundRect">
            <a:avLst>
              <a:gd fmla="val 4242" name="adj"/>
            </a:avLst>
          </a:prstGeom>
          <a:solidFill>
            <a:srgbClr val="1118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9"/>
          <p:cNvSpPr/>
          <p:nvPr/>
        </p:nvSpPr>
        <p:spPr>
          <a:xfrm>
            <a:off x="6115050" y="1743075"/>
            <a:ext cx="5105400" cy="28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D1FAE5"/>
                </a:solidFill>
                <a:latin typeface="Courier New"/>
                <a:ea typeface="Courier New"/>
                <a:cs typeface="Courier New"/>
                <a:sym typeface="Courier New"/>
              </a:rPr>
              <a:t>result = call_llm(user_input)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200">
              <a:solidFill>
                <a:srgbClr val="D1FAE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D1FAE5"/>
                </a:solidFill>
                <a:latin typeface="Courier New"/>
                <a:ea typeface="Courier New"/>
                <a:cs typeface="Courier New"/>
                <a:sym typeface="Courier New"/>
              </a:rPr>
              <a:t>assert "status" in result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D1FAE5"/>
                </a:solidFill>
                <a:latin typeface="Courier New"/>
                <a:ea typeface="Courier New"/>
                <a:cs typeface="Courier New"/>
                <a:sym typeface="Courier New"/>
              </a:rPr>
              <a:t>assert result["status"] in {"accepted", "rejected"}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D1FAE5"/>
                </a:solidFill>
                <a:latin typeface="Courier New"/>
                <a:ea typeface="Courier New"/>
                <a:cs typeface="Courier New"/>
                <a:sym typeface="Courier New"/>
              </a:rPr>
              <a:t>assert len(result["explanation"]) &gt; 0</a:t>
            </a:r>
            <a:endParaRPr/>
          </a:p>
        </p:txBody>
      </p:sp>
      <p:sp>
        <p:nvSpPr>
          <p:cNvPr id="164" name="Google Shape;164;p9"/>
          <p:cNvSpPr/>
          <p:nvPr/>
        </p:nvSpPr>
        <p:spPr>
          <a:xfrm>
            <a:off x="6191250" y="5095875"/>
            <a:ext cx="4953000" cy="666750"/>
          </a:xfrm>
          <a:prstGeom prst="roundRect">
            <a:avLst>
              <a:gd fmla="val 20000" name="adj"/>
            </a:avLst>
          </a:prstGeom>
          <a:solidFill>
            <a:srgbClr val="EAF1FF"/>
          </a:solidFill>
          <a:ln cap="flat" cmpd="sng" w="95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9"/>
          <p:cNvSpPr/>
          <p:nvPr/>
        </p:nvSpPr>
        <p:spPr>
          <a:xfrm>
            <a:off x="6429375" y="5267325"/>
            <a:ext cx="44767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23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Simple </a:t>
            </a:r>
            <a:r>
              <a:rPr b="1" lang="en-US" sz="1023" u="sng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assertions</a:t>
            </a:r>
            <a:r>
              <a:rPr b="1" lang="en-US" sz="1023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 work well when the expected property is objective.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D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0"/>
          <p:cNvSpPr/>
          <p:nvPr/>
        </p:nvSpPr>
        <p:spPr>
          <a:xfrm>
            <a:off x="628650" y="361950"/>
            <a:ext cx="107632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81">
                <a:solidFill>
                  <a:srgbClr val="172033"/>
                </a:solidFill>
              </a:rPr>
              <a:t>Level 2: </a:t>
            </a:r>
            <a:r>
              <a:rPr b="1" lang="en-US" sz="2281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Human review establishes quality standards that model evaluators can scale</a:t>
            </a:r>
            <a:endParaRPr/>
          </a:p>
        </p:txBody>
      </p:sp>
      <p:sp>
        <p:nvSpPr>
          <p:cNvPr id="172" name="Google Shape;172;p10"/>
          <p:cNvSpPr/>
          <p:nvPr/>
        </p:nvSpPr>
        <p:spPr>
          <a:xfrm>
            <a:off x="11191875" y="6419850"/>
            <a:ext cx="381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525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</p:txBody>
      </p:sp>
      <p:sp>
        <p:nvSpPr>
          <p:cNvPr id="173" name="Google Shape;173;p10"/>
          <p:cNvSpPr/>
          <p:nvPr/>
        </p:nvSpPr>
        <p:spPr>
          <a:xfrm>
            <a:off x="714375" y="1381125"/>
            <a:ext cx="5095875" cy="3905250"/>
          </a:xfrm>
          <a:prstGeom prst="roundRect">
            <a:avLst>
              <a:gd fmla="val 4390" name="adj"/>
            </a:avLst>
          </a:prstGeom>
          <a:solidFill>
            <a:srgbClr val="EAF1FF"/>
          </a:solidFill>
          <a:ln cap="flat" cmpd="sng" w="95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0"/>
          <p:cNvSpPr/>
          <p:nvPr/>
        </p:nvSpPr>
        <p:spPr>
          <a:xfrm>
            <a:off x="1047750" y="1714500"/>
            <a:ext cx="433387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75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Human evaluation</a:t>
            </a:r>
            <a:endParaRPr/>
          </a:p>
        </p:txBody>
      </p:sp>
      <p:sp>
        <p:nvSpPr>
          <p:cNvPr id="175" name="Google Shape;175;p10"/>
          <p:cNvSpPr/>
          <p:nvPr/>
        </p:nvSpPr>
        <p:spPr>
          <a:xfrm>
            <a:off x="1047750" y="2381250"/>
            <a:ext cx="4333875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• Begin with a simple good or bad rating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• Make examples effortless to review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• Use tools that fit the domain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• Inspect broad samples before narrowing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• Save strong examples as references</a:t>
            </a:r>
            <a:endParaRPr/>
          </a:p>
        </p:txBody>
      </p:sp>
      <p:sp>
        <p:nvSpPr>
          <p:cNvPr id="176" name="Google Shape;176;p10"/>
          <p:cNvSpPr/>
          <p:nvPr/>
        </p:nvSpPr>
        <p:spPr>
          <a:xfrm>
            <a:off x="6381750" y="1381125"/>
            <a:ext cx="5095875" cy="3905250"/>
          </a:xfrm>
          <a:prstGeom prst="roundRect">
            <a:avLst>
              <a:gd fmla="val 4390" name="adj"/>
            </a:avLst>
          </a:prstGeom>
          <a:solidFill>
            <a:srgbClr val="E8F7F0"/>
          </a:solidFill>
          <a:ln cap="flat" cmpd="sng" w="9525">
            <a:solidFill>
              <a:srgbClr val="1684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0"/>
          <p:cNvSpPr/>
          <p:nvPr/>
        </p:nvSpPr>
        <p:spPr>
          <a:xfrm>
            <a:off x="6715125" y="1714500"/>
            <a:ext cx="433387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75">
                <a:solidFill>
                  <a:srgbClr val="16845B"/>
                </a:solidFill>
                <a:latin typeface="Arial"/>
                <a:ea typeface="Arial"/>
                <a:cs typeface="Arial"/>
                <a:sym typeface="Arial"/>
              </a:rPr>
              <a:t>Model evaluation(LLM as a Judge)</a:t>
            </a:r>
            <a:endParaRPr/>
          </a:p>
        </p:txBody>
      </p:sp>
      <p:sp>
        <p:nvSpPr>
          <p:cNvPr id="178" name="Google Shape;178;p10"/>
          <p:cNvSpPr/>
          <p:nvPr/>
        </p:nvSpPr>
        <p:spPr>
          <a:xfrm>
            <a:off x="6715125" y="2381250"/>
            <a:ext cx="4333875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• Use a capable model as the judge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• Evaluate one quality dimension at a time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• Request a critique before the score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• Align the judge with human reviewers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• Track agreement as the system changes</a:t>
            </a:r>
            <a:endParaRPr/>
          </a:p>
        </p:txBody>
      </p:sp>
      <p:sp>
        <p:nvSpPr>
          <p:cNvPr id="179" name="Google Shape;179;p10"/>
          <p:cNvSpPr/>
          <p:nvPr/>
        </p:nvSpPr>
        <p:spPr>
          <a:xfrm>
            <a:off x="1476375" y="5810250"/>
            <a:ext cx="92392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45">
                <a:solidFill>
                  <a:srgbClr val="172033"/>
                </a:solidFill>
              </a:rPr>
              <a:t>LLM-as-Judge systems need alignment with human evaluators. Track correlation and iterate on the judge's prompt</a:t>
            </a:r>
            <a:endParaRPr b="1" sz="1545">
              <a:solidFill>
                <a:srgbClr val="172033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45">
                <a:solidFill>
                  <a:srgbClr val="172033"/>
                </a:solidFill>
              </a:rPr>
              <a:t>until it agrees with humans.</a:t>
            </a:r>
            <a:endParaRPr b="1" sz="1545">
              <a:solidFill>
                <a:srgbClr val="172033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1" sz="1545">
              <a:solidFill>
                <a:srgbClr val="172033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D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3"/>
          <p:cNvSpPr/>
          <p:nvPr/>
        </p:nvSpPr>
        <p:spPr>
          <a:xfrm>
            <a:off x="628650" y="361950"/>
            <a:ext cx="107632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69">
                <a:solidFill>
                  <a:srgbClr val="172033"/>
                </a:solidFill>
              </a:rPr>
              <a:t>Level 3: </a:t>
            </a:r>
            <a:r>
              <a:rPr b="1" lang="en-US" sz="2369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A/B tests measure whether a mature system improves real user outcomes</a:t>
            </a:r>
            <a:endParaRPr/>
          </a:p>
        </p:txBody>
      </p:sp>
      <p:sp>
        <p:nvSpPr>
          <p:cNvPr id="186" name="Google Shape;186;p13"/>
          <p:cNvSpPr/>
          <p:nvPr/>
        </p:nvSpPr>
        <p:spPr>
          <a:xfrm>
            <a:off x="11191875" y="6419850"/>
            <a:ext cx="381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525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/>
          </a:p>
        </p:txBody>
      </p:sp>
      <p:sp>
        <p:nvSpPr>
          <p:cNvPr id="187" name="Google Shape;187;p13"/>
          <p:cNvSpPr/>
          <p:nvPr/>
        </p:nvSpPr>
        <p:spPr>
          <a:xfrm>
            <a:off x="666750" y="1333500"/>
            <a:ext cx="4572000" cy="4333875"/>
          </a:xfrm>
          <a:prstGeom prst="roundRect">
            <a:avLst>
              <a:gd fmla="val 3956" name="adj"/>
            </a:avLst>
          </a:prstGeom>
          <a:solidFill>
            <a:srgbClr val="EAF1FF"/>
          </a:solidFill>
          <a:ln cap="flat" cmpd="sng" w="95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3"/>
          <p:cNvSpPr/>
          <p:nvPr/>
        </p:nvSpPr>
        <p:spPr>
          <a:xfrm>
            <a:off x="1000125" y="1666875"/>
            <a:ext cx="39052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When to use A/B tests</a:t>
            </a:r>
            <a:endParaRPr/>
          </a:p>
        </p:txBody>
      </p:sp>
      <p:sp>
        <p:nvSpPr>
          <p:cNvPr id="189" name="Google Shape;189;p13"/>
          <p:cNvSpPr/>
          <p:nvPr/>
        </p:nvSpPr>
        <p:spPr>
          <a:xfrm>
            <a:off x="1000125" y="2286000"/>
            <a:ext cx="3857625" cy="1762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• The system is mature and stable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• The change is significant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• A real user metric can validate the result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• Two approaches need a fair comparison</a:t>
            </a:r>
            <a:endParaRPr b="0" sz="1425">
              <a:solidFill>
                <a:srgbClr val="55627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>
                <a:solidFill>
                  <a:srgbClr val="556278"/>
                </a:solidFill>
              </a:rPr>
              <a:t>• Need business metric validation</a:t>
            </a:r>
            <a:endParaRPr sz="1425">
              <a:solidFill>
                <a:srgbClr val="55627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425">
                <a:solidFill>
                  <a:srgbClr val="556278"/>
                </a:solidFill>
              </a:rPr>
              <a:t>• Testing significant changes </a:t>
            </a:r>
            <a:endParaRPr sz="1425">
              <a:solidFill>
                <a:srgbClr val="556278"/>
              </a:solidFill>
            </a:endParaRPr>
          </a:p>
        </p:txBody>
      </p:sp>
      <p:sp>
        <p:nvSpPr>
          <p:cNvPr id="190" name="Google Shape;190;p13"/>
          <p:cNvSpPr/>
          <p:nvPr/>
        </p:nvSpPr>
        <p:spPr>
          <a:xfrm>
            <a:off x="1000125" y="4333875"/>
            <a:ext cx="3905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Useful measures</a:t>
            </a:r>
            <a:endParaRPr/>
          </a:p>
        </p:txBody>
      </p:sp>
      <p:sp>
        <p:nvSpPr>
          <p:cNvPr id="191" name="Google Shape;191;p13"/>
          <p:cNvSpPr/>
          <p:nvPr/>
        </p:nvSpPr>
        <p:spPr>
          <a:xfrm>
            <a:off x="1000125" y="4810125"/>
            <a:ext cx="3857625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Satisfaction, task completion, time to resolution, engagement and business outcomes(sales, retention)</a:t>
            </a:r>
            <a:endParaRPr/>
          </a:p>
        </p:txBody>
      </p:sp>
      <p:sp>
        <p:nvSpPr>
          <p:cNvPr id="192" name="Google Shape;192;p13"/>
          <p:cNvSpPr/>
          <p:nvPr/>
        </p:nvSpPr>
        <p:spPr>
          <a:xfrm>
            <a:off x="5810250" y="1333500"/>
            <a:ext cx="5715000" cy="4333875"/>
          </a:xfrm>
          <a:prstGeom prst="roundRect">
            <a:avLst>
              <a:gd fmla="val 3956" name="adj"/>
            </a:avLst>
          </a:prstGeom>
          <a:solidFill>
            <a:srgbClr val="E8F7F0"/>
          </a:solidFill>
          <a:ln cap="flat" cmpd="sng" w="9525">
            <a:solidFill>
              <a:srgbClr val="1684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3"/>
          <p:cNvSpPr/>
          <p:nvPr/>
        </p:nvSpPr>
        <p:spPr>
          <a:xfrm>
            <a:off x="6143625" y="1666875"/>
            <a:ext cx="4953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6845B"/>
                </a:solidFill>
                <a:latin typeface="Arial"/>
                <a:ea typeface="Arial"/>
                <a:cs typeface="Arial"/>
                <a:sym typeface="Arial"/>
              </a:rPr>
              <a:t>Example: conversational prompt</a:t>
            </a:r>
            <a:endParaRPr/>
          </a:p>
        </p:txBody>
      </p:sp>
      <p:sp>
        <p:nvSpPr>
          <p:cNvPr id="194" name="Google Shape;194;p13"/>
          <p:cNvSpPr/>
          <p:nvPr/>
        </p:nvSpPr>
        <p:spPr>
          <a:xfrm>
            <a:off x="6143625" y="2286000"/>
            <a:ext cx="14287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25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Hypothesis</a:t>
            </a:r>
            <a:endParaRPr/>
          </a:p>
        </p:txBody>
      </p:sp>
      <p:sp>
        <p:nvSpPr>
          <p:cNvPr id="195" name="Google Shape;195;p13"/>
          <p:cNvSpPr/>
          <p:nvPr/>
        </p:nvSpPr>
        <p:spPr>
          <a:xfrm>
            <a:off x="7667625" y="2286000"/>
            <a:ext cx="33337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6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A more conversational prompt will improve satisfaction.</a:t>
            </a:r>
            <a:endParaRPr/>
          </a:p>
        </p:txBody>
      </p:sp>
      <p:sp>
        <p:nvSpPr>
          <p:cNvPr id="196" name="Google Shape;196;p13"/>
          <p:cNvSpPr/>
          <p:nvPr/>
        </p:nvSpPr>
        <p:spPr>
          <a:xfrm>
            <a:off x="6143625" y="3000375"/>
            <a:ext cx="14287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25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Control</a:t>
            </a:r>
            <a:endParaRPr/>
          </a:p>
        </p:txBody>
      </p:sp>
      <p:sp>
        <p:nvSpPr>
          <p:cNvPr id="197" name="Google Shape;197;p13"/>
          <p:cNvSpPr/>
          <p:nvPr/>
        </p:nvSpPr>
        <p:spPr>
          <a:xfrm>
            <a:off x="7667625" y="3000375"/>
            <a:ext cx="3333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Formal and direct responses</a:t>
            </a:r>
            <a:endParaRPr/>
          </a:p>
        </p:txBody>
      </p:sp>
      <p:sp>
        <p:nvSpPr>
          <p:cNvPr id="198" name="Google Shape;198;p13"/>
          <p:cNvSpPr/>
          <p:nvPr/>
        </p:nvSpPr>
        <p:spPr>
          <a:xfrm>
            <a:off x="6143625" y="3571875"/>
            <a:ext cx="14287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25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Treatment</a:t>
            </a:r>
            <a:endParaRPr/>
          </a:p>
        </p:txBody>
      </p:sp>
      <p:sp>
        <p:nvSpPr>
          <p:cNvPr id="199" name="Google Shape;199;p13"/>
          <p:cNvSpPr/>
          <p:nvPr/>
        </p:nvSpPr>
        <p:spPr>
          <a:xfrm>
            <a:off x="7667625" y="3571875"/>
            <a:ext cx="33337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27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Conversational and empathetic responses</a:t>
            </a:r>
            <a:endParaRPr/>
          </a:p>
        </p:txBody>
      </p:sp>
      <p:sp>
        <p:nvSpPr>
          <p:cNvPr id="200" name="Google Shape;200;p13"/>
          <p:cNvSpPr/>
          <p:nvPr/>
        </p:nvSpPr>
        <p:spPr>
          <a:xfrm>
            <a:off x="6143625" y="4333875"/>
            <a:ext cx="2000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25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Illustrative source result</a:t>
            </a:r>
            <a:endParaRPr/>
          </a:p>
        </p:txBody>
      </p:sp>
      <p:sp>
        <p:nvSpPr>
          <p:cNvPr id="201" name="Google Shape;201;p13"/>
          <p:cNvSpPr/>
          <p:nvPr/>
        </p:nvSpPr>
        <p:spPr>
          <a:xfrm>
            <a:off x="8239125" y="4333875"/>
            <a:ext cx="27622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15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Treatment increased satisfaction by 15% without reducing accuracy.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D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4"/>
          <p:cNvSpPr/>
          <p:nvPr/>
        </p:nvSpPr>
        <p:spPr>
          <a:xfrm>
            <a:off x="628650" y="361950"/>
            <a:ext cx="107632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6">
                <a:solidFill>
                  <a:srgbClr val="172033"/>
                </a:solidFill>
              </a:rPr>
              <a:t>Types of </a:t>
            </a:r>
            <a:r>
              <a:rPr b="1" lang="en-US" sz="2406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Evaluation metrics </a:t>
            </a:r>
            <a:endParaRPr/>
          </a:p>
        </p:txBody>
      </p:sp>
      <p:sp>
        <p:nvSpPr>
          <p:cNvPr id="208" name="Google Shape;208;p14"/>
          <p:cNvSpPr/>
          <p:nvPr/>
        </p:nvSpPr>
        <p:spPr>
          <a:xfrm>
            <a:off x="11191875" y="6419850"/>
            <a:ext cx="381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525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/>
          </a:p>
        </p:txBody>
      </p:sp>
      <p:sp>
        <p:nvSpPr>
          <p:cNvPr id="209" name="Google Shape;209;p14"/>
          <p:cNvSpPr/>
          <p:nvPr/>
        </p:nvSpPr>
        <p:spPr>
          <a:xfrm>
            <a:off x="714375" y="1476375"/>
            <a:ext cx="5095875" cy="3714750"/>
          </a:xfrm>
          <a:prstGeom prst="roundRect">
            <a:avLst>
              <a:gd fmla="val 4615" name="adj"/>
            </a:avLst>
          </a:prstGeom>
          <a:solidFill>
            <a:srgbClr val="EAF1FF"/>
          </a:solidFill>
          <a:ln cap="flat" cmpd="sng" w="95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4"/>
          <p:cNvSpPr/>
          <p:nvPr/>
        </p:nvSpPr>
        <p:spPr>
          <a:xfrm>
            <a:off x="1047750" y="1809750"/>
            <a:ext cx="433387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75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Reference-based (Golden Answer)</a:t>
            </a:r>
            <a:endParaRPr/>
          </a:p>
        </p:txBody>
      </p:sp>
      <p:sp>
        <p:nvSpPr>
          <p:cNvPr id="211" name="Google Shape;211;p14"/>
          <p:cNvSpPr/>
          <p:nvPr/>
        </p:nvSpPr>
        <p:spPr>
          <a:xfrm>
            <a:off x="1047750" y="2333625"/>
            <a:ext cx="42862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14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Compare the output with a known expected answer.</a:t>
            </a:r>
            <a:endParaRPr/>
          </a:p>
        </p:txBody>
      </p:sp>
      <p:sp>
        <p:nvSpPr>
          <p:cNvPr id="212" name="Google Shape;212;p14"/>
          <p:cNvSpPr/>
          <p:nvPr/>
        </p:nvSpPr>
        <p:spPr>
          <a:xfrm>
            <a:off x="1047750" y="3095625"/>
            <a:ext cx="4191000" cy="1619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• Exact string match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• Semantic similarity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• Code execution result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• SQL correctness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• Structured data validation</a:t>
            </a:r>
            <a:endParaRPr/>
          </a:p>
        </p:txBody>
      </p:sp>
      <p:sp>
        <p:nvSpPr>
          <p:cNvPr id="213" name="Google Shape;213;p14"/>
          <p:cNvSpPr/>
          <p:nvPr/>
        </p:nvSpPr>
        <p:spPr>
          <a:xfrm>
            <a:off x="6381750" y="1476375"/>
            <a:ext cx="5095875" cy="3714750"/>
          </a:xfrm>
          <a:prstGeom prst="roundRect">
            <a:avLst>
              <a:gd fmla="val 4615" name="adj"/>
            </a:avLst>
          </a:prstGeom>
          <a:solidFill>
            <a:srgbClr val="E8F7F0"/>
          </a:solidFill>
          <a:ln cap="flat" cmpd="sng" w="9525">
            <a:solidFill>
              <a:srgbClr val="1684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4"/>
          <p:cNvSpPr/>
          <p:nvPr/>
        </p:nvSpPr>
        <p:spPr>
          <a:xfrm>
            <a:off x="6715125" y="1809750"/>
            <a:ext cx="433387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75">
                <a:solidFill>
                  <a:srgbClr val="16845B"/>
                </a:solidFill>
                <a:latin typeface="Arial"/>
                <a:ea typeface="Arial"/>
                <a:cs typeface="Arial"/>
                <a:sym typeface="Arial"/>
              </a:rPr>
              <a:t>Reference-free</a:t>
            </a:r>
            <a:endParaRPr/>
          </a:p>
        </p:txBody>
      </p:sp>
      <p:sp>
        <p:nvSpPr>
          <p:cNvPr id="215" name="Google Shape;215;p14"/>
          <p:cNvSpPr/>
          <p:nvPr/>
        </p:nvSpPr>
        <p:spPr>
          <a:xfrm>
            <a:off x="6715125" y="2333625"/>
            <a:ext cx="42862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62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Assess properties that </a:t>
            </a:r>
            <a:r>
              <a:rPr b="1" lang="en-US" sz="1262">
                <a:solidFill>
                  <a:srgbClr val="172033"/>
                </a:solidFill>
              </a:rPr>
              <a:t>does not have a </a:t>
            </a:r>
            <a:r>
              <a:rPr b="1" lang="en-US" sz="1262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golden answer. (i.e. rationality)</a:t>
            </a:r>
            <a:endParaRPr/>
          </a:p>
        </p:txBody>
      </p:sp>
      <p:sp>
        <p:nvSpPr>
          <p:cNvPr id="216" name="Google Shape;216;p14"/>
          <p:cNvSpPr/>
          <p:nvPr/>
        </p:nvSpPr>
        <p:spPr>
          <a:xfrm>
            <a:off x="6715125" y="3095625"/>
            <a:ext cx="4191000" cy="1619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• Tone appropriateness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• Length constraints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• Hallucination detection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• Format compliance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• Safety and toxicity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D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5"/>
          <p:cNvSpPr/>
          <p:nvPr/>
        </p:nvSpPr>
        <p:spPr>
          <a:xfrm>
            <a:off x="628650" y="361950"/>
            <a:ext cx="10763400" cy="6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75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Common mistakes </a:t>
            </a:r>
            <a:endParaRPr/>
          </a:p>
        </p:txBody>
      </p:sp>
      <p:sp>
        <p:nvSpPr>
          <p:cNvPr id="223" name="Google Shape;223;p15"/>
          <p:cNvSpPr/>
          <p:nvPr/>
        </p:nvSpPr>
        <p:spPr>
          <a:xfrm>
            <a:off x="11191875" y="6419850"/>
            <a:ext cx="3810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525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/>
          </a:p>
        </p:txBody>
      </p:sp>
      <p:sp>
        <p:nvSpPr>
          <p:cNvPr id="224" name="Google Shape;224;p15"/>
          <p:cNvSpPr/>
          <p:nvPr/>
        </p:nvSpPr>
        <p:spPr>
          <a:xfrm>
            <a:off x="619125" y="1285875"/>
            <a:ext cx="5334000" cy="2000100"/>
          </a:xfrm>
          <a:prstGeom prst="roundRect">
            <a:avLst>
              <a:gd fmla="val 7619" name="adj"/>
            </a:avLst>
          </a:prstGeom>
          <a:solidFill>
            <a:srgbClr val="FFFFFF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5"/>
          <p:cNvSpPr/>
          <p:nvPr/>
        </p:nvSpPr>
        <p:spPr>
          <a:xfrm>
            <a:off x="885825" y="1524000"/>
            <a:ext cx="4762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Tool-first thinking</a:t>
            </a:r>
            <a:endParaRPr/>
          </a:p>
        </p:txBody>
      </p:sp>
      <p:sp>
        <p:nvSpPr>
          <p:cNvPr id="226" name="Google Shape;226;p15"/>
          <p:cNvSpPr/>
          <p:nvPr/>
        </p:nvSpPr>
        <p:spPr>
          <a:xfrm>
            <a:off x="885825" y="2000250"/>
            <a:ext cx="47625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Changing databases or models before understanding the failure.</a:t>
            </a:r>
            <a:endParaRPr/>
          </a:p>
        </p:txBody>
      </p:sp>
      <p:sp>
        <p:nvSpPr>
          <p:cNvPr id="227" name="Google Shape;227;p15"/>
          <p:cNvSpPr/>
          <p:nvPr/>
        </p:nvSpPr>
        <p:spPr>
          <a:xfrm>
            <a:off x="885825" y="2667000"/>
            <a:ext cx="4762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Better approach: Begin with a simple custom evaluation.</a:t>
            </a:r>
            <a:endParaRPr/>
          </a:p>
        </p:txBody>
      </p:sp>
      <p:sp>
        <p:nvSpPr>
          <p:cNvPr id="228" name="Google Shape;228;p15"/>
          <p:cNvSpPr/>
          <p:nvPr/>
        </p:nvSpPr>
        <p:spPr>
          <a:xfrm>
            <a:off x="6238875" y="1285875"/>
            <a:ext cx="5334000" cy="2000100"/>
          </a:xfrm>
          <a:prstGeom prst="roundRect">
            <a:avLst>
              <a:gd fmla="val 7619" name="adj"/>
            </a:avLst>
          </a:prstGeom>
          <a:solidFill>
            <a:srgbClr val="FFFFFF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5"/>
          <p:cNvSpPr/>
          <p:nvPr/>
        </p:nvSpPr>
        <p:spPr>
          <a:xfrm>
            <a:off x="6505575" y="1524000"/>
            <a:ext cx="4762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Generic metric obsession</a:t>
            </a:r>
            <a:endParaRPr/>
          </a:p>
        </p:txBody>
      </p:sp>
      <p:sp>
        <p:nvSpPr>
          <p:cNvPr id="230" name="Google Shape;230;p15"/>
          <p:cNvSpPr/>
          <p:nvPr/>
        </p:nvSpPr>
        <p:spPr>
          <a:xfrm>
            <a:off x="6505575" y="2000250"/>
            <a:ext cx="47625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Collecting broad scores that do not guide a decision.</a:t>
            </a:r>
            <a:endParaRPr/>
          </a:p>
        </p:txBody>
      </p:sp>
      <p:sp>
        <p:nvSpPr>
          <p:cNvPr id="231" name="Google Shape;231;p15"/>
          <p:cNvSpPr/>
          <p:nvPr/>
        </p:nvSpPr>
        <p:spPr>
          <a:xfrm>
            <a:off x="6505575" y="2667000"/>
            <a:ext cx="4762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Better approach: Choose specific metrics tied to actions.</a:t>
            </a:r>
            <a:endParaRPr/>
          </a:p>
        </p:txBody>
      </p:sp>
      <p:sp>
        <p:nvSpPr>
          <p:cNvPr id="232" name="Google Shape;232;p15"/>
          <p:cNvSpPr/>
          <p:nvPr/>
        </p:nvSpPr>
        <p:spPr>
          <a:xfrm>
            <a:off x="619125" y="3619500"/>
            <a:ext cx="5334000" cy="2000100"/>
          </a:xfrm>
          <a:prstGeom prst="roundRect">
            <a:avLst>
              <a:gd fmla="val 7619" name="adj"/>
            </a:avLst>
          </a:prstGeom>
          <a:solidFill>
            <a:srgbClr val="FFFFFF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5"/>
          <p:cNvSpPr/>
          <p:nvPr/>
        </p:nvSpPr>
        <p:spPr>
          <a:xfrm>
            <a:off x="885825" y="3857625"/>
            <a:ext cx="4762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Avoiding </a:t>
            </a:r>
            <a:r>
              <a:rPr b="1" lang="en-US" sz="1400">
                <a:solidFill>
                  <a:srgbClr val="172033"/>
                </a:solidFill>
              </a:rPr>
              <a:t>real</a:t>
            </a:r>
            <a:r>
              <a:rPr b="1" lang="en-US" sz="14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 data</a:t>
            </a:r>
            <a:endParaRPr/>
          </a:p>
        </p:txBody>
      </p:sp>
      <p:sp>
        <p:nvSpPr>
          <p:cNvPr id="234" name="Google Shape;234;p15"/>
          <p:cNvSpPr/>
          <p:nvPr/>
        </p:nvSpPr>
        <p:spPr>
          <a:xfrm>
            <a:off x="885825" y="4333875"/>
            <a:ext cx="47625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Assuming a  tool, platform or users will identify every issue. </a:t>
            </a:r>
            <a:endParaRPr/>
          </a:p>
        </p:txBody>
      </p:sp>
      <p:sp>
        <p:nvSpPr>
          <p:cNvPr id="235" name="Google Shape;235;p15"/>
          <p:cNvSpPr/>
          <p:nvPr/>
        </p:nvSpPr>
        <p:spPr>
          <a:xfrm>
            <a:off x="885825" y="5000625"/>
            <a:ext cx="4762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Better approach: Inspect real examples continuously.</a:t>
            </a:r>
            <a:endParaRPr/>
          </a:p>
        </p:txBody>
      </p:sp>
      <p:sp>
        <p:nvSpPr>
          <p:cNvPr id="236" name="Google Shape;236;p15"/>
          <p:cNvSpPr/>
          <p:nvPr/>
        </p:nvSpPr>
        <p:spPr>
          <a:xfrm>
            <a:off x="6238875" y="3619500"/>
            <a:ext cx="5334000" cy="2000100"/>
          </a:xfrm>
          <a:prstGeom prst="roundRect">
            <a:avLst>
              <a:gd fmla="val 7619" name="adj"/>
            </a:avLst>
          </a:prstGeom>
          <a:solidFill>
            <a:srgbClr val="FFF0EE"/>
          </a:solidFill>
          <a:ln cap="flat" cmpd="sng" w="9525">
            <a:solidFill>
              <a:srgbClr val="C93C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5"/>
          <p:cNvSpPr/>
          <p:nvPr/>
        </p:nvSpPr>
        <p:spPr>
          <a:xfrm>
            <a:off x="6505575" y="3857625"/>
            <a:ext cx="4762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C93C32"/>
                </a:solidFill>
                <a:latin typeface="Arial"/>
                <a:ea typeface="Arial"/>
                <a:cs typeface="Arial"/>
                <a:sym typeface="Arial"/>
              </a:rPr>
              <a:t>Unaligned model judges</a:t>
            </a:r>
            <a:endParaRPr/>
          </a:p>
        </p:txBody>
      </p:sp>
      <p:sp>
        <p:nvSpPr>
          <p:cNvPr id="238" name="Google Shape;238;p15"/>
          <p:cNvSpPr/>
          <p:nvPr/>
        </p:nvSpPr>
        <p:spPr>
          <a:xfrm>
            <a:off x="6505575" y="4333875"/>
            <a:ext cx="47625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Trusting an evaluator without measuring human agreement.</a:t>
            </a:r>
            <a:endParaRPr/>
          </a:p>
        </p:txBody>
      </p:sp>
      <p:sp>
        <p:nvSpPr>
          <p:cNvPr id="239" name="Google Shape;239;p15"/>
          <p:cNvSpPr/>
          <p:nvPr/>
        </p:nvSpPr>
        <p:spPr>
          <a:xfrm>
            <a:off x="6505575" y="5000625"/>
            <a:ext cx="4762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C93C32"/>
                </a:solidFill>
                <a:latin typeface="Arial"/>
                <a:ea typeface="Arial"/>
                <a:cs typeface="Arial"/>
                <a:sym typeface="Arial"/>
              </a:rPr>
              <a:t>Better approach: Validate and refine the judge.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D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6"/>
          <p:cNvSpPr/>
          <p:nvPr/>
        </p:nvSpPr>
        <p:spPr>
          <a:xfrm>
            <a:off x="628650" y="361950"/>
            <a:ext cx="10763400" cy="6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63">
                <a:solidFill>
                  <a:srgbClr val="172033"/>
                </a:solidFill>
              </a:rPr>
              <a:t>Key principles for success</a:t>
            </a:r>
            <a:endParaRPr/>
          </a:p>
        </p:txBody>
      </p:sp>
      <p:sp>
        <p:nvSpPr>
          <p:cNvPr id="246" name="Google Shape;246;p16"/>
          <p:cNvSpPr/>
          <p:nvPr/>
        </p:nvSpPr>
        <p:spPr>
          <a:xfrm>
            <a:off x="11191875" y="6419850"/>
            <a:ext cx="3810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525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/>
          </a:p>
        </p:txBody>
      </p:sp>
      <p:sp>
        <p:nvSpPr>
          <p:cNvPr id="247" name="Google Shape;247;p16"/>
          <p:cNvSpPr/>
          <p:nvPr/>
        </p:nvSpPr>
        <p:spPr>
          <a:xfrm>
            <a:off x="619125" y="1381125"/>
            <a:ext cx="5334000" cy="1809600"/>
          </a:xfrm>
          <a:prstGeom prst="roundRect">
            <a:avLst>
              <a:gd fmla="val 8421" name="adj"/>
            </a:avLst>
          </a:prstGeom>
          <a:solidFill>
            <a:srgbClr val="EAF1FF"/>
          </a:solidFill>
          <a:ln cap="flat" cmpd="sng" w="95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6"/>
          <p:cNvSpPr/>
          <p:nvPr/>
        </p:nvSpPr>
        <p:spPr>
          <a:xfrm>
            <a:off x="885825" y="1647825"/>
            <a:ext cx="47625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25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Start simple and specific</a:t>
            </a:r>
            <a:endParaRPr/>
          </a:p>
        </p:txBody>
      </p:sp>
      <p:sp>
        <p:nvSpPr>
          <p:cNvPr id="249" name="Google Shape;249;p16"/>
          <p:cNvSpPr/>
          <p:nvPr/>
        </p:nvSpPr>
        <p:spPr>
          <a:xfrm>
            <a:off x="885825" y="1971825"/>
            <a:ext cx="4762500" cy="9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50">
                <a:solidFill>
                  <a:srgbClr val="556278"/>
                </a:solidFill>
              </a:rPr>
              <a:t>Focus on your biggest problems first</a:t>
            </a:r>
            <a:endParaRPr sz="1350">
              <a:solidFill>
                <a:srgbClr val="55627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50">
                <a:solidFill>
                  <a:srgbClr val="556278"/>
                </a:solidFill>
              </a:rPr>
              <a:t>Use existing tools before buying new ones</a:t>
            </a:r>
            <a:endParaRPr sz="1350">
              <a:solidFill>
                <a:srgbClr val="55627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50">
                <a:solidFill>
                  <a:srgbClr val="556278"/>
                </a:solidFill>
              </a:rPr>
              <a:t>Build domain-specific evaluations</a:t>
            </a:r>
            <a:endParaRPr sz="1350">
              <a:solidFill>
                <a:srgbClr val="55627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50">
                <a:solidFill>
                  <a:srgbClr val="556278"/>
                </a:solidFill>
              </a:rPr>
              <a:t>Start with unit tests and manual review</a:t>
            </a:r>
            <a:endParaRPr sz="1350">
              <a:solidFill>
                <a:srgbClr val="556278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556278"/>
              </a:solidFill>
            </a:endParaRPr>
          </a:p>
        </p:txBody>
      </p:sp>
      <p:sp>
        <p:nvSpPr>
          <p:cNvPr id="250" name="Google Shape;250;p16"/>
          <p:cNvSpPr/>
          <p:nvPr/>
        </p:nvSpPr>
        <p:spPr>
          <a:xfrm>
            <a:off x="6238875" y="1381125"/>
            <a:ext cx="5334000" cy="1809600"/>
          </a:xfrm>
          <a:prstGeom prst="roundRect">
            <a:avLst>
              <a:gd fmla="val 8421" name="adj"/>
            </a:avLst>
          </a:prstGeom>
          <a:solidFill>
            <a:srgbClr val="EAF1FF"/>
          </a:solidFill>
          <a:ln cap="flat" cmpd="sng" w="95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6"/>
          <p:cNvSpPr/>
          <p:nvPr/>
        </p:nvSpPr>
        <p:spPr>
          <a:xfrm>
            <a:off x="6505575" y="1647825"/>
            <a:ext cx="47625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25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Inspect a lot of data</a:t>
            </a:r>
            <a:endParaRPr/>
          </a:p>
        </p:txBody>
      </p:sp>
      <p:sp>
        <p:nvSpPr>
          <p:cNvPr id="252" name="Google Shape;252;p16"/>
          <p:cNvSpPr/>
          <p:nvPr/>
        </p:nvSpPr>
        <p:spPr>
          <a:xfrm>
            <a:off x="6505575" y="2031075"/>
            <a:ext cx="4762500" cy="8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50">
                <a:solidFill>
                  <a:srgbClr val="556278"/>
                </a:solidFill>
              </a:rPr>
              <a:t>Manual inspection has the highest value-to-</a:t>
            </a:r>
            <a:endParaRPr sz="1350">
              <a:solidFill>
                <a:srgbClr val="55627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50">
                <a:solidFill>
                  <a:srgbClr val="556278"/>
                </a:solidFill>
              </a:rPr>
              <a:t>prestige ratio</a:t>
            </a:r>
            <a:endParaRPr sz="1350">
              <a:solidFill>
                <a:srgbClr val="55627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50">
                <a:solidFill>
                  <a:srgbClr val="556278"/>
                </a:solidFill>
              </a:rPr>
              <a:t>You're doing it wrong if you're not looking at data</a:t>
            </a:r>
            <a:endParaRPr sz="1350">
              <a:solidFill>
                <a:srgbClr val="55627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50">
                <a:solidFill>
                  <a:srgbClr val="556278"/>
                </a:solidFill>
              </a:rPr>
              <a:t>Sample broadly, then focus on patterns</a:t>
            </a:r>
            <a:endParaRPr sz="1350">
              <a:solidFill>
                <a:srgbClr val="55627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50">
                <a:solidFill>
                  <a:srgbClr val="556278"/>
                </a:solidFill>
              </a:rPr>
              <a:t>Never stop examining real examples</a:t>
            </a:r>
            <a:endParaRPr sz="1350">
              <a:solidFill>
                <a:srgbClr val="556278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556278"/>
              </a:solidFill>
            </a:endParaRPr>
          </a:p>
        </p:txBody>
      </p:sp>
      <p:sp>
        <p:nvSpPr>
          <p:cNvPr id="253" name="Google Shape;253;p16"/>
          <p:cNvSpPr/>
          <p:nvPr/>
        </p:nvSpPr>
        <p:spPr>
          <a:xfrm>
            <a:off x="619125" y="3524250"/>
            <a:ext cx="5334000" cy="1809600"/>
          </a:xfrm>
          <a:prstGeom prst="roundRect">
            <a:avLst>
              <a:gd fmla="val 8421" name="adj"/>
            </a:avLst>
          </a:prstGeom>
          <a:solidFill>
            <a:srgbClr val="E8F7F0"/>
          </a:solidFill>
          <a:ln cap="flat" cmpd="sng" w="9525">
            <a:solidFill>
              <a:srgbClr val="1684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6"/>
          <p:cNvSpPr/>
          <p:nvPr/>
        </p:nvSpPr>
        <p:spPr>
          <a:xfrm>
            <a:off x="885825" y="3790950"/>
            <a:ext cx="47625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25">
                <a:solidFill>
                  <a:srgbClr val="16845B"/>
                </a:solidFill>
                <a:latin typeface="Arial"/>
                <a:ea typeface="Arial"/>
                <a:cs typeface="Arial"/>
                <a:sym typeface="Arial"/>
              </a:rPr>
              <a:t>Remove review friction</a:t>
            </a:r>
            <a:endParaRPr/>
          </a:p>
        </p:txBody>
      </p:sp>
      <p:sp>
        <p:nvSpPr>
          <p:cNvPr id="255" name="Google Shape;255;p16"/>
          <p:cNvSpPr/>
          <p:nvPr/>
        </p:nvSpPr>
        <p:spPr>
          <a:xfrm>
            <a:off x="885825" y="4114800"/>
            <a:ext cx="4762500" cy="9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50">
                <a:solidFill>
                  <a:srgbClr val="556278"/>
                </a:solidFill>
              </a:rPr>
              <a:t>Make data viewing effortless</a:t>
            </a:r>
            <a:endParaRPr sz="1350">
              <a:solidFill>
                <a:srgbClr val="55627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50">
                <a:solidFill>
                  <a:srgbClr val="556278"/>
                </a:solidFill>
              </a:rPr>
              <a:t>Build custom tools for your domain</a:t>
            </a:r>
            <a:endParaRPr sz="1350">
              <a:solidFill>
                <a:srgbClr val="55627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50">
                <a:solidFill>
                  <a:srgbClr val="556278"/>
                </a:solidFill>
              </a:rPr>
              <a:t>Automate repetitive evaluation tasks</a:t>
            </a:r>
            <a:endParaRPr sz="1350">
              <a:solidFill>
                <a:srgbClr val="55627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50">
                <a:solidFill>
                  <a:srgbClr val="556278"/>
                </a:solidFill>
              </a:rPr>
              <a:t>Track metrics over time</a:t>
            </a:r>
            <a:endParaRPr sz="1350">
              <a:solidFill>
                <a:srgbClr val="556278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556278"/>
              </a:solidFill>
            </a:endParaRPr>
          </a:p>
        </p:txBody>
      </p:sp>
      <p:sp>
        <p:nvSpPr>
          <p:cNvPr id="256" name="Google Shape;256;p16"/>
          <p:cNvSpPr/>
          <p:nvPr/>
        </p:nvSpPr>
        <p:spPr>
          <a:xfrm>
            <a:off x="6238875" y="3524250"/>
            <a:ext cx="5334000" cy="1809600"/>
          </a:xfrm>
          <a:prstGeom prst="roundRect">
            <a:avLst>
              <a:gd fmla="val 8421" name="adj"/>
            </a:avLst>
          </a:prstGeom>
          <a:solidFill>
            <a:srgbClr val="E8F7F0"/>
          </a:solidFill>
          <a:ln cap="flat" cmpd="sng" w="9525">
            <a:solidFill>
              <a:srgbClr val="1684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6"/>
          <p:cNvSpPr/>
          <p:nvPr/>
        </p:nvSpPr>
        <p:spPr>
          <a:xfrm>
            <a:off x="6505575" y="3790950"/>
            <a:ext cx="47625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25">
                <a:solidFill>
                  <a:srgbClr val="16845B"/>
                </a:solidFill>
                <a:latin typeface="Arial"/>
                <a:ea typeface="Arial"/>
                <a:cs typeface="Arial"/>
                <a:sym typeface="Arial"/>
              </a:rPr>
              <a:t>Use LLMs to scale</a:t>
            </a:r>
            <a:endParaRPr/>
          </a:p>
        </p:txBody>
      </p:sp>
      <p:sp>
        <p:nvSpPr>
          <p:cNvPr id="258" name="Google Shape;258;p16"/>
          <p:cNvSpPr/>
          <p:nvPr/>
        </p:nvSpPr>
        <p:spPr>
          <a:xfrm>
            <a:off x="6505575" y="4114800"/>
            <a:ext cx="4762500" cy="9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50">
                <a:solidFill>
                  <a:srgbClr val="556278"/>
                </a:solidFill>
              </a:rPr>
              <a:t>Generate test cases automatically</a:t>
            </a:r>
            <a:endParaRPr sz="1350">
              <a:solidFill>
                <a:srgbClr val="55627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50">
                <a:solidFill>
                  <a:srgbClr val="556278"/>
                </a:solidFill>
              </a:rPr>
              <a:t>Create synthetic data at scale</a:t>
            </a:r>
            <a:endParaRPr sz="1350">
              <a:solidFill>
                <a:srgbClr val="55627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50">
                <a:solidFill>
                  <a:srgbClr val="556278"/>
                </a:solidFill>
              </a:rPr>
              <a:t>Automate critique and labeling</a:t>
            </a:r>
            <a:endParaRPr sz="1350">
              <a:solidFill>
                <a:srgbClr val="55627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50">
                <a:solidFill>
                  <a:srgbClr val="556278"/>
                </a:solidFill>
              </a:rPr>
              <a:t>But always validate with humans</a:t>
            </a:r>
            <a:endParaRPr sz="1350">
              <a:solidFill>
                <a:srgbClr val="556278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556278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D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7"/>
          <p:cNvSpPr/>
          <p:nvPr/>
        </p:nvSpPr>
        <p:spPr>
          <a:xfrm>
            <a:off x="628650" y="361950"/>
            <a:ext cx="107632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75">
                <a:solidFill>
                  <a:srgbClr val="172033"/>
                </a:solidFill>
              </a:rPr>
              <a:t>Building the Evaluation-Driven Workflow</a:t>
            </a:r>
            <a:endParaRPr/>
          </a:p>
        </p:txBody>
      </p:sp>
      <p:sp>
        <p:nvSpPr>
          <p:cNvPr id="265" name="Google Shape;265;p17"/>
          <p:cNvSpPr/>
          <p:nvPr/>
        </p:nvSpPr>
        <p:spPr>
          <a:xfrm>
            <a:off x="11191875" y="6419850"/>
            <a:ext cx="381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525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  <a:endParaRPr/>
          </a:p>
        </p:txBody>
      </p:sp>
      <p:sp>
        <p:nvSpPr>
          <p:cNvPr id="266" name="Google Shape;266;p17"/>
          <p:cNvSpPr/>
          <p:nvPr/>
        </p:nvSpPr>
        <p:spPr>
          <a:xfrm>
            <a:off x="714375" y="1285875"/>
            <a:ext cx="10763250" cy="609600"/>
          </a:xfrm>
          <a:prstGeom prst="roundRect">
            <a:avLst>
              <a:gd fmla="val 25000" name="adj"/>
            </a:avLst>
          </a:prstGeom>
          <a:solidFill>
            <a:srgbClr val="EAF1FF"/>
          </a:solidFill>
          <a:ln cap="flat" cmpd="sng" w="95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7"/>
          <p:cNvSpPr/>
          <p:nvPr/>
        </p:nvSpPr>
        <p:spPr>
          <a:xfrm>
            <a:off x="1095375" y="1466850"/>
            <a:ext cx="10001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Goal: build a system where evidence guides every improvement.</a:t>
            </a:r>
            <a:endParaRPr/>
          </a:p>
        </p:txBody>
      </p:sp>
      <p:sp>
        <p:nvSpPr>
          <p:cNvPr id="268" name="Google Shape;268;p17"/>
          <p:cNvSpPr/>
          <p:nvPr/>
        </p:nvSpPr>
        <p:spPr>
          <a:xfrm>
            <a:off x="714375" y="2333625"/>
            <a:ext cx="5095875" cy="3143250"/>
          </a:xfrm>
          <a:prstGeom prst="roundRect">
            <a:avLst>
              <a:gd fmla="val 5455" name="adj"/>
            </a:avLst>
          </a:prstGeom>
          <a:solidFill>
            <a:srgbClr val="E8F7F0"/>
          </a:solidFill>
          <a:ln cap="flat" cmpd="sng" w="9525">
            <a:solidFill>
              <a:srgbClr val="1684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7"/>
          <p:cNvSpPr/>
          <p:nvPr/>
        </p:nvSpPr>
        <p:spPr>
          <a:xfrm>
            <a:off x="1047750" y="2667000"/>
            <a:ext cx="43815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75">
                <a:solidFill>
                  <a:srgbClr val="16845B"/>
                </a:solidFill>
                <a:latin typeface="Arial"/>
                <a:ea typeface="Arial"/>
                <a:cs typeface="Arial"/>
                <a:sym typeface="Arial"/>
              </a:rPr>
              <a:t>Signs the workflow is working</a:t>
            </a:r>
            <a:endParaRPr/>
          </a:p>
        </p:txBody>
      </p:sp>
      <p:sp>
        <p:nvSpPr>
          <p:cNvPr id="270" name="Google Shape;270;p17"/>
          <p:cNvSpPr/>
          <p:nvPr/>
        </p:nvSpPr>
        <p:spPr>
          <a:xfrm>
            <a:off x="1047750" y="3381375"/>
            <a:ext cx="428625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• Changes can be released confidently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• Tests catch failures before users do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• The team understands system behavior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• Improvements accumulate over time</a:t>
            </a:r>
            <a:endParaRPr/>
          </a:p>
        </p:txBody>
      </p:sp>
      <p:sp>
        <p:nvSpPr>
          <p:cNvPr id="271" name="Google Shape;271;p17"/>
          <p:cNvSpPr/>
          <p:nvPr/>
        </p:nvSpPr>
        <p:spPr>
          <a:xfrm>
            <a:off x="6381750" y="2333625"/>
            <a:ext cx="5095875" cy="3143250"/>
          </a:xfrm>
          <a:prstGeom prst="roundRect">
            <a:avLst>
              <a:gd fmla="val 5455" name="adj"/>
            </a:avLst>
          </a:prstGeom>
          <a:solidFill>
            <a:srgbClr val="FFF0EE"/>
          </a:solidFill>
          <a:ln cap="flat" cmpd="sng" w="9525">
            <a:solidFill>
              <a:srgbClr val="C93C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7"/>
          <p:cNvSpPr/>
          <p:nvPr/>
        </p:nvSpPr>
        <p:spPr>
          <a:xfrm>
            <a:off x="6715125" y="2667000"/>
            <a:ext cx="43815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75">
                <a:solidFill>
                  <a:srgbClr val="C93C32"/>
                </a:solidFill>
                <a:latin typeface="Arial"/>
                <a:ea typeface="Arial"/>
                <a:cs typeface="Arial"/>
                <a:sym typeface="Arial"/>
              </a:rPr>
              <a:t>Signs the workflow needs work</a:t>
            </a:r>
            <a:endParaRPr/>
          </a:p>
        </p:txBody>
      </p:sp>
      <p:sp>
        <p:nvSpPr>
          <p:cNvPr id="273" name="Google Shape;273;p17"/>
          <p:cNvSpPr/>
          <p:nvPr/>
        </p:nvSpPr>
        <p:spPr>
          <a:xfrm>
            <a:off x="6715125" y="3381375"/>
            <a:ext cx="428625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• Each fix causes a new problem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• User complaints reveal unexpected failures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• Progress relies on trial and error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• No metric shows whether a change helped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72554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8"/>
          <p:cNvSpPr/>
          <p:nvPr/>
        </p:nvSpPr>
        <p:spPr>
          <a:xfrm>
            <a:off x="11191875" y="6419850"/>
            <a:ext cx="381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525">
                <a:solidFill>
                  <a:srgbClr val="B9C8E8"/>
                </a:solidFill>
                <a:latin typeface="Arial"/>
                <a:ea typeface="Arial"/>
                <a:cs typeface="Arial"/>
                <a:sym typeface="Arial"/>
              </a:rPr>
              <a:t>18</a:t>
            </a:r>
            <a:endParaRPr/>
          </a:p>
        </p:txBody>
      </p:sp>
      <p:sp>
        <p:nvSpPr>
          <p:cNvPr id="280" name="Google Shape;280;p18"/>
          <p:cNvSpPr/>
          <p:nvPr/>
        </p:nvSpPr>
        <p:spPr>
          <a:xfrm>
            <a:off x="647700" y="762000"/>
            <a:ext cx="2190750" cy="361950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8"/>
          <p:cNvSpPr/>
          <p:nvPr/>
        </p:nvSpPr>
        <p:spPr>
          <a:xfrm>
            <a:off x="781050" y="857250"/>
            <a:ext cx="19240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HANDS-ON LAB</a:t>
            </a:r>
            <a:endParaRPr/>
          </a:p>
        </p:txBody>
      </p:sp>
      <p:sp>
        <p:nvSpPr>
          <p:cNvPr id="282" name="Google Shape;282;p18"/>
          <p:cNvSpPr/>
          <p:nvPr/>
        </p:nvSpPr>
        <p:spPr>
          <a:xfrm>
            <a:off x="647700" y="1857375"/>
            <a:ext cx="1000125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Evaluate the AI News RAG system</a:t>
            </a:r>
            <a:endParaRPr/>
          </a:p>
        </p:txBody>
      </p:sp>
      <p:sp>
        <p:nvSpPr>
          <p:cNvPr id="283" name="Google Shape;283;p18"/>
          <p:cNvSpPr/>
          <p:nvPr/>
        </p:nvSpPr>
        <p:spPr>
          <a:xfrm>
            <a:off x="666750" y="3000375"/>
            <a:ext cx="102870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C7D2FE"/>
                </a:solidFill>
                <a:latin typeface="Arial"/>
                <a:ea typeface="Arial"/>
                <a:cs typeface="Arial"/>
                <a:sym typeface="Arial"/>
              </a:rPr>
              <a:t>Load a fixed corpus, ask deterministic questions and separate retrieval failures from answer-generation failures</a:t>
            </a:r>
            <a:endParaRPr/>
          </a:p>
        </p:txBody>
      </p:sp>
      <p:sp>
        <p:nvSpPr>
          <p:cNvPr id="284" name="Google Shape;284;p18"/>
          <p:cNvSpPr/>
          <p:nvPr/>
        </p:nvSpPr>
        <p:spPr>
          <a:xfrm>
            <a:off x="666750" y="5476875"/>
            <a:ext cx="5715000" cy="5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63">
                <a:solidFill>
                  <a:srgbClr val="AFC4EF"/>
                </a:solidFill>
                <a:latin typeface="Arial"/>
                <a:ea typeface="Arial"/>
                <a:cs typeface="Arial"/>
                <a:sym typeface="Arial"/>
              </a:rPr>
              <a:t>Based on the </a:t>
            </a:r>
            <a:r>
              <a:rPr b="0" lang="en-US" sz="1963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week-6/week6 evaluation folder</a:t>
            </a:r>
            <a:endParaRPr sz="24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D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9"/>
          <p:cNvSpPr/>
          <p:nvPr/>
        </p:nvSpPr>
        <p:spPr>
          <a:xfrm>
            <a:off x="628650" y="361950"/>
            <a:ext cx="107632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75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The experiment measures retrieval and answer generation separately</a:t>
            </a:r>
            <a:endParaRPr/>
          </a:p>
        </p:txBody>
      </p:sp>
      <p:sp>
        <p:nvSpPr>
          <p:cNvPr id="291" name="Google Shape;291;p19"/>
          <p:cNvSpPr/>
          <p:nvPr/>
        </p:nvSpPr>
        <p:spPr>
          <a:xfrm>
            <a:off x="11191875" y="6419850"/>
            <a:ext cx="381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525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19</a:t>
            </a:r>
            <a:endParaRPr/>
          </a:p>
        </p:txBody>
      </p:sp>
      <p:sp>
        <p:nvSpPr>
          <p:cNvPr id="292" name="Google Shape;292;p19"/>
          <p:cNvSpPr/>
          <p:nvPr/>
        </p:nvSpPr>
        <p:spPr>
          <a:xfrm>
            <a:off x="714375" y="1381125"/>
            <a:ext cx="4953000" cy="3714750"/>
          </a:xfrm>
          <a:prstGeom prst="roundRect">
            <a:avLst>
              <a:gd fmla="val 4615" name="adj"/>
            </a:avLst>
          </a:prstGeom>
          <a:solidFill>
            <a:srgbClr val="EAF1FF"/>
          </a:solidFill>
          <a:ln cap="flat" cmpd="sng" w="95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9"/>
          <p:cNvSpPr/>
          <p:nvPr/>
        </p:nvSpPr>
        <p:spPr>
          <a:xfrm>
            <a:off x="1047750" y="1714500"/>
            <a:ext cx="4191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Retrieval check</a:t>
            </a:r>
            <a:endParaRPr/>
          </a:p>
        </p:txBody>
      </p:sp>
      <p:sp>
        <p:nvSpPr>
          <p:cNvPr id="294" name="Google Shape;294;p19"/>
          <p:cNvSpPr/>
          <p:nvPr/>
        </p:nvSpPr>
        <p:spPr>
          <a:xfrm>
            <a:off x="1047750" y="2333625"/>
            <a:ext cx="4095750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Did the five retrieved chunks include the article that contains the expected answer?</a:t>
            </a:r>
            <a:endParaRPr/>
          </a:p>
        </p:txBody>
      </p:sp>
      <p:sp>
        <p:nvSpPr>
          <p:cNvPr id="295" name="Google Shape;295;p19"/>
          <p:cNvSpPr/>
          <p:nvPr/>
        </p:nvSpPr>
        <p:spPr>
          <a:xfrm>
            <a:off x="1047750" y="3476625"/>
            <a:ext cx="4095750" cy="1000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The expected source_id helps diagnose retrieval. The API never receives it, so it cannot reveal the answer.</a:t>
            </a:r>
            <a:endParaRPr/>
          </a:p>
        </p:txBody>
      </p:sp>
      <p:sp>
        <p:nvSpPr>
          <p:cNvPr id="296" name="Google Shape;296;p19"/>
          <p:cNvSpPr/>
          <p:nvPr/>
        </p:nvSpPr>
        <p:spPr>
          <a:xfrm>
            <a:off x="6524625" y="1381125"/>
            <a:ext cx="4953000" cy="3714750"/>
          </a:xfrm>
          <a:prstGeom prst="roundRect">
            <a:avLst>
              <a:gd fmla="val 4615" name="adj"/>
            </a:avLst>
          </a:prstGeom>
          <a:solidFill>
            <a:srgbClr val="E8F7F0"/>
          </a:solidFill>
          <a:ln cap="flat" cmpd="sng" w="9525">
            <a:solidFill>
              <a:srgbClr val="1684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9"/>
          <p:cNvSpPr/>
          <p:nvPr/>
        </p:nvSpPr>
        <p:spPr>
          <a:xfrm>
            <a:off x="6858000" y="1714500"/>
            <a:ext cx="4191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6845B"/>
                </a:solidFill>
                <a:latin typeface="Arial"/>
                <a:ea typeface="Arial"/>
                <a:cs typeface="Arial"/>
                <a:sym typeface="Arial"/>
              </a:rPr>
              <a:t>Answer check</a:t>
            </a:r>
            <a:endParaRPr/>
          </a:p>
        </p:txBody>
      </p:sp>
      <p:sp>
        <p:nvSpPr>
          <p:cNvPr id="298" name="Google Shape;298;p19"/>
          <p:cNvSpPr/>
          <p:nvPr/>
        </p:nvSpPr>
        <p:spPr>
          <a:xfrm>
            <a:off x="6858000" y="2333625"/>
            <a:ext cx="4095750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Did the API mark the answer as supported and return the expected value?</a:t>
            </a:r>
            <a:endParaRPr/>
          </a:p>
        </p:txBody>
      </p:sp>
      <p:sp>
        <p:nvSpPr>
          <p:cNvPr id="299" name="Google Shape;299;p19"/>
          <p:cNvSpPr/>
          <p:nvPr/>
        </p:nvSpPr>
        <p:spPr>
          <a:xfrm>
            <a:off x="6858000" y="3476625"/>
            <a:ext cx="4095750" cy="1000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The scorer handles numeric answers, leading true or false answers, and normalized short text with accepted aliases.</a:t>
            </a:r>
            <a:endParaRPr/>
          </a:p>
        </p:txBody>
      </p:sp>
      <p:sp>
        <p:nvSpPr>
          <p:cNvPr id="300" name="Google Shape;300;p19"/>
          <p:cNvSpPr/>
          <p:nvPr/>
        </p:nvSpPr>
        <p:spPr>
          <a:xfrm>
            <a:off x="2000250" y="5476875"/>
            <a:ext cx="8191500" cy="533400"/>
          </a:xfrm>
          <a:prstGeom prst="roundRect">
            <a:avLst>
              <a:gd fmla="val 25000" name="adj"/>
            </a:avLst>
          </a:prstGeom>
          <a:solidFill>
            <a:srgbClr val="FFFFFF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9"/>
          <p:cNvSpPr/>
          <p:nvPr/>
        </p:nvSpPr>
        <p:spPr>
          <a:xfrm>
            <a:off x="2238375" y="5638800"/>
            <a:ext cx="771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25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End-to-end pass = expected source retrieved + supported answer scored correctly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D"/>
        </a:solid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0"/>
          <p:cNvSpPr/>
          <p:nvPr/>
        </p:nvSpPr>
        <p:spPr>
          <a:xfrm>
            <a:off x="628650" y="361950"/>
            <a:ext cx="107632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79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The evaluation folder provides a fixed corpus, questions, a runner and scoring rules</a:t>
            </a:r>
            <a:endParaRPr/>
          </a:p>
        </p:txBody>
      </p:sp>
      <p:sp>
        <p:nvSpPr>
          <p:cNvPr id="308" name="Google Shape;308;p20"/>
          <p:cNvSpPr/>
          <p:nvPr/>
        </p:nvSpPr>
        <p:spPr>
          <a:xfrm>
            <a:off x="11191875" y="6419850"/>
            <a:ext cx="381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525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/>
          </a:p>
        </p:txBody>
      </p:sp>
      <p:sp>
        <p:nvSpPr>
          <p:cNvPr id="309" name="Google Shape;309;p20"/>
          <p:cNvSpPr/>
          <p:nvPr/>
        </p:nvSpPr>
        <p:spPr>
          <a:xfrm>
            <a:off x="857250" y="1238250"/>
            <a:ext cx="10477500" cy="742950"/>
          </a:xfrm>
          <a:prstGeom prst="roundRect">
            <a:avLst>
              <a:gd fmla="val 17949" name="adj"/>
            </a:avLst>
          </a:prstGeom>
          <a:solidFill>
            <a:srgbClr val="EAF1FF"/>
          </a:solidFill>
          <a:ln cap="flat" cmpd="sng" w="95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20"/>
          <p:cNvSpPr/>
          <p:nvPr/>
        </p:nvSpPr>
        <p:spPr>
          <a:xfrm>
            <a:off x="1143000" y="1419225"/>
            <a:ext cx="23336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rPr>
              <a:t>fixtures.json</a:t>
            </a:r>
            <a:endParaRPr/>
          </a:p>
        </p:txBody>
      </p:sp>
      <p:sp>
        <p:nvSpPr>
          <p:cNvPr id="311" name="Google Shape;311;p20"/>
          <p:cNvSpPr/>
          <p:nvPr/>
        </p:nvSpPr>
        <p:spPr>
          <a:xfrm>
            <a:off x="3667125" y="1409700"/>
            <a:ext cx="72390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Four compact articles with facts that the evaluation can verify.</a:t>
            </a:r>
            <a:endParaRPr/>
          </a:p>
        </p:txBody>
      </p:sp>
      <p:sp>
        <p:nvSpPr>
          <p:cNvPr id="312" name="Google Shape;312;p20"/>
          <p:cNvSpPr/>
          <p:nvPr/>
        </p:nvSpPr>
        <p:spPr>
          <a:xfrm>
            <a:off x="857250" y="2190750"/>
            <a:ext cx="10477500" cy="742950"/>
          </a:xfrm>
          <a:prstGeom prst="roundRect">
            <a:avLst>
              <a:gd fmla="val 17949" name="adj"/>
            </a:avLst>
          </a:prstGeom>
          <a:solidFill>
            <a:srgbClr val="EAF1FF"/>
          </a:solidFill>
          <a:ln cap="flat" cmpd="sng" w="95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20"/>
          <p:cNvSpPr/>
          <p:nvPr/>
        </p:nvSpPr>
        <p:spPr>
          <a:xfrm>
            <a:off x="1143000" y="2371725"/>
            <a:ext cx="23336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rPr>
              <a:t>questions.json</a:t>
            </a:r>
            <a:endParaRPr/>
          </a:p>
        </p:txBody>
      </p:sp>
      <p:sp>
        <p:nvSpPr>
          <p:cNvPr id="314" name="Google Shape;314;p20"/>
          <p:cNvSpPr/>
          <p:nvPr/>
        </p:nvSpPr>
        <p:spPr>
          <a:xfrm>
            <a:off x="3667125" y="2362200"/>
            <a:ext cx="72390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Twelve deterministic cases with an answer type, expected answer and source_id.</a:t>
            </a:r>
            <a:endParaRPr/>
          </a:p>
        </p:txBody>
      </p:sp>
      <p:sp>
        <p:nvSpPr>
          <p:cNvPr id="315" name="Google Shape;315;p20"/>
          <p:cNvSpPr/>
          <p:nvPr/>
        </p:nvSpPr>
        <p:spPr>
          <a:xfrm>
            <a:off x="857250" y="3143250"/>
            <a:ext cx="10477500" cy="742950"/>
          </a:xfrm>
          <a:prstGeom prst="roundRect">
            <a:avLst>
              <a:gd fmla="val 17949" name="adj"/>
            </a:avLst>
          </a:prstGeom>
          <a:solidFill>
            <a:srgbClr val="FFFFFF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20"/>
          <p:cNvSpPr/>
          <p:nvPr/>
        </p:nvSpPr>
        <p:spPr>
          <a:xfrm>
            <a:off x="1143000" y="3324225"/>
            <a:ext cx="23336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172033"/>
                </a:solidFill>
                <a:latin typeface="Courier New"/>
                <a:ea typeface="Courier New"/>
                <a:cs typeface="Courier New"/>
                <a:sym typeface="Courier New"/>
              </a:rPr>
              <a:t>load_fixtures.py</a:t>
            </a:r>
            <a:endParaRPr/>
          </a:p>
        </p:txBody>
      </p:sp>
      <p:sp>
        <p:nvSpPr>
          <p:cNvPr id="317" name="Google Shape;317;p20"/>
          <p:cNvSpPr/>
          <p:nvPr/>
        </p:nvSpPr>
        <p:spPr>
          <a:xfrm>
            <a:off x="3667125" y="3314700"/>
            <a:ext cx="72390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Inserts the articles, chunks their content and creates embeddings once.</a:t>
            </a:r>
            <a:endParaRPr/>
          </a:p>
        </p:txBody>
      </p:sp>
      <p:sp>
        <p:nvSpPr>
          <p:cNvPr id="318" name="Google Shape;318;p20"/>
          <p:cNvSpPr/>
          <p:nvPr/>
        </p:nvSpPr>
        <p:spPr>
          <a:xfrm>
            <a:off x="857250" y="4095750"/>
            <a:ext cx="10477500" cy="742950"/>
          </a:xfrm>
          <a:prstGeom prst="roundRect">
            <a:avLst>
              <a:gd fmla="val 17949" name="adj"/>
            </a:avLst>
          </a:prstGeom>
          <a:solidFill>
            <a:srgbClr val="FFFFFF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20"/>
          <p:cNvSpPr/>
          <p:nvPr/>
        </p:nvSpPr>
        <p:spPr>
          <a:xfrm>
            <a:off x="1143000" y="4276725"/>
            <a:ext cx="23336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172033"/>
                </a:solidFill>
                <a:latin typeface="Courier New"/>
                <a:ea typeface="Courier New"/>
                <a:cs typeface="Courier New"/>
                <a:sym typeface="Courier New"/>
              </a:rPr>
              <a:t>run_evaluation.py</a:t>
            </a:r>
            <a:endParaRPr/>
          </a:p>
        </p:txBody>
      </p:sp>
      <p:sp>
        <p:nvSpPr>
          <p:cNvPr id="320" name="Google Shape;320;p20"/>
          <p:cNvSpPr/>
          <p:nvPr/>
        </p:nvSpPr>
        <p:spPr>
          <a:xfrm>
            <a:off x="3667125" y="4267200"/>
            <a:ext cx="72390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Calls POST /ask/, checks retrieval and answers, then prints accuracy.</a:t>
            </a:r>
            <a:endParaRPr/>
          </a:p>
        </p:txBody>
      </p:sp>
      <p:sp>
        <p:nvSpPr>
          <p:cNvPr id="321" name="Google Shape;321;p20"/>
          <p:cNvSpPr/>
          <p:nvPr/>
        </p:nvSpPr>
        <p:spPr>
          <a:xfrm>
            <a:off x="857250" y="5048250"/>
            <a:ext cx="10477500" cy="742950"/>
          </a:xfrm>
          <a:prstGeom prst="roundRect">
            <a:avLst>
              <a:gd fmla="val 17949" name="adj"/>
            </a:avLst>
          </a:prstGeom>
          <a:solidFill>
            <a:srgbClr val="FFFFFF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20"/>
          <p:cNvSpPr/>
          <p:nvPr/>
        </p:nvSpPr>
        <p:spPr>
          <a:xfrm>
            <a:off x="1143000" y="5229225"/>
            <a:ext cx="23336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172033"/>
                </a:solidFill>
                <a:latin typeface="Courier New"/>
                <a:ea typeface="Courier New"/>
                <a:cs typeface="Courier New"/>
                <a:sym typeface="Courier New"/>
              </a:rPr>
              <a:t>scoring.py</a:t>
            </a:r>
            <a:endParaRPr/>
          </a:p>
        </p:txBody>
      </p:sp>
      <p:sp>
        <p:nvSpPr>
          <p:cNvPr id="323" name="Google Shape;323;p20"/>
          <p:cNvSpPr/>
          <p:nvPr/>
        </p:nvSpPr>
        <p:spPr>
          <a:xfrm>
            <a:off x="3667125" y="5219700"/>
            <a:ext cx="72390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Normalizes number, boolean and short-text answers for deterministic comparison.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D"/>
        </a:solidFill>
      </p:bgPr>
    </p:bg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1"/>
          <p:cNvSpPr/>
          <p:nvPr/>
        </p:nvSpPr>
        <p:spPr>
          <a:xfrm>
            <a:off x="628650" y="361950"/>
            <a:ext cx="107632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75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Step 1: load and index the fixed evaluation corpus</a:t>
            </a:r>
            <a:endParaRPr/>
          </a:p>
        </p:txBody>
      </p:sp>
      <p:sp>
        <p:nvSpPr>
          <p:cNvPr id="330" name="Google Shape;330;p21"/>
          <p:cNvSpPr/>
          <p:nvPr/>
        </p:nvSpPr>
        <p:spPr>
          <a:xfrm>
            <a:off x="11191875" y="6419850"/>
            <a:ext cx="381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525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21</a:t>
            </a:r>
            <a:endParaRPr/>
          </a:p>
        </p:txBody>
      </p:sp>
      <p:sp>
        <p:nvSpPr>
          <p:cNvPr id="331" name="Google Shape;331;p21"/>
          <p:cNvSpPr/>
          <p:nvPr/>
        </p:nvSpPr>
        <p:spPr>
          <a:xfrm>
            <a:off x="762000" y="1333500"/>
            <a:ext cx="44767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25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Why this step exists</a:t>
            </a:r>
            <a:endParaRPr/>
          </a:p>
        </p:txBody>
      </p:sp>
      <p:sp>
        <p:nvSpPr>
          <p:cNvPr id="332" name="Google Shape;332;p21"/>
          <p:cNvSpPr/>
          <p:nvPr/>
        </p:nvSpPr>
        <p:spPr>
          <a:xfrm>
            <a:off x="762000" y="1952625"/>
            <a:ext cx="447675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The fixture loader creates a small reproducible corpus for the experiment.</a:t>
            </a:r>
            <a:endParaRPr/>
          </a:p>
        </p:txBody>
      </p:sp>
      <p:sp>
        <p:nvSpPr>
          <p:cNvPr id="333" name="Google Shape;333;p21"/>
          <p:cNvSpPr/>
          <p:nvPr/>
        </p:nvSpPr>
        <p:spPr>
          <a:xfrm>
            <a:off x="762000" y="3905250"/>
            <a:ext cx="44767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25">
                <a:solidFill>
                  <a:srgbClr val="16845B"/>
                </a:solidFill>
                <a:latin typeface="Arial"/>
                <a:ea typeface="Arial"/>
                <a:cs typeface="Arial"/>
                <a:sym typeface="Arial"/>
              </a:rPr>
              <a:t>What the loader does</a:t>
            </a:r>
            <a:endParaRPr/>
          </a:p>
        </p:txBody>
      </p:sp>
      <p:sp>
        <p:nvSpPr>
          <p:cNvPr id="334" name="Google Shape;334;p21"/>
          <p:cNvSpPr/>
          <p:nvPr/>
        </p:nvSpPr>
        <p:spPr>
          <a:xfrm>
            <a:off x="762000" y="4476750"/>
            <a:ext cx="4476750" cy="1238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• Skips articles already present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• Creates chunks only when missing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• Calls the embedding API only for new chunks</a:t>
            </a:r>
            <a:endParaRPr/>
          </a:p>
        </p:txBody>
      </p:sp>
      <p:sp>
        <p:nvSpPr>
          <p:cNvPr id="335" name="Google Shape;335;p21"/>
          <p:cNvSpPr/>
          <p:nvPr/>
        </p:nvSpPr>
        <p:spPr>
          <a:xfrm>
            <a:off x="5810250" y="1762125"/>
            <a:ext cx="5619750" cy="857250"/>
          </a:xfrm>
          <a:prstGeom prst="roundRect">
            <a:avLst>
              <a:gd fmla="val 15556" name="adj"/>
            </a:avLst>
          </a:prstGeom>
          <a:solidFill>
            <a:srgbClr val="1118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21"/>
          <p:cNvSpPr/>
          <p:nvPr/>
        </p:nvSpPr>
        <p:spPr>
          <a:xfrm>
            <a:off x="6019800" y="1933575"/>
            <a:ext cx="52006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D1FAE5"/>
                </a:solidFill>
                <a:latin typeface="Courier New"/>
                <a:ea typeface="Courier New"/>
                <a:cs typeface="Courier New"/>
                <a:sym typeface="Courier New"/>
              </a:rPr>
              <a:t>uv run python -m week6.evaluations.load_fixtures</a:t>
            </a:r>
            <a:endParaRPr/>
          </a:p>
        </p:txBody>
      </p:sp>
      <p:sp>
        <p:nvSpPr>
          <p:cNvPr id="337" name="Google Shape;337;p21"/>
          <p:cNvSpPr/>
          <p:nvPr/>
        </p:nvSpPr>
        <p:spPr>
          <a:xfrm>
            <a:off x="6096000" y="3143250"/>
            <a:ext cx="5048250" cy="1762125"/>
          </a:xfrm>
          <a:prstGeom prst="roundRect">
            <a:avLst>
              <a:gd fmla="val 8649" name="adj"/>
            </a:avLst>
          </a:prstGeom>
          <a:solidFill>
            <a:srgbClr val="E8F7F0"/>
          </a:solidFill>
          <a:ln cap="flat" cmpd="sng" w="9525">
            <a:solidFill>
              <a:srgbClr val="1684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21"/>
          <p:cNvSpPr/>
          <p:nvPr/>
        </p:nvSpPr>
        <p:spPr>
          <a:xfrm>
            <a:off x="6429375" y="3429000"/>
            <a:ext cx="4381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16845B"/>
                </a:solidFill>
                <a:latin typeface="Arial"/>
                <a:ea typeface="Arial"/>
                <a:cs typeface="Arial"/>
                <a:sym typeface="Arial"/>
              </a:rPr>
              <a:t>Expected result</a:t>
            </a:r>
            <a:endParaRPr/>
          </a:p>
        </p:txBody>
      </p:sp>
      <p:sp>
        <p:nvSpPr>
          <p:cNvPr id="339" name="Google Shape;339;p21"/>
          <p:cNvSpPr/>
          <p:nvPr/>
        </p:nvSpPr>
        <p:spPr>
          <a:xfrm>
            <a:off x="6429375" y="3952875"/>
            <a:ext cx="428625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The command reports each inserted or existing fixture and confirms whether its chunks were indexed.</a:t>
            </a:r>
            <a:endParaRPr/>
          </a:p>
        </p:txBody>
      </p:sp>
      <p:sp>
        <p:nvSpPr>
          <p:cNvPr id="340" name="Google Shape;340;p21"/>
          <p:cNvSpPr/>
          <p:nvPr/>
        </p:nvSpPr>
        <p:spPr>
          <a:xfrm>
            <a:off x="6429375" y="5286375"/>
            <a:ext cx="4286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Safe to rerun: the loader is idempotent.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D"/>
        </a:solidFill>
      </p:bgPr>
    </p:bg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2"/>
          <p:cNvSpPr/>
          <p:nvPr/>
        </p:nvSpPr>
        <p:spPr>
          <a:xfrm>
            <a:off x="628650" y="361950"/>
            <a:ext cx="107632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75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Step 2: API startup and one test question</a:t>
            </a:r>
            <a:endParaRPr/>
          </a:p>
        </p:txBody>
      </p:sp>
      <p:sp>
        <p:nvSpPr>
          <p:cNvPr id="347" name="Google Shape;347;p22"/>
          <p:cNvSpPr/>
          <p:nvPr/>
        </p:nvSpPr>
        <p:spPr>
          <a:xfrm>
            <a:off x="11191875" y="6419850"/>
            <a:ext cx="381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525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/>
          </a:p>
        </p:txBody>
      </p:sp>
      <p:sp>
        <p:nvSpPr>
          <p:cNvPr id="348" name="Google Shape;348;p22"/>
          <p:cNvSpPr/>
          <p:nvPr/>
        </p:nvSpPr>
        <p:spPr>
          <a:xfrm>
            <a:off x="714375" y="1285875"/>
            <a:ext cx="1905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Terminal 1</a:t>
            </a:r>
            <a:endParaRPr/>
          </a:p>
        </p:txBody>
      </p:sp>
      <p:sp>
        <p:nvSpPr>
          <p:cNvPr id="349" name="Google Shape;349;p22"/>
          <p:cNvSpPr/>
          <p:nvPr/>
        </p:nvSpPr>
        <p:spPr>
          <a:xfrm>
            <a:off x="714375" y="1762125"/>
            <a:ext cx="10763250" cy="762000"/>
          </a:xfrm>
          <a:prstGeom prst="roundRect">
            <a:avLst>
              <a:gd fmla="val 17500" name="adj"/>
            </a:avLst>
          </a:prstGeom>
          <a:solidFill>
            <a:srgbClr val="1118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22"/>
          <p:cNvSpPr/>
          <p:nvPr/>
        </p:nvSpPr>
        <p:spPr>
          <a:xfrm>
            <a:off x="923925" y="1933575"/>
            <a:ext cx="103441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D1FAE5"/>
                </a:solidFill>
                <a:latin typeface="Courier New"/>
                <a:ea typeface="Courier New"/>
                <a:cs typeface="Courier New"/>
                <a:sym typeface="Courier New"/>
              </a:rPr>
              <a:t>uv run uvicorn app.main:app --reload --port 8001</a:t>
            </a:r>
            <a:endParaRPr/>
          </a:p>
        </p:txBody>
      </p:sp>
      <p:sp>
        <p:nvSpPr>
          <p:cNvPr id="351" name="Google Shape;351;p22"/>
          <p:cNvSpPr/>
          <p:nvPr/>
        </p:nvSpPr>
        <p:spPr>
          <a:xfrm>
            <a:off x="714375" y="3000375"/>
            <a:ext cx="1905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16845B"/>
                </a:solidFill>
                <a:latin typeface="Arial"/>
                <a:ea typeface="Arial"/>
                <a:cs typeface="Arial"/>
                <a:sym typeface="Arial"/>
              </a:rPr>
              <a:t>Terminal 2</a:t>
            </a:r>
            <a:endParaRPr/>
          </a:p>
        </p:txBody>
      </p:sp>
      <p:sp>
        <p:nvSpPr>
          <p:cNvPr id="352" name="Google Shape;352;p22"/>
          <p:cNvSpPr/>
          <p:nvPr/>
        </p:nvSpPr>
        <p:spPr>
          <a:xfrm>
            <a:off x="714375" y="3476625"/>
            <a:ext cx="10763250" cy="1428750"/>
          </a:xfrm>
          <a:prstGeom prst="roundRect">
            <a:avLst>
              <a:gd fmla="val 9333" name="adj"/>
            </a:avLst>
          </a:prstGeom>
          <a:solidFill>
            <a:srgbClr val="1118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22"/>
          <p:cNvSpPr/>
          <p:nvPr/>
        </p:nvSpPr>
        <p:spPr>
          <a:xfrm>
            <a:off x="923925" y="3648075"/>
            <a:ext cx="10344150" cy="11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D1FAE5"/>
                </a:solidFill>
                <a:latin typeface="Courier New"/>
                <a:ea typeface="Courier New"/>
                <a:cs typeface="Courier New"/>
                <a:sym typeface="Courier New"/>
              </a:rPr>
              <a:t>curl -X POST http://localhost:8001/ask/ \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D1FAE5"/>
                </a:solidFill>
                <a:latin typeface="Courier New"/>
                <a:ea typeface="Courier New"/>
                <a:cs typeface="Courier New"/>
                <a:sym typeface="Courier New"/>
              </a:rPr>
              <a:t>  -H 'Content-Type: application/json' \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D1FAE5"/>
                </a:solidFill>
                <a:latin typeface="Courier New"/>
                <a:ea typeface="Courier New"/>
                <a:cs typeface="Courier New"/>
                <a:sym typeface="Courier New"/>
              </a:rPr>
              <a:t>  -d '{"question":"True or false: Cobalt replaces Kobo’s boot chain.","limit":5}'</a:t>
            </a:r>
            <a:endParaRPr/>
          </a:p>
        </p:txBody>
      </p:sp>
      <p:sp>
        <p:nvSpPr>
          <p:cNvPr id="354" name="Google Shape;354;p22"/>
          <p:cNvSpPr/>
          <p:nvPr/>
        </p:nvSpPr>
        <p:spPr>
          <a:xfrm>
            <a:off x="1714500" y="5381625"/>
            <a:ext cx="8763000" cy="590550"/>
          </a:xfrm>
          <a:prstGeom prst="roundRect">
            <a:avLst>
              <a:gd fmla="val 22581" name="adj"/>
            </a:avLst>
          </a:prstGeom>
          <a:solidFill>
            <a:srgbClr val="EAF1FF"/>
          </a:solidFill>
          <a:ln cap="flat" cmpd="sng" w="95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22"/>
          <p:cNvSpPr/>
          <p:nvPr/>
        </p:nvSpPr>
        <p:spPr>
          <a:xfrm>
            <a:off x="2047875" y="5553075"/>
            <a:ext cx="80962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Inspect the answer, supported flag and citations before running all twelve cases.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D"/>
        </a:solidFill>
      </p:bgPr>
    </p:bg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3"/>
          <p:cNvSpPr/>
          <p:nvPr/>
        </p:nvSpPr>
        <p:spPr>
          <a:xfrm>
            <a:off x="628650" y="361950"/>
            <a:ext cx="107632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75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Step 3: run all evaluation cases and read the report</a:t>
            </a:r>
            <a:endParaRPr/>
          </a:p>
        </p:txBody>
      </p:sp>
      <p:sp>
        <p:nvSpPr>
          <p:cNvPr id="362" name="Google Shape;362;p23"/>
          <p:cNvSpPr/>
          <p:nvPr/>
        </p:nvSpPr>
        <p:spPr>
          <a:xfrm>
            <a:off x="11191875" y="6419850"/>
            <a:ext cx="381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525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23</a:t>
            </a:r>
            <a:endParaRPr/>
          </a:p>
        </p:txBody>
      </p:sp>
      <p:sp>
        <p:nvSpPr>
          <p:cNvPr id="363" name="Google Shape;363;p23"/>
          <p:cNvSpPr/>
          <p:nvPr/>
        </p:nvSpPr>
        <p:spPr>
          <a:xfrm>
            <a:off x="714375" y="1333500"/>
            <a:ext cx="10763250" cy="838200"/>
          </a:xfrm>
          <a:prstGeom prst="roundRect">
            <a:avLst>
              <a:gd fmla="val 15909" name="adj"/>
            </a:avLst>
          </a:prstGeom>
          <a:solidFill>
            <a:srgbClr val="1118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23"/>
          <p:cNvSpPr/>
          <p:nvPr/>
        </p:nvSpPr>
        <p:spPr>
          <a:xfrm>
            <a:off x="923925" y="1504950"/>
            <a:ext cx="103441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D1FAE5"/>
                </a:solidFill>
                <a:latin typeface="Courier New"/>
                <a:ea typeface="Courier New"/>
                <a:cs typeface="Courier New"/>
                <a:sym typeface="Courier New"/>
              </a:rPr>
              <a:t>uv run python -m week6.evaluations.run_evaluation --base-url http://localhost:8001</a:t>
            </a:r>
            <a:endParaRPr/>
          </a:p>
        </p:txBody>
      </p:sp>
      <p:sp>
        <p:nvSpPr>
          <p:cNvPr id="365" name="Google Shape;365;p23"/>
          <p:cNvSpPr/>
          <p:nvPr/>
        </p:nvSpPr>
        <p:spPr>
          <a:xfrm>
            <a:off x="714375" y="2619375"/>
            <a:ext cx="4953000" cy="2809875"/>
          </a:xfrm>
          <a:prstGeom prst="roundRect">
            <a:avLst>
              <a:gd fmla="val 6102" name="adj"/>
            </a:avLst>
          </a:prstGeom>
          <a:solidFill>
            <a:srgbClr val="EAF1FF"/>
          </a:solidFill>
          <a:ln cap="flat" cmpd="sng" w="95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23"/>
          <p:cNvSpPr/>
          <p:nvPr/>
        </p:nvSpPr>
        <p:spPr>
          <a:xfrm>
            <a:off x="1047750" y="2952750"/>
            <a:ext cx="41910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25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Output for each case</a:t>
            </a:r>
            <a:endParaRPr/>
          </a:p>
        </p:txBody>
      </p:sp>
      <p:sp>
        <p:nvSpPr>
          <p:cNvPr id="367" name="Google Shape;367;p23"/>
          <p:cNvSpPr/>
          <p:nvPr/>
        </p:nvSpPr>
        <p:spPr>
          <a:xfrm>
            <a:off x="1047750" y="3571875"/>
            <a:ext cx="4286250" cy="952500"/>
          </a:xfrm>
          <a:prstGeom prst="roundRect">
            <a:avLst>
              <a:gd fmla="val 14000" name="adj"/>
            </a:avLst>
          </a:prstGeom>
          <a:solidFill>
            <a:srgbClr val="1118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23"/>
          <p:cNvSpPr/>
          <p:nvPr/>
        </p:nvSpPr>
        <p:spPr>
          <a:xfrm>
            <a:off x="1257300" y="3743325"/>
            <a:ext cx="38671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D1FAE5"/>
                </a:solidFill>
                <a:latin typeface="Courier New"/>
                <a:ea typeface="Courier New"/>
                <a:cs typeface="Courier New"/>
                <a:sym typeface="Courier New"/>
              </a:rPr>
              <a:t>PASS kobo_boot_chain: False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D1FAE5"/>
                </a:solidFill>
                <a:latin typeface="Courier New"/>
                <a:ea typeface="Courier New"/>
                <a:cs typeface="Courier New"/>
                <a:sym typeface="Courier New"/>
              </a:rPr>
              <a:t>(retrieval: True, answer: True)</a:t>
            </a:r>
            <a:endParaRPr/>
          </a:p>
        </p:txBody>
      </p:sp>
      <p:sp>
        <p:nvSpPr>
          <p:cNvPr id="369" name="Google Shape;369;p23"/>
          <p:cNvSpPr/>
          <p:nvPr/>
        </p:nvSpPr>
        <p:spPr>
          <a:xfrm>
            <a:off x="1047750" y="4857750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A case passes only when both checks are true.</a:t>
            </a:r>
            <a:endParaRPr/>
          </a:p>
        </p:txBody>
      </p:sp>
      <p:sp>
        <p:nvSpPr>
          <p:cNvPr id="370" name="Google Shape;370;p23"/>
          <p:cNvSpPr/>
          <p:nvPr/>
        </p:nvSpPr>
        <p:spPr>
          <a:xfrm>
            <a:off x="6524625" y="2619375"/>
            <a:ext cx="4953000" cy="2809875"/>
          </a:xfrm>
          <a:prstGeom prst="roundRect">
            <a:avLst>
              <a:gd fmla="val 6102" name="adj"/>
            </a:avLst>
          </a:prstGeom>
          <a:solidFill>
            <a:srgbClr val="E8F7F0"/>
          </a:solidFill>
          <a:ln cap="flat" cmpd="sng" w="9525">
            <a:solidFill>
              <a:srgbClr val="1684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23"/>
          <p:cNvSpPr/>
          <p:nvPr/>
        </p:nvSpPr>
        <p:spPr>
          <a:xfrm>
            <a:off x="6858000" y="2952750"/>
            <a:ext cx="41910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25">
                <a:solidFill>
                  <a:srgbClr val="16845B"/>
                </a:solidFill>
                <a:latin typeface="Arial"/>
                <a:ea typeface="Arial"/>
                <a:cs typeface="Arial"/>
                <a:sym typeface="Arial"/>
              </a:rPr>
              <a:t>Summary metrics</a:t>
            </a:r>
            <a:endParaRPr/>
          </a:p>
        </p:txBody>
      </p:sp>
      <p:sp>
        <p:nvSpPr>
          <p:cNvPr id="372" name="Google Shape;372;p23"/>
          <p:cNvSpPr/>
          <p:nvPr/>
        </p:nvSpPr>
        <p:spPr>
          <a:xfrm>
            <a:off x="6858000" y="3619500"/>
            <a:ext cx="21907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25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Retrieval accuracy</a:t>
            </a:r>
            <a:endParaRPr/>
          </a:p>
        </p:txBody>
      </p:sp>
      <p:sp>
        <p:nvSpPr>
          <p:cNvPr id="373" name="Google Shape;373;p23"/>
          <p:cNvSpPr/>
          <p:nvPr/>
        </p:nvSpPr>
        <p:spPr>
          <a:xfrm>
            <a:off x="9144000" y="3619500"/>
            <a:ext cx="19526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37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Expected article retrieved</a:t>
            </a:r>
            <a:endParaRPr/>
          </a:p>
        </p:txBody>
      </p:sp>
      <p:sp>
        <p:nvSpPr>
          <p:cNvPr id="374" name="Google Shape;374;p23"/>
          <p:cNvSpPr/>
          <p:nvPr/>
        </p:nvSpPr>
        <p:spPr>
          <a:xfrm>
            <a:off x="6858000" y="4238625"/>
            <a:ext cx="21907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25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Answer accuracy</a:t>
            </a:r>
            <a:endParaRPr/>
          </a:p>
        </p:txBody>
      </p:sp>
      <p:sp>
        <p:nvSpPr>
          <p:cNvPr id="375" name="Google Shape;375;p23"/>
          <p:cNvSpPr/>
          <p:nvPr/>
        </p:nvSpPr>
        <p:spPr>
          <a:xfrm>
            <a:off x="9144000" y="4238625"/>
            <a:ext cx="19526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35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Supported answer matched</a:t>
            </a:r>
            <a:endParaRPr/>
          </a:p>
        </p:txBody>
      </p:sp>
      <p:sp>
        <p:nvSpPr>
          <p:cNvPr id="376" name="Google Shape;376;p23"/>
          <p:cNvSpPr/>
          <p:nvPr/>
        </p:nvSpPr>
        <p:spPr>
          <a:xfrm>
            <a:off x="6858000" y="4857750"/>
            <a:ext cx="21907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25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End-to-end accuracy</a:t>
            </a:r>
            <a:endParaRPr/>
          </a:p>
        </p:txBody>
      </p:sp>
      <p:sp>
        <p:nvSpPr>
          <p:cNvPr id="377" name="Google Shape;377;p23"/>
          <p:cNvSpPr/>
          <p:nvPr/>
        </p:nvSpPr>
        <p:spPr>
          <a:xfrm>
            <a:off x="9144000" y="4857750"/>
            <a:ext cx="19526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38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Both conditions passed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D"/>
        </a:solidFill>
      </p:bgPr>
    </p:bg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24"/>
          <p:cNvSpPr/>
          <p:nvPr/>
        </p:nvSpPr>
        <p:spPr>
          <a:xfrm>
            <a:off x="628650" y="361950"/>
            <a:ext cx="107632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4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Step 4: diagnose failures, change one component and rerun the same cases</a:t>
            </a:r>
            <a:endParaRPr/>
          </a:p>
        </p:txBody>
      </p:sp>
      <p:sp>
        <p:nvSpPr>
          <p:cNvPr id="384" name="Google Shape;384;p24"/>
          <p:cNvSpPr/>
          <p:nvPr/>
        </p:nvSpPr>
        <p:spPr>
          <a:xfrm>
            <a:off x="11191875" y="6419850"/>
            <a:ext cx="381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525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24</a:t>
            </a:r>
            <a:endParaRPr/>
          </a:p>
        </p:txBody>
      </p:sp>
      <p:sp>
        <p:nvSpPr>
          <p:cNvPr id="385" name="Google Shape;385;p24"/>
          <p:cNvSpPr/>
          <p:nvPr/>
        </p:nvSpPr>
        <p:spPr>
          <a:xfrm>
            <a:off x="714375" y="1343025"/>
            <a:ext cx="2381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Wrong citations</a:t>
            </a:r>
            <a:endParaRPr/>
          </a:p>
        </p:txBody>
      </p:sp>
      <p:sp>
        <p:nvSpPr>
          <p:cNvPr id="386" name="Google Shape;386;p24"/>
          <p:cNvSpPr/>
          <p:nvPr/>
        </p:nvSpPr>
        <p:spPr>
          <a:xfrm>
            <a:off x="3286125" y="1343025"/>
            <a:ext cx="2190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Retrieval failure</a:t>
            </a:r>
            <a:endParaRPr/>
          </a:p>
        </p:txBody>
      </p:sp>
      <p:sp>
        <p:nvSpPr>
          <p:cNvPr id="387" name="Google Shape;387;p24"/>
          <p:cNvSpPr/>
          <p:nvPr/>
        </p:nvSpPr>
        <p:spPr>
          <a:xfrm>
            <a:off x="5667375" y="1323975"/>
            <a:ext cx="57150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Inspect chunking, embeddings, query wording or retrieval limit.</a:t>
            </a:r>
            <a:endParaRPr/>
          </a:p>
        </p:txBody>
      </p:sp>
      <p:sp>
        <p:nvSpPr>
          <p:cNvPr id="388" name="Google Shape;388;p24"/>
          <p:cNvSpPr/>
          <p:nvPr/>
        </p:nvSpPr>
        <p:spPr>
          <a:xfrm>
            <a:off x="714375" y="2028825"/>
            <a:ext cx="10668000" cy="9525"/>
          </a:xfrm>
          <a:prstGeom prst="rect">
            <a:avLst/>
          </a:prstGeom>
          <a:solidFill>
            <a:srgbClr val="D8E0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24"/>
          <p:cNvSpPr/>
          <p:nvPr/>
        </p:nvSpPr>
        <p:spPr>
          <a:xfrm>
            <a:off x="714375" y="2371725"/>
            <a:ext cx="2381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35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Correct citations, wrong answer</a:t>
            </a:r>
            <a:endParaRPr/>
          </a:p>
        </p:txBody>
      </p:sp>
      <p:sp>
        <p:nvSpPr>
          <p:cNvPr id="390" name="Google Shape;390;p24"/>
          <p:cNvSpPr/>
          <p:nvPr/>
        </p:nvSpPr>
        <p:spPr>
          <a:xfrm>
            <a:off x="3286125" y="2371725"/>
            <a:ext cx="2190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Generation failure</a:t>
            </a:r>
            <a:endParaRPr/>
          </a:p>
        </p:txBody>
      </p:sp>
      <p:sp>
        <p:nvSpPr>
          <p:cNvPr id="391" name="Google Shape;391;p24"/>
          <p:cNvSpPr/>
          <p:nvPr/>
        </p:nvSpPr>
        <p:spPr>
          <a:xfrm>
            <a:off x="5667375" y="2352675"/>
            <a:ext cx="57150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Inspect the answer prompt, evidence formatting or model behavior.</a:t>
            </a:r>
            <a:endParaRPr/>
          </a:p>
        </p:txBody>
      </p:sp>
      <p:sp>
        <p:nvSpPr>
          <p:cNvPr id="392" name="Google Shape;392;p24"/>
          <p:cNvSpPr/>
          <p:nvPr/>
        </p:nvSpPr>
        <p:spPr>
          <a:xfrm>
            <a:off x="714375" y="3057525"/>
            <a:ext cx="10668000" cy="9525"/>
          </a:xfrm>
          <a:prstGeom prst="rect">
            <a:avLst/>
          </a:prstGeom>
          <a:solidFill>
            <a:srgbClr val="D8E0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24"/>
          <p:cNvSpPr/>
          <p:nvPr/>
        </p:nvSpPr>
        <p:spPr>
          <a:xfrm>
            <a:off x="714375" y="3400425"/>
            <a:ext cx="2381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supported: false</a:t>
            </a:r>
            <a:endParaRPr/>
          </a:p>
        </p:txBody>
      </p:sp>
      <p:sp>
        <p:nvSpPr>
          <p:cNvPr id="394" name="Google Shape;394;p24"/>
          <p:cNvSpPr/>
          <p:nvPr/>
        </p:nvSpPr>
        <p:spPr>
          <a:xfrm>
            <a:off x="3286125" y="3400425"/>
            <a:ext cx="2190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Insufficient evidence</a:t>
            </a:r>
            <a:endParaRPr/>
          </a:p>
        </p:txBody>
      </p:sp>
      <p:sp>
        <p:nvSpPr>
          <p:cNvPr id="395" name="Google Shape;395;p24"/>
          <p:cNvSpPr/>
          <p:nvPr/>
        </p:nvSpPr>
        <p:spPr>
          <a:xfrm>
            <a:off x="5667375" y="3381375"/>
            <a:ext cx="57150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Check whether useful chunks were retrieved and whether the corpus contains the fact.</a:t>
            </a:r>
            <a:endParaRPr/>
          </a:p>
        </p:txBody>
      </p:sp>
      <p:sp>
        <p:nvSpPr>
          <p:cNvPr id="396" name="Google Shape;396;p24"/>
          <p:cNvSpPr/>
          <p:nvPr/>
        </p:nvSpPr>
        <p:spPr>
          <a:xfrm>
            <a:off x="714375" y="4086225"/>
            <a:ext cx="10668000" cy="9525"/>
          </a:xfrm>
          <a:prstGeom prst="rect">
            <a:avLst/>
          </a:prstGeom>
          <a:solidFill>
            <a:srgbClr val="D8E0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24"/>
          <p:cNvSpPr/>
          <p:nvPr/>
        </p:nvSpPr>
        <p:spPr>
          <a:xfrm>
            <a:off x="714375" y="4429125"/>
            <a:ext cx="2381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C93C32"/>
                </a:solidFill>
                <a:latin typeface="Arial"/>
                <a:ea typeface="Arial"/>
                <a:cs typeface="Arial"/>
                <a:sym typeface="Arial"/>
              </a:rPr>
              <a:t>Answer absent from content</a:t>
            </a:r>
            <a:endParaRPr/>
          </a:p>
        </p:txBody>
      </p:sp>
      <p:sp>
        <p:nvSpPr>
          <p:cNvPr id="398" name="Google Shape;398;p24"/>
          <p:cNvSpPr/>
          <p:nvPr/>
        </p:nvSpPr>
        <p:spPr>
          <a:xfrm>
            <a:off x="3286125" y="4429125"/>
            <a:ext cx="2190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C93C32"/>
                </a:solidFill>
                <a:latin typeface="Arial"/>
                <a:ea typeface="Arial"/>
                <a:cs typeface="Arial"/>
                <a:sym typeface="Arial"/>
              </a:rPr>
              <a:t>Data-quality failure</a:t>
            </a:r>
            <a:endParaRPr/>
          </a:p>
        </p:txBody>
      </p:sp>
      <p:sp>
        <p:nvSpPr>
          <p:cNvPr id="399" name="Google Shape;399;p24"/>
          <p:cNvSpPr/>
          <p:nvPr/>
        </p:nvSpPr>
        <p:spPr>
          <a:xfrm>
            <a:off x="5667375" y="4410075"/>
            <a:ext cx="57150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56278"/>
                </a:solidFill>
                <a:latin typeface="Arial"/>
                <a:ea typeface="Arial"/>
                <a:cs typeface="Arial"/>
                <a:sym typeface="Arial"/>
              </a:rPr>
              <a:t>Repair or exclude the record instead of blaming the model.</a:t>
            </a:r>
            <a:endParaRPr/>
          </a:p>
        </p:txBody>
      </p:sp>
      <p:sp>
        <p:nvSpPr>
          <p:cNvPr id="400" name="Google Shape;400;p24"/>
          <p:cNvSpPr/>
          <p:nvPr/>
        </p:nvSpPr>
        <p:spPr>
          <a:xfrm>
            <a:off x="714375" y="5476875"/>
            <a:ext cx="6096000" cy="590550"/>
          </a:xfrm>
          <a:prstGeom prst="roundRect">
            <a:avLst>
              <a:gd fmla="val 22581" name="adj"/>
            </a:avLst>
          </a:prstGeom>
          <a:solidFill>
            <a:srgbClr val="1118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24"/>
          <p:cNvSpPr/>
          <p:nvPr/>
        </p:nvSpPr>
        <p:spPr>
          <a:xfrm>
            <a:off x="923925" y="5648325"/>
            <a:ext cx="56769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D1FAE5"/>
                </a:solidFill>
                <a:latin typeface="Courier New"/>
                <a:ea typeface="Courier New"/>
                <a:cs typeface="Courier New"/>
                <a:sym typeface="Courier New"/>
              </a:rPr>
              <a:t>uv run python -m unittest tests/test_evaluation_scoring.py</a:t>
            </a:r>
            <a:endParaRPr/>
          </a:p>
        </p:txBody>
      </p:sp>
      <p:sp>
        <p:nvSpPr>
          <p:cNvPr id="402" name="Google Shape;402;p24"/>
          <p:cNvSpPr/>
          <p:nvPr/>
        </p:nvSpPr>
        <p:spPr>
          <a:xfrm>
            <a:off x="7048500" y="5286375"/>
            <a:ext cx="4429125" cy="904875"/>
          </a:xfrm>
          <a:prstGeom prst="roundRect">
            <a:avLst>
              <a:gd fmla="val 14737" name="adj"/>
            </a:avLst>
          </a:prstGeom>
          <a:solidFill>
            <a:srgbClr val="1118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24"/>
          <p:cNvSpPr/>
          <p:nvPr/>
        </p:nvSpPr>
        <p:spPr>
          <a:xfrm>
            <a:off x="7258050" y="5457825"/>
            <a:ext cx="4010025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75">
                <a:solidFill>
                  <a:srgbClr val="D1FAE5"/>
                </a:solidFill>
                <a:latin typeface="Courier New"/>
                <a:ea typeface="Courier New"/>
                <a:cs typeface="Courier New"/>
                <a:sym typeface="Courier New"/>
              </a:rPr>
              <a:t>uv run python -m week6.evaluations.run_evaluation \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75">
                <a:solidFill>
                  <a:srgbClr val="D1FAE5"/>
                </a:solidFill>
                <a:latin typeface="Courier New"/>
                <a:ea typeface="Courier New"/>
                <a:cs typeface="Courier New"/>
                <a:sym typeface="Courier New"/>
              </a:rPr>
              <a:t>  --base-url http://localhost:8001 --minimum-accuracy 0.70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