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</p:sldIdLst>
  <p:sldSz cy="6858000" cx="12192000"/>
  <p:notesSz cx="6858000" cy="12192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37" roundtripDataSignature="AMtx7mjM7W3WdjZXtwz4ank3x/rpY7kkN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slide" Target="slides/slide25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11" Type="http://schemas.openxmlformats.org/officeDocument/2006/relationships/slide" Target="slides/slide7.xml"/><Relationship Id="rId33" Type="http://schemas.openxmlformats.org/officeDocument/2006/relationships/slide" Target="slides/slide29.xml"/><Relationship Id="rId10" Type="http://schemas.openxmlformats.org/officeDocument/2006/relationships/slide" Target="slides/slide6.xml"/><Relationship Id="rId32" Type="http://schemas.openxmlformats.org/officeDocument/2006/relationships/slide" Target="slides/slide28.xml"/><Relationship Id="rId13" Type="http://schemas.openxmlformats.org/officeDocument/2006/relationships/slide" Target="slides/slide9.xml"/><Relationship Id="rId35" Type="http://schemas.openxmlformats.org/officeDocument/2006/relationships/slide" Target="slides/slide31.xml"/><Relationship Id="rId12" Type="http://schemas.openxmlformats.org/officeDocument/2006/relationships/slide" Target="slides/slide8.xml"/><Relationship Id="rId34" Type="http://schemas.openxmlformats.org/officeDocument/2006/relationships/slide" Target="slides/slide30.xml"/><Relationship Id="rId15" Type="http://schemas.openxmlformats.org/officeDocument/2006/relationships/slide" Target="slides/slide11.xml"/><Relationship Id="rId37" Type="http://customschemas.google.com/relationships/presentationmetadata" Target="metadata"/><Relationship Id="rId14" Type="http://schemas.openxmlformats.org/officeDocument/2006/relationships/slide" Target="slides/slide10.xml"/><Relationship Id="rId36" Type="http://schemas.openxmlformats.org/officeDocument/2006/relationships/slide" Target="slides/slide32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" name="Google Shape;26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3" name="Google Shape;53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6" name="Google Shape;86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7" name="Google Shape;97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1" name="Google Shape;111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4" name="Google Shape;134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6" name="Google Shape;156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6" name="Google Shape;176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9" name="Google Shape;199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9" name="Google Shape;219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0" name="Google Shape;230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7" name="Google Shape;257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2" name="Google Shape;282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2" name="Google Shape;322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3" name="Google Shape;323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7" name="Google Shape;367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8" name="Google Shape;368;p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2" name="Google Shape;382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3" name="Google Shape;383;p1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1" name="Google Shape;411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2" name="Google Shape;412;p1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5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7" name="Google Shape;427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8" name="Google Shape;428;p1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8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0" name="Google Shape;450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1" name="Google Shape;451;p2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4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6" name="Google Shape;466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7" name="Google Shape;467;p2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5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p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87" name="Google Shape;487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8" name="Google Shape;488;p2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6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Google Shape;507;p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08" name="Google Shape;508;p2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9" name="Google Shape;509;p2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7" name="Shape 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" name="Google Shape;528;p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9" name="Google Shape;529;p2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0" name="Google Shape;530;p2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3" name="Shape 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" name="Google Shape;544;p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45" name="Google Shape;545;p2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6" name="Google Shape;546;p2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2" name="Shape 5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" name="Google Shape;563;p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64" name="Google Shape;564;p2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5" name="Google Shape;565;p2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1" name="Shape 5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2" name="Google Shape;582;p2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83" name="Google Shape;583;p2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4" name="Google Shape;584;p2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0" name="Shape 6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" name="Google Shape;601;p2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02" name="Google Shape;602;p2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3" name="Google Shape;603;p2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9" name="Shape 6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0" name="Google Shape;620;p2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21" name="Google Shape;621;p2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2" name="Google Shape;622;p2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3" name="Shape 6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4" name="Google Shape;644;p3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45" name="Google Shape;645;p3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6" name="Google Shape;646;p3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4" name="Shape 6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" name="Google Shape;665;p3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66" name="Google Shape;666;p3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7" name="Google Shape;667;p3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6" name="Shape 6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7" name="Google Shape;687;p3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88" name="Google Shape;688;p3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9" name="Google Shape;689;p3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9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image" Target="../media/image13.png"/><Relationship Id="rId6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5.png"/><Relationship Id="rId4" Type="http://schemas.openxmlformats.org/officeDocument/2006/relationships/image" Target="../media/image5.png"/><Relationship Id="rId5" Type="http://schemas.openxmlformats.org/officeDocument/2006/relationships/image" Target="../media/image44.png"/><Relationship Id="rId6" Type="http://schemas.openxmlformats.org/officeDocument/2006/relationships/image" Target="../media/image4.png"/><Relationship Id="rId7" Type="http://schemas.openxmlformats.org/officeDocument/2006/relationships/image" Target="../media/image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2.png"/><Relationship Id="rId4" Type="http://schemas.openxmlformats.org/officeDocument/2006/relationships/image" Target="../media/image5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.png"/><Relationship Id="rId4" Type="http://schemas.openxmlformats.org/officeDocument/2006/relationships/image" Target="../media/image1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8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Relationship Id="rId4" Type="http://schemas.openxmlformats.org/officeDocument/2006/relationships/image" Target="../media/image59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8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2.png"/><Relationship Id="rId4" Type="http://schemas.openxmlformats.org/officeDocument/2006/relationships/image" Target="../media/image14.png"/><Relationship Id="rId5" Type="http://schemas.openxmlformats.org/officeDocument/2006/relationships/hyperlink" Target="https://github.com/lindseypeng/ai-news-api/tree/week-1" TargetMode="Externa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7.png"/><Relationship Id="rId4" Type="http://schemas.openxmlformats.org/officeDocument/2006/relationships/image" Target="../media/image16.png"/><Relationship Id="rId5" Type="http://schemas.openxmlformats.org/officeDocument/2006/relationships/image" Target="../media/image15.png"/><Relationship Id="rId6" Type="http://schemas.openxmlformats.org/officeDocument/2006/relationships/image" Target="../media/image1.png"/><Relationship Id="rId7" Type="http://schemas.openxmlformats.org/officeDocument/2006/relationships/image" Target="../media/image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7.png"/><Relationship Id="rId4" Type="http://schemas.openxmlformats.org/officeDocument/2006/relationships/image" Target="../media/image56.png"/><Relationship Id="rId5" Type="http://schemas.openxmlformats.org/officeDocument/2006/relationships/image" Target="../media/image16.png"/><Relationship Id="rId6" Type="http://schemas.openxmlformats.org/officeDocument/2006/relationships/image" Target="../media/image15.png"/><Relationship Id="rId7" Type="http://schemas.openxmlformats.org/officeDocument/2006/relationships/image" Target="../media/image1.png"/><Relationship Id="rId8" Type="http://schemas.openxmlformats.org/officeDocument/2006/relationships/image" Target="../media/image2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5.png"/><Relationship Id="rId4" Type="http://schemas.openxmlformats.org/officeDocument/2006/relationships/image" Target="../media/image26.png"/><Relationship Id="rId11" Type="http://schemas.openxmlformats.org/officeDocument/2006/relationships/image" Target="../media/image34.png"/><Relationship Id="rId10" Type="http://schemas.openxmlformats.org/officeDocument/2006/relationships/image" Target="../media/image31.png"/><Relationship Id="rId9" Type="http://schemas.openxmlformats.org/officeDocument/2006/relationships/image" Target="../media/image13.png"/><Relationship Id="rId5" Type="http://schemas.openxmlformats.org/officeDocument/2006/relationships/image" Target="../media/image27.png"/><Relationship Id="rId6" Type="http://schemas.openxmlformats.org/officeDocument/2006/relationships/image" Target="../media/image2.png"/><Relationship Id="rId7" Type="http://schemas.openxmlformats.org/officeDocument/2006/relationships/image" Target="../media/image43.png"/><Relationship Id="rId8" Type="http://schemas.openxmlformats.org/officeDocument/2006/relationships/image" Target="../media/image1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3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50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35.png"/><Relationship Id="rId4" Type="http://schemas.openxmlformats.org/officeDocument/2006/relationships/hyperlink" Target="https://www.python.org/downloads/" TargetMode="External"/><Relationship Id="rId5" Type="http://schemas.openxmlformats.org/officeDocument/2006/relationships/hyperlink" Target="https://docs.python.org/3/using/index.html" TargetMode="External"/><Relationship Id="rId6" Type="http://schemas.openxmlformats.org/officeDocument/2006/relationships/hyperlink" Target="https://git-scm.com/downloads" TargetMode="External"/><Relationship Id="rId7" Type="http://schemas.openxmlformats.org/officeDocument/2006/relationships/hyperlink" Target="https://git-scm.com/book/en/v2/Getting-Started-Installing-Git" TargetMode="Externa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5.png"/><Relationship Id="rId4" Type="http://schemas.openxmlformats.org/officeDocument/2006/relationships/hyperlink" Target="https://cursor.sh/" TargetMode="External"/><Relationship Id="rId5" Type="http://schemas.openxmlformats.org/officeDocument/2006/relationships/hyperlink" Target="https://youtu.be/mpk4Q5feWaw" TargetMode="External"/><Relationship Id="rId6" Type="http://schemas.openxmlformats.org/officeDocument/2006/relationships/hyperlink" Target="https://youtu.be/CqkZ-ybl3lg" TargetMode="Externa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31.png"/><Relationship Id="rId4" Type="http://schemas.openxmlformats.org/officeDocument/2006/relationships/hyperlink" Target="https://daveebbelaar.com/blog/2024/03/20/getting-started-with-uv-the-ultra-fast-python-package-manager/" TargetMode="Externa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48.png"/><Relationship Id="rId4" Type="http://schemas.openxmlformats.org/officeDocument/2006/relationships/hyperlink" Target="https://docs.astral.sh/ruff/" TargetMode="External"/><Relationship Id="rId5" Type="http://schemas.openxmlformats.org/officeDocument/2006/relationships/hyperlink" Target="https://marketplace.visualstudio.com/items?itemName=charliermarsh.ruff" TargetMode="Externa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4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38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44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2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31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3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52.png"/><Relationship Id="rId4" Type="http://schemas.openxmlformats.org/officeDocument/2006/relationships/image" Target="../media/image6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38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6.png"/><Relationship Id="rId4" Type="http://schemas.openxmlformats.org/officeDocument/2006/relationships/hyperlink" Target="https://platform.openai.com/" TargetMode="Externa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A38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9692640" y="-822960"/>
            <a:ext cx="3108960" cy="3108960"/>
          </a:xfrm>
          <a:prstGeom prst="ellipse">
            <a:avLst/>
          </a:prstGeom>
          <a:solidFill>
            <a:srgbClr val="2632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ai-eng-week1/icons/rocket.png" id="17" name="Google Shape;17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94238" y="78638"/>
            <a:ext cx="1305763" cy="1305763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Google Shape;18;p1"/>
          <p:cNvSpPr/>
          <p:nvPr/>
        </p:nvSpPr>
        <p:spPr>
          <a:xfrm>
            <a:off x="822960" y="1554480"/>
            <a:ext cx="9144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A93B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2A93B"/>
                </a:solidFill>
                <a:latin typeface="Calibri"/>
                <a:ea typeface="Calibri"/>
                <a:cs typeface="Calibri"/>
                <a:sym typeface="Calibri"/>
              </a:rPr>
              <a:t>BUILD &amp; LEARN · DATA SCIENCE SATURDAYS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1"/>
          <p:cNvSpPr/>
          <p:nvPr/>
        </p:nvSpPr>
        <p:spPr>
          <a:xfrm>
            <a:off x="777240" y="1965960"/>
            <a:ext cx="1005840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400"/>
              <a:buFont typeface="Cambria"/>
              <a:buNone/>
            </a:pPr>
            <a:r>
              <a:rPr b="1" i="0" lang="en-US" sz="54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AI Engineering</a:t>
            </a:r>
            <a:endParaRPr b="0" i="0" sz="5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1"/>
          <p:cNvSpPr/>
          <p:nvPr/>
        </p:nvSpPr>
        <p:spPr>
          <a:xfrm>
            <a:off x="822960" y="3063240"/>
            <a:ext cx="731520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A93B"/>
              </a:buClr>
              <a:buSzPts val="6600"/>
              <a:buFont typeface="Cambria"/>
              <a:buNone/>
            </a:pPr>
            <a:r>
              <a:rPr b="1" i="0" lang="en-US" sz="6600" u="none" cap="none" strike="noStrike">
                <a:solidFill>
                  <a:srgbClr val="F2A93B"/>
                </a:solidFill>
                <a:latin typeface="Cambria"/>
                <a:ea typeface="Cambria"/>
                <a:cs typeface="Cambria"/>
                <a:sym typeface="Cambria"/>
              </a:rPr>
              <a:t>WEEK 1</a:t>
            </a:r>
            <a:endParaRPr b="0" i="0" sz="6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1"/>
          <p:cNvSpPr/>
          <p:nvPr/>
        </p:nvSpPr>
        <p:spPr>
          <a:xfrm>
            <a:off x="822960" y="4160520"/>
            <a:ext cx="10058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7D2DE"/>
              </a:buClr>
              <a:buSzPts val="1700"/>
              <a:buFont typeface="Calibri"/>
              <a:buNone/>
            </a:pPr>
            <a:r>
              <a:rPr b="0" i="0" lang="en-US" sz="1700" u="none" cap="none" strike="noStrike">
                <a:solidFill>
                  <a:srgbClr val="C7D2DE"/>
                </a:solidFill>
                <a:latin typeface="Calibri"/>
                <a:ea typeface="Calibri"/>
                <a:cs typeface="Calibri"/>
                <a:sym typeface="Calibri"/>
              </a:rPr>
              <a:t>Psychology   ·   Setup   ·   Basic Code Structure   ·   AI Tooling (CLI)   ·   OpenAI Key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2" name="Google Shape;22;p1"/>
          <p:cNvCxnSpPr/>
          <p:nvPr/>
        </p:nvCxnSpPr>
        <p:spPr>
          <a:xfrm>
            <a:off x="822960" y="4892040"/>
            <a:ext cx="3108960" cy="0"/>
          </a:xfrm>
          <a:prstGeom prst="straightConnector1">
            <a:avLst/>
          </a:prstGeom>
          <a:noFill/>
          <a:ln cap="flat" cmpd="sng" w="12700">
            <a:solidFill>
              <a:srgbClr val="3A4757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3" name="Google Shape;23;p1"/>
          <p:cNvSpPr/>
          <p:nvPr/>
        </p:nvSpPr>
        <p:spPr>
          <a:xfrm>
            <a:off x="822960" y="5074920"/>
            <a:ext cx="73152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C7D2DE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C7D2DE"/>
                </a:solidFill>
                <a:latin typeface="Calibri"/>
                <a:ea typeface="Calibri"/>
                <a:cs typeface="Calibri"/>
                <a:sym typeface="Calibri"/>
              </a:rPr>
              <a:t>Saturday · 10:00–12:00 · Octopus Bar, Berlin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C7D2DE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C7D2DE"/>
                </a:solidFill>
                <a:latin typeface="Calibri"/>
                <a:ea typeface="Calibri"/>
                <a:cs typeface="Calibri"/>
                <a:sym typeface="Calibri"/>
              </a:rPr>
              <a:t>Hosted by Lindsey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2"/>
          <p:cNvSpPr/>
          <p:nvPr/>
        </p:nvSpPr>
        <p:spPr>
          <a:xfrm>
            <a:off x="640080" y="457200"/>
            <a:ext cx="107899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A38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1E2A38"/>
                </a:solidFill>
                <a:latin typeface="Cambria"/>
                <a:ea typeface="Cambria"/>
                <a:cs typeface="Cambria"/>
                <a:sym typeface="Cambria"/>
              </a:rPr>
              <a:t>About This Course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2"/>
          <p:cNvSpPr/>
          <p:nvPr/>
        </p:nvSpPr>
        <p:spPr>
          <a:xfrm>
            <a:off x="640080" y="1417320"/>
            <a:ext cx="5577840" cy="1417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E2A38"/>
              </a:buClr>
              <a:buSzPts val="1450"/>
              <a:buFont typeface="Calibri"/>
              <a:buNone/>
            </a:pPr>
            <a:r>
              <a:rPr b="0" i="0" lang="en-US" sz="1450" u="none" cap="none" strike="noStrike">
                <a:solidFill>
                  <a:srgbClr val="1E2A38"/>
                </a:solidFill>
                <a:latin typeface="Calibri"/>
                <a:ea typeface="Calibri"/>
                <a:cs typeface="Calibri"/>
                <a:sym typeface="Calibri"/>
              </a:rPr>
              <a:t>A seven-week, hands-on program to build and deploy a real AI application — end to end. This is not theory-only machine learning: you'll ship working code touching FastAPI, Postgres, Docker, and a real AI pipeline.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2"/>
          <p:cNvSpPr/>
          <p:nvPr/>
        </p:nvSpPr>
        <p:spPr>
          <a:xfrm>
            <a:off x="640080" y="297180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86AB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2E86AB"/>
                </a:solidFill>
                <a:latin typeface="Calibri"/>
                <a:ea typeface="Calibri"/>
                <a:cs typeface="Calibri"/>
                <a:sym typeface="Calibri"/>
              </a:rPr>
              <a:t>WHO IT'S FOR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2"/>
          <p:cNvSpPr/>
          <p:nvPr/>
        </p:nvSpPr>
        <p:spPr>
          <a:xfrm>
            <a:off x="640080" y="3291840"/>
            <a:ext cx="557784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A38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1E2A38"/>
                </a:solidFill>
                <a:latin typeface="Calibri"/>
                <a:ea typeface="Calibri"/>
                <a:cs typeface="Calibri"/>
                <a:sym typeface="Calibri"/>
              </a:rPr>
              <a:t>Data scientists, analysts, and software developers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1E2A38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1E2A38"/>
                </a:solidFill>
                <a:latin typeface="Calibri"/>
                <a:ea typeface="Calibri"/>
                <a:cs typeface="Calibri"/>
                <a:sym typeface="Calibri"/>
              </a:rPr>
              <a:t>Anyone transitioning into AI engineering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1E2A38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1E2A38"/>
                </a:solidFill>
                <a:latin typeface="Calibri"/>
                <a:ea typeface="Calibri"/>
                <a:cs typeface="Calibri"/>
                <a:sym typeface="Calibri"/>
              </a:rPr>
              <a:t>Basic Python required — no prior LLM experience needed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2"/>
          <p:cNvSpPr/>
          <p:nvPr/>
        </p:nvSpPr>
        <p:spPr>
          <a:xfrm>
            <a:off x="6675120" y="1417320"/>
            <a:ext cx="4846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86AB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2E86AB"/>
                </a:solidFill>
                <a:latin typeface="Calibri"/>
                <a:ea typeface="Calibri"/>
                <a:cs typeface="Calibri"/>
                <a:sym typeface="Calibri"/>
              </a:rPr>
              <a:t>WHAT YOU'LL TOUCH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2"/>
          <p:cNvSpPr/>
          <p:nvPr/>
        </p:nvSpPr>
        <p:spPr>
          <a:xfrm>
            <a:off x="6675120" y="1828800"/>
            <a:ext cx="502920" cy="502920"/>
          </a:xfrm>
          <a:prstGeom prst="ellipse">
            <a:avLst/>
          </a:prstGeom>
          <a:solidFill>
            <a:srgbClr val="1E2A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ai-eng-week1/icons/fastapi.png" id="35" name="Google Shape;35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788277" y="1941957"/>
            <a:ext cx="276606" cy="276606"/>
          </a:xfrm>
          <a:prstGeom prst="rect">
            <a:avLst/>
          </a:prstGeom>
          <a:noFill/>
          <a:ln>
            <a:noFill/>
          </a:ln>
        </p:spPr>
      </p:pic>
      <p:sp>
        <p:nvSpPr>
          <p:cNvPr id="36" name="Google Shape;36;p2"/>
          <p:cNvSpPr/>
          <p:nvPr/>
        </p:nvSpPr>
        <p:spPr>
          <a:xfrm>
            <a:off x="7360920" y="1810512"/>
            <a:ext cx="40233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A38"/>
              </a:buClr>
              <a:buSzPts val="1450"/>
              <a:buFont typeface="Calibri"/>
              <a:buNone/>
            </a:pPr>
            <a:r>
              <a:rPr b="1" i="0" lang="en-US" sz="1450" u="none" cap="none" strike="noStrike">
                <a:solidFill>
                  <a:srgbClr val="1E2A38"/>
                </a:solidFill>
                <a:latin typeface="Calibri"/>
                <a:ea typeface="Calibri"/>
                <a:cs typeface="Calibri"/>
                <a:sym typeface="Calibri"/>
              </a:rPr>
              <a:t>FastAPI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2"/>
          <p:cNvSpPr/>
          <p:nvPr/>
        </p:nvSpPr>
        <p:spPr>
          <a:xfrm>
            <a:off x="6675120" y="2487168"/>
            <a:ext cx="502920" cy="502920"/>
          </a:xfrm>
          <a:prstGeom prst="ellipse">
            <a:avLst/>
          </a:prstGeom>
          <a:solidFill>
            <a:srgbClr val="1E2A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ai-eng-week1/icons/postgresql.png" id="38" name="Google Shape;38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788277" y="2600325"/>
            <a:ext cx="276606" cy="276606"/>
          </a:xfrm>
          <a:prstGeom prst="rect">
            <a:avLst/>
          </a:prstGeom>
          <a:noFill/>
          <a:ln>
            <a:noFill/>
          </a:ln>
        </p:spPr>
      </p:pic>
      <p:sp>
        <p:nvSpPr>
          <p:cNvPr id="39" name="Google Shape;39;p2"/>
          <p:cNvSpPr/>
          <p:nvPr/>
        </p:nvSpPr>
        <p:spPr>
          <a:xfrm>
            <a:off x="7360920" y="2468880"/>
            <a:ext cx="40233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A38"/>
              </a:buClr>
              <a:buSzPts val="1450"/>
              <a:buFont typeface="Calibri"/>
              <a:buNone/>
            </a:pPr>
            <a:r>
              <a:rPr b="1" i="0" lang="en-US" sz="1450" u="none" cap="none" strike="noStrike">
                <a:solidFill>
                  <a:srgbClr val="1E2A38"/>
                </a:solidFill>
                <a:latin typeface="Calibri"/>
                <a:ea typeface="Calibri"/>
                <a:cs typeface="Calibri"/>
                <a:sym typeface="Calibri"/>
              </a:rPr>
              <a:t>Postgres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2"/>
          <p:cNvSpPr/>
          <p:nvPr/>
        </p:nvSpPr>
        <p:spPr>
          <a:xfrm>
            <a:off x="6675120" y="3145536"/>
            <a:ext cx="502920" cy="502920"/>
          </a:xfrm>
          <a:prstGeom prst="ellipse">
            <a:avLst/>
          </a:prstGeom>
          <a:solidFill>
            <a:srgbClr val="1E2A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ai-eng-week1/icons/docker.png" id="41" name="Google Shape;41;p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788277" y="3258693"/>
            <a:ext cx="276606" cy="276606"/>
          </a:xfrm>
          <a:prstGeom prst="rect">
            <a:avLst/>
          </a:prstGeom>
          <a:noFill/>
          <a:ln>
            <a:noFill/>
          </a:ln>
        </p:spPr>
      </p:pic>
      <p:sp>
        <p:nvSpPr>
          <p:cNvPr id="42" name="Google Shape;42;p2"/>
          <p:cNvSpPr/>
          <p:nvPr/>
        </p:nvSpPr>
        <p:spPr>
          <a:xfrm>
            <a:off x="7360920" y="3127248"/>
            <a:ext cx="40233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A38"/>
              </a:buClr>
              <a:buSzPts val="1450"/>
              <a:buFont typeface="Calibri"/>
              <a:buNone/>
            </a:pPr>
            <a:r>
              <a:rPr b="1" i="0" lang="en-US" sz="1450" u="none" cap="none" strike="noStrike">
                <a:solidFill>
                  <a:srgbClr val="1E2A38"/>
                </a:solidFill>
                <a:latin typeface="Calibri"/>
                <a:ea typeface="Calibri"/>
                <a:cs typeface="Calibri"/>
                <a:sym typeface="Calibri"/>
              </a:rPr>
              <a:t>Docker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2"/>
          <p:cNvSpPr/>
          <p:nvPr/>
        </p:nvSpPr>
        <p:spPr>
          <a:xfrm>
            <a:off x="6675120" y="3803904"/>
            <a:ext cx="502920" cy="502920"/>
          </a:xfrm>
          <a:prstGeom prst="ellipse">
            <a:avLst/>
          </a:prstGeom>
          <a:solidFill>
            <a:srgbClr val="1E2A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ai-eng-week1/icons/robot.png" id="44" name="Google Shape;44;p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788277" y="3917061"/>
            <a:ext cx="276606" cy="276606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2"/>
          <p:cNvSpPr/>
          <p:nvPr/>
        </p:nvSpPr>
        <p:spPr>
          <a:xfrm>
            <a:off x="7360920" y="3785616"/>
            <a:ext cx="40233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A38"/>
              </a:buClr>
              <a:buSzPts val="1450"/>
              <a:buFont typeface="Calibri"/>
              <a:buNone/>
            </a:pPr>
            <a:r>
              <a:rPr b="1" i="0" lang="en-US" sz="1450" u="none" cap="none" strike="noStrike">
                <a:solidFill>
                  <a:srgbClr val="1E2A38"/>
                </a:solidFill>
                <a:latin typeface="Calibri"/>
                <a:ea typeface="Calibri"/>
                <a:cs typeface="Calibri"/>
                <a:sym typeface="Calibri"/>
              </a:rPr>
              <a:t>Real AI Pipeline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2"/>
          <p:cNvSpPr/>
          <p:nvPr/>
        </p:nvSpPr>
        <p:spPr>
          <a:xfrm>
            <a:off x="640080" y="4709160"/>
            <a:ext cx="10908792" cy="1051560"/>
          </a:xfrm>
          <a:prstGeom prst="roundRect">
            <a:avLst>
              <a:gd fmla="val 6957" name="adj"/>
            </a:avLst>
          </a:prstGeom>
          <a:solidFill>
            <a:srgbClr val="F5F7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2"/>
          <p:cNvSpPr/>
          <p:nvPr/>
        </p:nvSpPr>
        <p:spPr>
          <a:xfrm>
            <a:off x="914400" y="4709160"/>
            <a:ext cx="103327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86AB"/>
              </a:buClr>
              <a:buSzPts val="2200"/>
              <a:buFont typeface="Cambria"/>
              <a:buNone/>
            </a:pPr>
            <a:r>
              <a:rPr b="1" i="0" lang="en-US" sz="2200" u="none" cap="none" strike="noStrike">
                <a:solidFill>
                  <a:srgbClr val="2E86AB"/>
                </a:solidFill>
                <a:latin typeface="Cambria"/>
                <a:ea typeface="Cambria"/>
                <a:cs typeface="Cambria"/>
                <a:sym typeface="Cambria"/>
              </a:rPr>
              <a:t>7 Weeks</a:t>
            </a:r>
            <a:r>
              <a:rPr b="0" i="0" lang="en-US" sz="2200" u="none" cap="none" strike="noStrike">
                <a:solidFill>
                  <a:srgbClr val="6B7280"/>
                </a:solidFill>
                <a:latin typeface="Cambria"/>
                <a:ea typeface="Cambria"/>
                <a:cs typeface="Cambria"/>
                <a:sym typeface="Cambria"/>
              </a:rPr>
              <a:t>  →  </a:t>
            </a:r>
            <a:r>
              <a:rPr b="1" i="0" lang="en-US" sz="2200" u="none" cap="none" strike="noStrike">
                <a:solidFill>
                  <a:srgbClr val="1E2A38"/>
                </a:solidFill>
                <a:latin typeface="Cambria"/>
                <a:ea typeface="Cambria"/>
                <a:cs typeface="Cambria"/>
                <a:sym typeface="Cambria"/>
              </a:rPr>
              <a:t>1 Deployed AI App in Your Own GitHub Repo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2"/>
          <p:cNvSpPr/>
          <p:nvPr/>
        </p:nvSpPr>
        <p:spPr>
          <a:xfrm>
            <a:off x="914400" y="5285232"/>
            <a:ext cx="10332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Saturdays · 10:00–12:00 · Octopus Bar, Berlin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2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AI Engineering · Week 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2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3"/>
          <p:cNvSpPr/>
          <p:nvPr/>
        </p:nvSpPr>
        <p:spPr>
          <a:xfrm>
            <a:off x="640080" y="457200"/>
            <a:ext cx="107899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A38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1E2A38"/>
                </a:solidFill>
                <a:latin typeface="Cambria"/>
                <a:ea typeface="Cambria"/>
                <a:cs typeface="Cambria"/>
                <a:sym typeface="Cambria"/>
              </a:rPr>
              <a:t>Week 1 Roadmap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3"/>
          <p:cNvSpPr/>
          <p:nvPr/>
        </p:nvSpPr>
        <p:spPr>
          <a:xfrm>
            <a:off x="640080" y="1600200"/>
            <a:ext cx="2103120" cy="2468880"/>
          </a:xfrm>
          <a:prstGeom prst="roundRect">
            <a:avLst>
              <a:gd fmla="val 3478" name="adj"/>
            </a:avLst>
          </a:prstGeom>
          <a:solidFill>
            <a:srgbClr val="F5F7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3"/>
          <p:cNvSpPr/>
          <p:nvPr/>
        </p:nvSpPr>
        <p:spPr>
          <a:xfrm>
            <a:off x="1280160" y="1920240"/>
            <a:ext cx="822960" cy="822960"/>
          </a:xfrm>
          <a:prstGeom prst="ellipse">
            <a:avLst/>
          </a:prstGeom>
          <a:solidFill>
            <a:srgbClr val="1E2A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ai-eng-week1/icons/brain.png" id="59" name="Google Shape;59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85900" y="2125980"/>
            <a:ext cx="411480" cy="411480"/>
          </a:xfrm>
          <a:prstGeom prst="rect">
            <a:avLst/>
          </a:prstGeom>
          <a:noFill/>
          <a:ln>
            <a:noFill/>
          </a:ln>
        </p:spPr>
      </p:pic>
      <p:sp>
        <p:nvSpPr>
          <p:cNvPr id="60" name="Google Shape;60;p3"/>
          <p:cNvSpPr/>
          <p:nvPr/>
        </p:nvSpPr>
        <p:spPr>
          <a:xfrm>
            <a:off x="777240" y="2880360"/>
            <a:ext cx="18288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A38"/>
              </a:buClr>
              <a:buSzPts val="1600"/>
              <a:buFont typeface="Cambria"/>
              <a:buNone/>
            </a:pPr>
            <a:r>
              <a:rPr b="1" i="0" lang="en-US" sz="1600" u="none" cap="none" strike="noStrike">
                <a:solidFill>
                  <a:srgbClr val="1E2A38"/>
                </a:solidFill>
                <a:latin typeface="Cambria"/>
                <a:ea typeface="Cambria"/>
                <a:cs typeface="Cambria"/>
                <a:sym typeface="Cambria"/>
              </a:rPr>
              <a:t>Psychology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3"/>
          <p:cNvSpPr/>
          <p:nvPr/>
        </p:nvSpPr>
        <p:spPr>
          <a:xfrm>
            <a:off x="822960" y="3383280"/>
            <a:ext cx="17373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Mindset shift: from practitioner to orchestrator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3"/>
          <p:cNvSpPr/>
          <p:nvPr/>
        </p:nvSpPr>
        <p:spPr>
          <a:xfrm>
            <a:off x="2880360" y="1600200"/>
            <a:ext cx="2103120" cy="2468880"/>
          </a:xfrm>
          <a:prstGeom prst="roundRect">
            <a:avLst>
              <a:gd fmla="val 3478" name="adj"/>
            </a:avLst>
          </a:prstGeom>
          <a:solidFill>
            <a:srgbClr val="F5F7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3"/>
          <p:cNvSpPr/>
          <p:nvPr/>
        </p:nvSpPr>
        <p:spPr>
          <a:xfrm>
            <a:off x="3520440" y="1920240"/>
            <a:ext cx="822960" cy="822960"/>
          </a:xfrm>
          <a:prstGeom prst="ellipse">
            <a:avLst/>
          </a:prstGeom>
          <a:solidFill>
            <a:srgbClr val="1E2A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ai-eng-week1/icons/route.png" id="64" name="Google Shape;64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726180" y="2125980"/>
            <a:ext cx="411480" cy="411480"/>
          </a:xfrm>
          <a:prstGeom prst="rect">
            <a:avLst/>
          </a:prstGeom>
          <a:noFill/>
          <a:ln>
            <a:noFill/>
          </a:ln>
        </p:spPr>
      </p:pic>
      <p:sp>
        <p:nvSpPr>
          <p:cNvPr id="65" name="Google Shape;65;p3"/>
          <p:cNvSpPr/>
          <p:nvPr/>
        </p:nvSpPr>
        <p:spPr>
          <a:xfrm>
            <a:off x="3017520" y="2880360"/>
            <a:ext cx="18288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A38"/>
              </a:buClr>
              <a:buSzPts val="1600"/>
              <a:buFont typeface="Cambria"/>
              <a:buNone/>
            </a:pPr>
            <a:r>
              <a:rPr b="1" i="0" lang="en-US" sz="1600" u="none" cap="none" strike="noStrike">
                <a:solidFill>
                  <a:srgbClr val="1E2A38"/>
                </a:solidFill>
                <a:latin typeface="Cambria"/>
                <a:ea typeface="Cambria"/>
                <a:cs typeface="Cambria"/>
                <a:sym typeface="Cambria"/>
              </a:rPr>
              <a:t>Setup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3"/>
          <p:cNvSpPr/>
          <p:nvPr/>
        </p:nvSpPr>
        <p:spPr>
          <a:xfrm>
            <a:off x="3063240" y="3383280"/>
            <a:ext cx="17373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Environment: Python, Git, Docker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3"/>
          <p:cNvSpPr/>
          <p:nvPr/>
        </p:nvSpPr>
        <p:spPr>
          <a:xfrm>
            <a:off x="5120640" y="1600200"/>
            <a:ext cx="2103120" cy="2468880"/>
          </a:xfrm>
          <a:prstGeom prst="roundRect">
            <a:avLst>
              <a:gd fmla="val 3478" name="adj"/>
            </a:avLst>
          </a:prstGeom>
          <a:solidFill>
            <a:srgbClr val="F5F7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3"/>
          <p:cNvSpPr/>
          <p:nvPr/>
        </p:nvSpPr>
        <p:spPr>
          <a:xfrm>
            <a:off x="5760720" y="1920240"/>
            <a:ext cx="822960" cy="822960"/>
          </a:xfrm>
          <a:prstGeom prst="ellipse">
            <a:avLst/>
          </a:prstGeom>
          <a:solidFill>
            <a:srgbClr val="1E2A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ai-eng-week1/icons/sitemap.png" id="69" name="Google Shape;69;p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966460" y="2125980"/>
            <a:ext cx="411480" cy="411480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3"/>
          <p:cNvSpPr/>
          <p:nvPr/>
        </p:nvSpPr>
        <p:spPr>
          <a:xfrm>
            <a:off x="5257800" y="2880360"/>
            <a:ext cx="18288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A38"/>
              </a:buClr>
              <a:buSzPts val="1600"/>
              <a:buFont typeface="Cambria"/>
              <a:buNone/>
            </a:pPr>
            <a:r>
              <a:rPr b="1" i="0" lang="en-US" sz="1600" u="none" cap="none" strike="noStrike">
                <a:solidFill>
                  <a:srgbClr val="1E2A38"/>
                </a:solidFill>
                <a:latin typeface="Cambria"/>
                <a:ea typeface="Cambria"/>
                <a:cs typeface="Cambria"/>
                <a:sym typeface="Cambria"/>
              </a:rPr>
              <a:t>Basic Code Structure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3"/>
          <p:cNvSpPr/>
          <p:nvPr/>
        </p:nvSpPr>
        <p:spPr>
          <a:xfrm>
            <a:off x="5303520" y="3383280"/>
            <a:ext cx="17373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Folders, placeholders, CLAUDE.md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3"/>
          <p:cNvSpPr/>
          <p:nvPr/>
        </p:nvSpPr>
        <p:spPr>
          <a:xfrm>
            <a:off x="7223745" y="1600197"/>
            <a:ext cx="2103000" cy="2469000"/>
          </a:xfrm>
          <a:prstGeom prst="roundRect">
            <a:avLst>
              <a:gd fmla="val 3478" name="adj"/>
            </a:avLst>
          </a:prstGeom>
          <a:solidFill>
            <a:srgbClr val="F5F7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3"/>
          <p:cNvSpPr/>
          <p:nvPr/>
        </p:nvSpPr>
        <p:spPr>
          <a:xfrm>
            <a:off x="7863825" y="1920238"/>
            <a:ext cx="822900" cy="822900"/>
          </a:xfrm>
          <a:prstGeom prst="ellipse">
            <a:avLst/>
          </a:prstGeom>
          <a:solidFill>
            <a:srgbClr val="1E2A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ai-eng-week1/icons/terminal.png" id="74" name="Google Shape;74;p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069565" y="2125978"/>
            <a:ext cx="411480" cy="411480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3"/>
          <p:cNvSpPr/>
          <p:nvPr/>
        </p:nvSpPr>
        <p:spPr>
          <a:xfrm>
            <a:off x="7360905" y="2880358"/>
            <a:ext cx="18288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A38"/>
              </a:buClr>
              <a:buSzPts val="1600"/>
              <a:buFont typeface="Cambria"/>
              <a:buNone/>
            </a:pPr>
            <a:r>
              <a:rPr b="1" i="0" lang="en-US" sz="1600" u="none" cap="none" strike="noStrike">
                <a:solidFill>
                  <a:srgbClr val="1E2A38"/>
                </a:solidFill>
                <a:latin typeface="Cambria"/>
                <a:ea typeface="Cambria"/>
                <a:cs typeface="Cambria"/>
                <a:sym typeface="Cambria"/>
              </a:rPr>
              <a:t>AI Tooling (CLI)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3"/>
          <p:cNvSpPr/>
          <p:nvPr/>
        </p:nvSpPr>
        <p:spPr>
          <a:xfrm>
            <a:off x="1943100" y="6035040"/>
            <a:ext cx="17373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Claude CLI workflow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3"/>
          <p:cNvSpPr/>
          <p:nvPr/>
        </p:nvSpPr>
        <p:spPr>
          <a:xfrm>
            <a:off x="9464025" y="1600197"/>
            <a:ext cx="2103000" cy="2469000"/>
          </a:xfrm>
          <a:prstGeom prst="roundRect">
            <a:avLst>
              <a:gd fmla="val 3478" name="adj"/>
            </a:avLst>
          </a:prstGeom>
          <a:solidFill>
            <a:srgbClr val="F5F7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3"/>
          <p:cNvSpPr/>
          <p:nvPr/>
        </p:nvSpPr>
        <p:spPr>
          <a:xfrm>
            <a:off x="10104105" y="1920238"/>
            <a:ext cx="822900" cy="822900"/>
          </a:xfrm>
          <a:prstGeom prst="ellipse">
            <a:avLst/>
          </a:prstGeom>
          <a:solidFill>
            <a:srgbClr val="1E2A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ai-eng-week1/icons/key.png" id="79" name="Google Shape;79;p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0309845" y="2125978"/>
            <a:ext cx="411480" cy="41148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3"/>
          <p:cNvSpPr/>
          <p:nvPr/>
        </p:nvSpPr>
        <p:spPr>
          <a:xfrm>
            <a:off x="9601185" y="2880358"/>
            <a:ext cx="18288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A38"/>
              </a:buClr>
              <a:buSzPts val="1600"/>
              <a:buFont typeface="Cambria"/>
              <a:buNone/>
            </a:pPr>
            <a:r>
              <a:rPr b="1" i="0" lang="en-US" sz="1600" u="none" cap="none" strike="noStrike">
                <a:solidFill>
                  <a:srgbClr val="1E2A38"/>
                </a:solidFill>
                <a:latin typeface="Cambria"/>
                <a:ea typeface="Cambria"/>
                <a:cs typeface="Cambria"/>
                <a:sym typeface="Cambria"/>
              </a:rPr>
              <a:t>OpenAI Key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3"/>
          <p:cNvSpPr/>
          <p:nvPr/>
        </p:nvSpPr>
        <p:spPr>
          <a:xfrm>
            <a:off x="4183380" y="6035040"/>
            <a:ext cx="17373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API access &amp; .env config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3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AI Engineering · Week 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3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A38"/>
        </a:solidFill>
      </p:bgPr>
    </p:bg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4"/>
          <p:cNvSpPr/>
          <p:nvPr/>
        </p:nvSpPr>
        <p:spPr>
          <a:xfrm>
            <a:off x="8897112" y="3566160"/>
            <a:ext cx="2743200" cy="2743200"/>
          </a:xfrm>
          <a:prstGeom prst="ellipse">
            <a:avLst/>
          </a:prstGeom>
          <a:solidFill>
            <a:srgbClr val="2632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ai-eng-week1/icons/brain.png" id="90" name="Google Shape;90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610344" y="4279392"/>
            <a:ext cx="1316736" cy="1316736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4"/>
          <p:cNvSpPr/>
          <p:nvPr/>
        </p:nvSpPr>
        <p:spPr>
          <a:xfrm>
            <a:off x="822960" y="233172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A93B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2A93B"/>
                </a:solidFill>
                <a:latin typeface="Calibri"/>
                <a:ea typeface="Calibri"/>
                <a:cs typeface="Calibri"/>
                <a:sym typeface="Calibri"/>
              </a:rPr>
              <a:t>PART 1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4"/>
          <p:cNvSpPr/>
          <p:nvPr/>
        </p:nvSpPr>
        <p:spPr>
          <a:xfrm>
            <a:off x="822960" y="2788920"/>
            <a:ext cx="960120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mbria"/>
              <a:buNone/>
            </a:pPr>
            <a:r>
              <a:rPr b="1" i="0" lang="en-US" sz="44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Psychology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4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AI Engineering · Week 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4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5"/>
          <p:cNvSpPr/>
          <p:nvPr/>
        </p:nvSpPr>
        <p:spPr>
          <a:xfrm>
            <a:off x="640080" y="457200"/>
            <a:ext cx="107899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A38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1E2A38"/>
                </a:solidFill>
                <a:latin typeface="Cambria"/>
                <a:ea typeface="Cambria"/>
                <a:cs typeface="Cambria"/>
                <a:sym typeface="Cambria"/>
              </a:rPr>
              <a:t>Why Psychology Comes First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5"/>
          <p:cNvSpPr/>
          <p:nvPr/>
        </p:nvSpPr>
        <p:spPr>
          <a:xfrm>
            <a:off x="640080" y="1463040"/>
            <a:ext cx="1088136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E2A38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1E2A38"/>
                </a:solidFill>
                <a:latin typeface="Calibri"/>
                <a:ea typeface="Calibri"/>
                <a:cs typeface="Calibri"/>
                <a:sym typeface="Calibri"/>
              </a:rPr>
              <a:t>Before we touch a single tool, we need to address the mental model. This course isn't about memorizing new syntax — it's about reshaping how you approach building software in the AI era.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5"/>
          <p:cNvSpPr/>
          <p:nvPr/>
        </p:nvSpPr>
        <p:spPr>
          <a:xfrm>
            <a:off x="2482596" y="2880360"/>
            <a:ext cx="7223760" cy="2743200"/>
          </a:xfrm>
          <a:prstGeom prst="roundRect">
            <a:avLst>
              <a:gd fmla="val 3333" name="adj"/>
            </a:avLst>
          </a:prstGeom>
          <a:solidFill>
            <a:srgbClr val="F5F7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5"/>
          <p:cNvSpPr/>
          <p:nvPr/>
        </p:nvSpPr>
        <p:spPr>
          <a:xfrm>
            <a:off x="5591556" y="3291840"/>
            <a:ext cx="1005840" cy="1005840"/>
          </a:xfrm>
          <a:prstGeom prst="ellipse">
            <a:avLst/>
          </a:prstGeom>
          <a:solidFill>
            <a:srgbClr val="1E2A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ai-eng-week1/icons/bicycle.png" id="104" name="Google Shape;104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43016" y="3543300"/>
            <a:ext cx="502920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5"/>
          <p:cNvSpPr/>
          <p:nvPr/>
        </p:nvSpPr>
        <p:spPr>
          <a:xfrm>
            <a:off x="2848356" y="4480560"/>
            <a:ext cx="64922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A38"/>
              </a:buClr>
              <a:buSzPts val="2300"/>
              <a:buFont typeface="Cambria"/>
              <a:buNone/>
            </a:pPr>
            <a:r>
              <a:rPr b="1" i="0" lang="en-US" sz="2300" u="none" cap="none" strike="noStrike">
                <a:solidFill>
                  <a:srgbClr val="1E2A38"/>
                </a:solidFill>
                <a:latin typeface="Cambria"/>
                <a:ea typeface="Cambria"/>
                <a:cs typeface="Cambria"/>
                <a:sym typeface="Cambria"/>
              </a:rPr>
              <a:t>Breaking Through the Fear</a:t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5"/>
          <p:cNvSpPr/>
          <p:nvPr/>
        </p:nvSpPr>
        <p:spPr>
          <a:xfrm>
            <a:off x="3031236" y="5074920"/>
            <a:ext cx="61264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From practicing one skill to becoming an orchestrator of many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5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AI Engineering · Week 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5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6"/>
          <p:cNvSpPr/>
          <p:nvPr/>
        </p:nvSpPr>
        <p:spPr>
          <a:xfrm>
            <a:off x="640080" y="384048"/>
            <a:ext cx="9144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86AB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2E86AB"/>
                </a:solidFill>
                <a:latin typeface="Calibri"/>
                <a:ea typeface="Calibri"/>
                <a:cs typeface="Calibri"/>
                <a:sym typeface="Calibri"/>
              </a:rPr>
              <a:t>PSYCHOLOGY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6"/>
          <p:cNvSpPr/>
          <p:nvPr/>
        </p:nvSpPr>
        <p:spPr>
          <a:xfrm>
            <a:off x="640080" y="685800"/>
            <a:ext cx="107899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A38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1E2A38"/>
                </a:solidFill>
                <a:latin typeface="Cambria"/>
                <a:ea typeface="Cambria"/>
                <a:cs typeface="Cambria"/>
                <a:sym typeface="Cambria"/>
              </a:rPr>
              <a:t>Breaking Through the Fear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6"/>
          <p:cNvSpPr/>
          <p:nvPr/>
        </p:nvSpPr>
        <p:spPr>
          <a:xfrm>
            <a:off x="822960" y="1691640"/>
            <a:ext cx="1371600" cy="1371600"/>
          </a:xfrm>
          <a:prstGeom prst="ellipse">
            <a:avLst/>
          </a:prstGeom>
          <a:solidFill>
            <a:srgbClr val="1E2A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ai-eng-week1/icons/bicycle.png" id="117" name="Google Shape;117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65860" y="2034540"/>
            <a:ext cx="685800" cy="685800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6"/>
          <p:cNvSpPr/>
          <p:nvPr/>
        </p:nvSpPr>
        <p:spPr>
          <a:xfrm>
            <a:off x="640080" y="3246120"/>
            <a:ext cx="301752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E86AB"/>
              </a:buClr>
              <a:buSzPts val="1700"/>
              <a:buFont typeface="Cambria"/>
              <a:buNone/>
            </a:pPr>
            <a:r>
              <a:rPr b="0" i="1" lang="en-US" sz="1700" u="none" cap="none" strike="noStrike">
                <a:solidFill>
                  <a:srgbClr val="2E86AB"/>
                </a:solidFill>
                <a:latin typeface="Cambria"/>
                <a:ea typeface="Cambria"/>
                <a:cs typeface="Cambria"/>
                <a:sym typeface="Cambria"/>
              </a:rPr>
              <a:t>“I haven't done this before.”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6"/>
          <p:cNvSpPr/>
          <p:nvPr/>
        </p:nvSpPr>
        <p:spPr>
          <a:xfrm>
            <a:off x="640080" y="4160520"/>
            <a:ext cx="301752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Like learning to ride a bicycle or stand on a skateboard for the first time — the wobble is part of the process, not a sign you're doing it wrong.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6"/>
          <p:cNvSpPr/>
          <p:nvPr/>
        </p:nvSpPr>
        <p:spPr>
          <a:xfrm>
            <a:off x="4297680" y="1691640"/>
            <a:ext cx="722376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E2A38"/>
              </a:buClr>
              <a:buSzPts val="1700"/>
              <a:buFont typeface="Calibri"/>
              <a:buNone/>
            </a:pPr>
            <a:r>
              <a:rPr b="1" i="0" lang="en-US" sz="1700" u="none" cap="none" strike="noStrike">
                <a:solidFill>
                  <a:srgbClr val="1E2A38"/>
                </a:solidFill>
                <a:latin typeface="Calibri"/>
                <a:ea typeface="Calibri"/>
                <a:cs typeface="Calibri"/>
                <a:sym typeface="Calibri"/>
              </a:rPr>
              <a:t>This is a new era, and it requires a complete transition: from practicing a specific skill to becoming an orchestrator.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6"/>
          <p:cNvSpPr/>
          <p:nvPr/>
        </p:nvSpPr>
        <p:spPr>
          <a:xfrm>
            <a:off x="4297680" y="2560320"/>
            <a:ext cx="722376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E2A38"/>
              </a:buClr>
              <a:buSzPts val="1450"/>
              <a:buFont typeface="Calibri"/>
              <a:buNone/>
            </a:pPr>
            <a:r>
              <a:rPr b="0" i="0" lang="en-US" sz="1450" u="none" cap="none" strike="noStrike">
                <a:solidFill>
                  <a:srgbClr val="1E2A38"/>
                </a:solidFill>
                <a:latin typeface="Calibri"/>
                <a:ea typeface="Calibri"/>
                <a:cs typeface="Calibri"/>
                <a:sym typeface="Calibri"/>
              </a:rPr>
              <a:t>That means understanding, at a high level, how tools work together and how data travels between them — rather than the fine detail of how any single tool works internally.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6"/>
          <p:cNvSpPr/>
          <p:nvPr/>
        </p:nvSpPr>
        <p:spPr>
          <a:xfrm>
            <a:off x="4297680" y="3977640"/>
            <a:ext cx="3200400" cy="1371600"/>
          </a:xfrm>
          <a:prstGeom prst="roundRect">
            <a:avLst>
              <a:gd fmla="val 5333" name="adj"/>
            </a:avLst>
          </a:prstGeom>
          <a:solidFill>
            <a:srgbClr val="F5F7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6"/>
          <p:cNvSpPr/>
          <p:nvPr/>
        </p:nvSpPr>
        <p:spPr>
          <a:xfrm>
            <a:off x="4526280" y="4160520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PRACTITIONER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6"/>
          <p:cNvSpPr/>
          <p:nvPr/>
        </p:nvSpPr>
        <p:spPr>
          <a:xfrm>
            <a:off x="4526280" y="4526280"/>
            <a:ext cx="27432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E2A38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1E2A38"/>
                </a:solidFill>
                <a:latin typeface="Calibri"/>
                <a:ea typeface="Calibri"/>
                <a:cs typeface="Calibri"/>
                <a:sym typeface="Calibri"/>
              </a:rPr>
              <a:t>Knows one tool deeply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6"/>
          <p:cNvSpPr/>
          <p:nvPr/>
        </p:nvSpPr>
        <p:spPr>
          <a:xfrm>
            <a:off x="7680960" y="4480560"/>
            <a:ext cx="457200" cy="457200"/>
          </a:xfrm>
          <a:prstGeom prst="ellipse">
            <a:avLst/>
          </a:prstGeom>
          <a:solidFill>
            <a:srgbClr val="F2A9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ai-eng-week1/icons/arrowright.png" id="126" name="Google Shape;126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783830" y="4583430"/>
            <a:ext cx="251460" cy="251460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6"/>
          <p:cNvSpPr/>
          <p:nvPr/>
        </p:nvSpPr>
        <p:spPr>
          <a:xfrm>
            <a:off x="8321040" y="3977640"/>
            <a:ext cx="3749040" cy="1371600"/>
          </a:xfrm>
          <a:prstGeom prst="roundRect">
            <a:avLst>
              <a:gd fmla="val 5333" name="adj"/>
            </a:avLst>
          </a:prstGeom>
          <a:solidFill>
            <a:srgbClr val="1E2A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6"/>
          <p:cNvSpPr/>
          <p:nvPr/>
        </p:nvSpPr>
        <p:spPr>
          <a:xfrm>
            <a:off x="8549640" y="4160520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A93B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2A93B"/>
                </a:solidFill>
                <a:latin typeface="Calibri"/>
                <a:ea typeface="Calibri"/>
                <a:cs typeface="Calibri"/>
                <a:sym typeface="Calibri"/>
              </a:rPr>
              <a:t>ORCHESTRATOR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6"/>
          <p:cNvSpPr/>
          <p:nvPr/>
        </p:nvSpPr>
        <p:spPr>
          <a:xfrm>
            <a:off x="8549640" y="4526280"/>
            <a:ext cx="32918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Understands how the whole system fits together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6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AI Engineering · Week 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6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7"/>
          <p:cNvSpPr/>
          <p:nvPr/>
        </p:nvSpPr>
        <p:spPr>
          <a:xfrm>
            <a:off x="640080" y="384048"/>
            <a:ext cx="9144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86AB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2E86AB"/>
                </a:solidFill>
                <a:latin typeface="Calibri"/>
                <a:ea typeface="Calibri"/>
                <a:cs typeface="Calibri"/>
                <a:sym typeface="Calibri"/>
              </a:rPr>
              <a:t>THE APPROACH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7"/>
          <p:cNvSpPr/>
          <p:nvPr/>
        </p:nvSpPr>
        <p:spPr>
          <a:xfrm>
            <a:off x="640080" y="685800"/>
            <a:ext cx="107899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A38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1E2A38"/>
                </a:solidFill>
                <a:latin typeface="Cambria"/>
                <a:ea typeface="Cambria"/>
                <a:cs typeface="Cambria"/>
                <a:sym typeface="Cambria"/>
              </a:rPr>
              <a:t>Training You Two Ways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7"/>
          <p:cNvSpPr/>
          <p:nvPr/>
        </p:nvSpPr>
        <p:spPr>
          <a:xfrm>
            <a:off x="640080" y="1463040"/>
            <a:ext cx="108813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E2A38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1E2A38"/>
                </a:solidFill>
                <a:latin typeface="Calibri"/>
                <a:ea typeface="Calibri"/>
                <a:cs typeface="Calibri"/>
                <a:sym typeface="Calibri"/>
              </a:rPr>
              <a:t>Becoming an AI engineer takes both reps and a real deliverable. This course trains you on two parallel tracks: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7"/>
          <p:cNvSpPr/>
          <p:nvPr/>
        </p:nvSpPr>
        <p:spPr>
          <a:xfrm>
            <a:off x="640080" y="2331720"/>
            <a:ext cx="5257800" cy="3291840"/>
          </a:xfrm>
          <a:prstGeom prst="roundRect">
            <a:avLst>
              <a:gd fmla="val 2778" name="adj"/>
            </a:avLst>
          </a:prstGeom>
          <a:solidFill>
            <a:srgbClr val="F5F7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7"/>
          <p:cNvSpPr/>
          <p:nvPr/>
        </p:nvSpPr>
        <p:spPr>
          <a:xfrm>
            <a:off x="1005840" y="2697480"/>
            <a:ext cx="822960" cy="822960"/>
          </a:xfrm>
          <a:prstGeom prst="ellipse">
            <a:avLst/>
          </a:prstGeom>
          <a:solidFill>
            <a:srgbClr val="1E2A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ai-eng-week1/icons/lightbulb.png" id="142" name="Google Shape;142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11580" y="2903220"/>
            <a:ext cx="411480" cy="411480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7"/>
          <p:cNvSpPr/>
          <p:nvPr/>
        </p:nvSpPr>
        <p:spPr>
          <a:xfrm>
            <a:off x="1005840" y="3657600"/>
            <a:ext cx="4526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86AB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2E86AB"/>
                </a:solidFill>
                <a:latin typeface="Calibri"/>
                <a:ea typeface="Calibri"/>
                <a:cs typeface="Calibri"/>
                <a:sym typeface="Calibri"/>
              </a:rPr>
              <a:t>PRACTICING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7"/>
          <p:cNvSpPr/>
          <p:nvPr/>
        </p:nvSpPr>
        <p:spPr>
          <a:xfrm>
            <a:off x="1005840" y="3959352"/>
            <a:ext cx="45262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A38"/>
              </a:buClr>
              <a:buSzPts val="2200"/>
              <a:buFont typeface="Cambria"/>
              <a:buNone/>
            </a:pPr>
            <a:r>
              <a:rPr b="1" i="0" lang="en-US" sz="2200" u="none" cap="none" strike="noStrike">
                <a:solidFill>
                  <a:srgbClr val="1E2A38"/>
                </a:solidFill>
                <a:latin typeface="Cambria"/>
                <a:ea typeface="Cambria"/>
                <a:cs typeface="Cambria"/>
                <a:sym typeface="Cambria"/>
              </a:rPr>
              <a:t>Work WITH AI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7"/>
          <p:cNvSpPr/>
          <p:nvPr/>
        </p:nvSpPr>
        <p:spPr>
          <a:xfrm>
            <a:off x="1005840" y="4617720"/>
            <a:ext cx="452628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Using AI in your daily workflow — including tools like Claude Code — until it becomes second nature.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7"/>
          <p:cNvSpPr/>
          <p:nvPr/>
        </p:nvSpPr>
        <p:spPr>
          <a:xfrm>
            <a:off x="6263640" y="2331720"/>
            <a:ext cx="5257800" cy="3291840"/>
          </a:xfrm>
          <a:prstGeom prst="roundRect">
            <a:avLst>
              <a:gd fmla="val 2778" name="adj"/>
            </a:avLst>
          </a:prstGeom>
          <a:solidFill>
            <a:srgbClr val="F5F7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7"/>
          <p:cNvSpPr/>
          <p:nvPr/>
        </p:nvSpPr>
        <p:spPr>
          <a:xfrm>
            <a:off x="6629400" y="2697480"/>
            <a:ext cx="822960" cy="822960"/>
          </a:xfrm>
          <a:prstGeom prst="ellipse">
            <a:avLst/>
          </a:prstGeom>
          <a:solidFill>
            <a:srgbClr val="1E2A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ai-eng-week1/icons/server.png" id="148" name="Google Shape;148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835140" y="2903220"/>
            <a:ext cx="411480" cy="411480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7"/>
          <p:cNvSpPr/>
          <p:nvPr/>
        </p:nvSpPr>
        <p:spPr>
          <a:xfrm>
            <a:off x="6629400" y="3657600"/>
            <a:ext cx="4526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86AB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2E86AB"/>
                </a:solidFill>
                <a:latin typeface="Calibri"/>
                <a:ea typeface="Calibri"/>
                <a:cs typeface="Calibri"/>
                <a:sym typeface="Calibri"/>
              </a:rPr>
              <a:t>BUILDING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7"/>
          <p:cNvSpPr/>
          <p:nvPr/>
        </p:nvSpPr>
        <p:spPr>
          <a:xfrm>
            <a:off x="6629400" y="3959352"/>
            <a:ext cx="45262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A38"/>
              </a:buClr>
              <a:buSzPts val="2200"/>
              <a:buFont typeface="Cambria"/>
              <a:buNone/>
            </a:pPr>
            <a:r>
              <a:rPr b="1" i="0" lang="en-US" sz="2200" u="none" cap="none" strike="noStrike">
                <a:solidFill>
                  <a:srgbClr val="1E2A38"/>
                </a:solidFill>
                <a:latin typeface="Cambria"/>
                <a:ea typeface="Cambria"/>
                <a:cs typeface="Cambria"/>
                <a:sym typeface="Cambria"/>
              </a:rPr>
              <a:t>An AI-Powered Service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7"/>
          <p:cNvSpPr/>
          <p:nvPr/>
        </p:nvSpPr>
        <p:spPr>
          <a:xfrm>
            <a:off x="6629400" y="4617720"/>
            <a:ext cx="452628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Together, we build a real service where AI isn't bolted on — it's a core part of the workflow.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7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AI Engineering · Week 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7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8"/>
          <p:cNvSpPr/>
          <p:nvPr/>
        </p:nvSpPr>
        <p:spPr>
          <a:xfrm>
            <a:off x="640080" y="384048"/>
            <a:ext cx="9144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86AB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2E86AB"/>
                </a:solidFill>
                <a:latin typeface="Calibri"/>
                <a:ea typeface="Calibri"/>
                <a:cs typeface="Calibri"/>
                <a:sym typeface="Calibri"/>
              </a:rPr>
              <a:t>THE APPROACH · PRACTICING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8"/>
          <p:cNvSpPr/>
          <p:nvPr/>
        </p:nvSpPr>
        <p:spPr>
          <a:xfrm>
            <a:off x="640080" y="685800"/>
            <a:ext cx="107899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A38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1E2A38"/>
                </a:solidFill>
                <a:latin typeface="Cambria"/>
                <a:ea typeface="Cambria"/>
                <a:cs typeface="Cambria"/>
                <a:sym typeface="Cambria"/>
              </a:rPr>
              <a:t>Work WITH AI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8"/>
          <p:cNvSpPr/>
          <p:nvPr/>
        </p:nvSpPr>
        <p:spPr>
          <a:xfrm>
            <a:off x="822960" y="1691640"/>
            <a:ext cx="1371600" cy="1371600"/>
          </a:xfrm>
          <a:prstGeom prst="ellipse">
            <a:avLst/>
          </a:prstGeom>
          <a:solidFill>
            <a:srgbClr val="1E2A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ai-eng-week1/icons/lightbulb.png" id="162" name="Google Shape;162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65860" y="2034540"/>
            <a:ext cx="685800" cy="685800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8"/>
          <p:cNvSpPr/>
          <p:nvPr/>
        </p:nvSpPr>
        <p:spPr>
          <a:xfrm>
            <a:off x="4297680" y="1691640"/>
            <a:ext cx="722376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E2A38"/>
              </a:buClr>
              <a:buSzPts val="1700"/>
              <a:buFont typeface="Calibri"/>
              <a:buNone/>
            </a:pPr>
            <a:r>
              <a:rPr b="1" i="0" lang="en-US" sz="1700" u="none" cap="none" strike="noStrike">
                <a:solidFill>
                  <a:srgbClr val="1E2A38"/>
                </a:solidFill>
                <a:latin typeface="Calibri"/>
                <a:ea typeface="Calibri"/>
                <a:cs typeface="Calibri"/>
                <a:sym typeface="Calibri"/>
              </a:rPr>
              <a:t>This isn't just a project to use AI as your main service — it's about working WITH AI in your daily workflow until it becomes second nature. That's exactly why we highly recommend Claude Code.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8"/>
          <p:cNvSpPr/>
          <p:nvPr/>
        </p:nvSpPr>
        <p:spPr>
          <a:xfrm>
            <a:off x="4297680" y="2834640"/>
            <a:ext cx="7223760" cy="1051560"/>
          </a:xfrm>
          <a:prstGeom prst="roundRect">
            <a:avLst>
              <a:gd fmla="val 6957" name="adj"/>
            </a:avLst>
          </a:prstGeom>
          <a:solidFill>
            <a:srgbClr val="1E2A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8"/>
          <p:cNvSpPr/>
          <p:nvPr/>
        </p:nvSpPr>
        <p:spPr>
          <a:xfrm>
            <a:off x="4572000" y="2834640"/>
            <a:ext cx="667512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2A93B"/>
              </a:buClr>
              <a:buSzPts val="1600"/>
              <a:buFont typeface="Cambria"/>
              <a:buNone/>
            </a:pPr>
            <a:r>
              <a:rPr b="0" i="1" lang="en-US" sz="1600" u="none" cap="none" strike="noStrike">
                <a:solidFill>
                  <a:srgbClr val="F2A93B"/>
                </a:solidFill>
                <a:latin typeface="Cambria"/>
                <a:ea typeface="Cambria"/>
                <a:cs typeface="Cambria"/>
                <a:sym typeface="Cambria"/>
              </a:rPr>
              <a:t>We start from nothing but an idea in our head — and ask AI to structure everything from there.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8"/>
          <p:cNvSpPr/>
          <p:nvPr/>
        </p:nvSpPr>
        <p:spPr>
          <a:xfrm>
            <a:off x="640080" y="4206240"/>
            <a:ext cx="3429000" cy="1828800"/>
          </a:xfrm>
          <a:prstGeom prst="roundRect">
            <a:avLst>
              <a:gd fmla="val 4000" name="adj"/>
            </a:avLst>
          </a:prstGeom>
          <a:solidFill>
            <a:srgbClr val="F5F7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8"/>
          <p:cNvSpPr/>
          <p:nvPr/>
        </p:nvSpPr>
        <p:spPr>
          <a:xfrm>
            <a:off x="868680" y="4389120"/>
            <a:ext cx="2971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NOT THIS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8"/>
          <p:cNvSpPr/>
          <p:nvPr/>
        </p:nvSpPr>
        <p:spPr>
          <a:xfrm>
            <a:off x="868680" y="4754880"/>
            <a:ext cx="297180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E2A38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1E2A38"/>
                </a:solidFill>
                <a:latin typeface="Calibri"/>
                <a:ea typeface="Calibri"/>
                <a:cs typeface="Calibri"/>
                <a:sym typeface="Calibri"/>
              </a:rPr>
              <a:t>AI as a tool you occasionally call for a task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8"/>
          <p:cNvSpPr/>
          <p:nvPr/>
        </p:nvSpPr>
        <p:spPr>
          <a:xfrm>
            <a:off x="4434840" y="4206240"/>
            <a:ext cx="6492240" cy="1828800"/>
          </a:xfrm>
          <a:prstGeom prst="roundRect">
            <a:avLst>
              <a:gd fmla="val 4000" name="adj"/>
            </a:avLst>
          </a:prstGeom>
          <a:solidFill>
            <a:srgbClr val="EAF2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8"/>
          <p:cNvSpPr/>
          <p:nvPr/>
        </p:nvSpPr>
        <p:spPr>
          <a:xfrm>
            <a:off x="4663440" y="4389120"/>
            <a:ext cx="3429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86AB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2E86AB"/>
                </a:solidFill>
                <a:latin typeface="Calibri"/>
                <a:ea typeface="Calibri"/>
                <a:cs typeface="Calibri"/>
                <a:sym typeface="Calibri"/>
              </a:rPr>
              <a:t>INSTEAD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8"/>
          <p:cNvSpPr/>
          <p:nvPr/>
        </p:nvSpPr>
        <p:spPr>
          <a:xfrm>
            <a:off x="4663440" y="4754880"/>
            <a:ext cx="608076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E2A38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1E2A38"/>
                </a:solidFill>
                <a:latin typeface="Calibri"/>
                <a:ea typeface="Calibri"/>
                <a:cs typeface="Calibri"/>
                <a:sym typeface="Calibri"/>
              </a:rPr>
              <a:t>AI as your structuring partner, from first idea to working implementation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8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AI Engineering · Week 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8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9"/>
          <p:cNvSpPr/>
          <p:nvPr/>
        </p:nvSpPr>
        <p:spPr>
          <a:xfrm>
            <a:off x="640080" y="384048"/>
            <a:ext cx="9144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86AB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2E86AB"/>
                </a:solidFill>
                <a:latin typeface="Calibri"/>
                <a:ea typeface="Calibri"/>
                <a:cs typeface="Calibri"/>
                <a:sym typeface="Calibri"/>
              </a:rPr>
              <a:t>THE APPROACH · PRACTICING · BONUS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9"/>
          <p:cNvSpPr/>
          <p:nvPr/>
        </p:nvSpPr>
        <p:spPr>
          <a:xfrm>
            <a:off x="640080" y="685800"/>
            <a:ext cx="107899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A38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1E2A38"/>
                </a:solidFill>
                <a:latin typeface="Cambria"/>
                <a:ea typeface="Cambria"/>
                <a:cs typeface="Cambria"/>
                <a:sym typeface="Cambria"/>
              </a:rPr>
              <a:t>Optional but Highly Recommended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9"/>
          <p:cNvSpPr/>
          <p:nvPr/>
        </p:nvSpPr>
        <p:spPr>
          <a:xfrm>
            <a:off x="640080" y="1371600"/>
            <a:ext cx="3200400" cy="365760"/>
          </a:xfrm>
          <a:prstGeom prst="roundRect">
            <a:avLst>
              <a:gd fmla="val 50000" name="adj"/>
            </a:avLst>
          </a:prstGeom>
          <a:solidFill>
            <a:srgbClr val="FDF1DC"/>
          </a:solidFill>
          <a:ln cap="flat" cmpd="sng" w="12700">
            <a:solidFill>
              <a:srgbClr val="F2A9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9"/>
          <p:cNvSpPr/>
          <p:nvPr/>
        </p:nvSpPr>
        <p:spPr>
          <a:xfrm>
            <a:off x="640080" y="1371600"/>
            <a:ext cx="3200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5750A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B5750A"/>
                </a:solidFill>
                <a:latin typeface="Calibri"/>
                <a:ea typeface="Calibri"/>
                <a:cs typeface="Calibri"/>
                <a:sym typeface="Calibri"/>
              </a:rPr>
              <a:t>OPTIONAL · HIGHLY RECOMMENDED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9"/>
          <p:cNvSpPr/>
          <p:nvPr/>
        </p:nvSpPr>
        <p:spPr>
          <a:xfrm>
            <a:off x="640080" y="1920240"/>
            <a:ext cx="5257800" cy="2514600"/>
          </a:xfrm>
          <a:prstGeom prst="roundRect">
            <a:avLst>
              <a:gd fmla="val 3636" name="adj"/>
            </a:avLst>
          </a:prstGeom>
          <a:solidFill>
            <a:srgbClr val="F5F7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9"/>
          <p:cNvSpPr/>
          <p:nvPr/>
        </p:nvSpPr>
        <p:spPr>
          <a:xfrm>
            <a:off x="960120" y="2240280"/>
            <a:ext cx="685800" cy="685800"/>
          </a:xfrm>
          <a:prstGeom prst="ellipse">
            <a:avLst/>
          </a:prstGeom>
          <a:solidFill>
            <a:srgbClr val="1E2A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ai-eng-week1/icons/robot.png" id="185" name="Google Shape;185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31570" y="2411730"/>
            <a:ext cx="342900" cy="3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p9"/>
          <p:cNvSpPr/>
          <p:nvPr/>
        </p:nvSpPr>
        <p:spPr>
          <a:xfrm>
            <a:off x="960120" y="3017520"/>
            <a:ext cx="46177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A38"/>
              </a:buClr>
              <a:buSzPts val="1750"/>
              <a:buFont typeface="Cambria"/>
              <a:buNone/>
            </a:pPr>
            <a:r>
              <a:rPr b="1" i="0" lang="en-US" sz="1750" u="none" cap="none" strike="noStrike">
                <a:solidFill>
                  <a:srgbClr val="1E2A38"/>
                </a:solidFill>
                <a:latin typeface="Cambria"/>
                <a:ea typeface="Cambria"/>
                <a:cs typeface="Cambria"/>
                <a:sym typeface="Cambria"/>
              </a:rPr>
              <a:t>Claude Pro — $20/month</a:t>
            </a:r>
            <a:endParaRPr b="0" i="0" sz="1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9"/>
          <p:cNvSpPr/>
          <p:nvPr/>
        </p:nvSpPr>
        <p:spPr>
          <a:xfrm>
            <a:off x="960120" y="3429000"/>
            <a:ext cx="46177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The Claude desktop app for writing, research, and problem-solving — plus Claude Code, a terminal-based AI coding agent that lets you delegate entire development tasks straight from your command line.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9"/>
          <p:cNvSpPr/>
          <p:nvPr/>
        </p:nvSpPr>
        <p:spPr>
          <a:xfrm>
            <a:off x="6263640" y="1920240"/>
            <a:ext cx="5257800" cy="2514600"/>
          </a:xfrm>
          <a:prstGeom prst="roundRect">
            <a:avLst>
              <a:gd fmla="val 3636" name="adj"/>
            </a:avLst>
          </a:prstGeom>
          <a:solidFill>
            <a:srgbClr val="FDF1D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9"/>
          <p:cNvSpPr/>
          <p:nvPr/>
        </p:nvSpPr>
        <p:spPr>
          <a:xfrm>
            <a:off x="6583680" y="2240280"/>
            <a:ext cx="685800" cy="685800"/>
          </a:xfrm>
          <a:prstGeom prst="ellipse">
            <a:avLst/>
          </a:prstGeom>
          <a:solidFill>
            <a:srgbClr val="1E2A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ai-eng-week1/icons/rocket.png" id="190" name="Google Shape;190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755130" y="2411730"/>
            <a:ext cx="342900" cy="3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191" name="Google Shape;191;p9"/>
          <p:cNvSpPr/>
          <p:nvPr/>
        </p:nvSpPr>
        <p:spPr>
          <a:xfrm>
            <a:off x="6583680" y="3017520"/>
            <a:ext cx="46177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A38"/>
              </a:buClr>
              <a:buSzPts val="1750"/>
              <a:buFont typeface="Cambria"/>
              <a:buNone/>
            </a:pPr>
            <a:r>
              <a:rPr b="1" i="0" lang="en-US" sz="1750" u="none" cap="none" strike="noStrike">
                <a:solidFill>
                  <a:srgbClr val="1E2A38"/>
                </a:solidFill>
                <a:latin typeface="Cambria"/>
                <a:ea typeface="Cambria"/>
                <a:cs typeface="Cambria"/>
                <a:sym typeface="Cambria"/>
              </a:rPr>
              <a:t>Claude Max — $100 or $200/month</a:t>
            </a:r>
            <a:endParaRPr b="0" i="0" sz="1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9"/>
          <p:cNvSpPr/>
          <p:nvPr/>
        </p:nvSpPr>
        <p:spPr>
          <a:xfrm>
            <a:off x="6583680" y="3429000"/>
            <a:ext cx="46177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E2A38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1E2A38"/>
                </a:solidFill>
                <a:latin typeface="Calibri"/>
                <a:ea typeface="Calibri"/>
                <a:cs typeface="Calibri"/>
                <a:sym typeface="Calibri"/>
              </a:rPr>
              <a:t>For heavy users: 5–20x more usage than Pro, plus access to the most powerful Claude models.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9"/>
          <p:cNvSpPr/>
          <p:nvPr/>
        </p:nvSpPr>
        <p:spPr>
          <a:xfrm>
            <a:off x="640080" y="4709160"/>
            <a:ext cx="10908792" cy="1097280"/>
          </a:xfrm>
          <a:prstGeom prst="roundRect">
            <a:avLst>
              <a:gd fmla="val 6667" name="adj"/>
            </a:avLst>
          </a:prstGeom>
          <a:solidFill>
            <a:srgbClr val="1E2A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9"/>
          <p:cNvSpPr/>
          <p:nvPr/>
        </p:nvSpPr>
        <p:spPr>
          <a:xfrm>
            <a:off x="914400" y="4709160"/>
            <a:ext cx="10360152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2A93B"/>
              </a:buClr>
              <a:buSzPts val="1700"/>
              <a:buFont typeface="Cambria"/>
              <a:buNone/>
            </a:pPr>
            <a:r>
              <a:rPr b="0" i="1" lang="en-US" sz="1700" u="none" cap="none" strike="noStrike">
                <a:solidFill>
                  <a:srgbClr val="F2A93B"/>
                </a:solidFill>
                <a:latin typeface="Cambria"/>
                <a:ea typeface="Cambria"/>
                <a:cs typeface="Cambria"/>
                <a:sym typeface="Cambria"/>
              </a:rPr>
              <a:t>This single subscription lets you ship faster, handle more complex projects, and operate like a small team. The ROI is a no-brainer.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9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AI Engineering · Week 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9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10"/>
          <p:cNvSpPr/>
          <p:nvPr/>
        </p:nvSpPr>
        <p:spPr>
          <a:xfrm>
            <a:off x="640080" y="384048"/>
            <a:ext cx="9144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86AB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2E86AB"/>
                </a:solidFill>
                <a:latin typeface="Calibri"/>
                <a:ea typeface="Calibri"/>
                <a:cs typeface="Calibri"/>
                <a:sym typeface="Calibri"/>
              </a:rPr>
              <a:t>THE APPROACH · BUILDING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10"/>
          <p:cNvSpPr/>
          <p:nvPr/>
        </p:nvSpPr>
        <p:spPr>
          <a:xfrm>
            <a:off x="640080" y="685800"/>
            <a:ext cx="107899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A38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1E2A38"/>
                </a:solidFill>
                <a:latin typeface="Cambria"/>
                <a:ea typeface="Cambria"/>
                <a:cs typeface="Cambria"/>
                <a:sym typeface="Cambria"/>
              </a:rPr>
              <a:t>An AI-Powered Service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10"/>
          <p:cNvSpPr/>
          <p:nvPr/>
        </p:nvSpPr>
        <p:spPr>
          <a:xfrm>
            <a:off x="822960" y="1691640"/>
            <a:ext cx="1371600" cy="1371600"/>
          </a:xfrm>
          <a:prstGeom prst="ellipse">
            <a:avLst/>
          </a:prstGeom>
          <a:solidFill>
            <a:srgbClr val="1E2A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ai-eng-week1/icons/server.png" id="205" name="Google Shape;205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65860" y="2034540"/>
            <a:ext cx="685800" cy="685800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10"/>
          <p:cNvSpPr/>
          <p:nvPr/>
        </p:nvSpPr>
        <p:spPr>
          <a:xfrm>
            <a:off x="4297680" y="1691640"/>
            <a:ext cx="722376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E2A38"/>
              </a:buClr>
              <a:buSzPts val="1700"/>
              <a:buFont typeface="Calibri"/>
              <a:buNone/>
            </a:pPr>
            <a:r>
              <a:rPr b="1" i="0" lang="en-US" sz="1700" u="none" cap="none" strike="noStrike">
                <a:solidFill>
                  <a:srgbClr val="1E2A38"/>
                </a:solidFill>
                <a:latin typeface="Calibri"/>
                <a:ea typeface="Calibri"/>
                <a:cs typeface="Calibri"/>
                <a:sym typeface="Calibri"/>
              </a:rPr>
              <a:t>This isn't a toy exercise — together, we build a real service where AI is a core part of the workflow, not a bolt-on feature.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10"/>
          <p:cNvSpPr/>
          <p:nvPr/>
        </p:nvSpPr>
        <p:spPr>
          <a:xfrm>
            <a:off x="4297680" y="2834640"/>
            <a:ext cx="7223760" cy="1051560"/>
          </a:xfrm>
          <a:prstGeom prst="roundRect">
            <a:avLst>
              <a:gd fmla="val 6957" name="adj"/>
            </a:avLst>
          </a:prstGeom>
          <a:solidFill>
            <a:srgbClr val="1E2A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10"/>
          <p:cNvSpPr/>
          <p:nvPr/>
        </p:nvSpPr>
        <p:spPr>
          <a:xfrm>
            <a:off x="4572000" y="2834640"/>
            <a:ext cx="667512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2A93B"/>
              </a:buClr>
              <a:buSzPts val="1500"/>
              <a:buFont typeface="Cambria"/>
              <a:buNone/>
            </a:pPr>
            <a:r>
              <a:rPr b="0" i="1" lang="en-US" sz="1500" u="none" cap="none" strike="noStrike">
                <a:solidFill>
                  <a:srgbClr val="F2A93B"/>
                </a:solidFill>
                <a:latin typeface="Cambria"/>
                <a:ea typeface="Cambria"/>
                <a:cs typeface="Cambria"/>
                <a:sym typeface="Cambria"/>
              </a:rPr>
              <a:t>By the end of this course, you'll have shipped an AI News API: scraping, enrichment, storage, and an API — all built together, step by step.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10"/>
          <p:cNvSpPr/>
          <p:nvPr/>
        </p:nvSpPr>
        <p:spPr>
          <a:xfrm>
            <a:off x="640080" y="4206240"/>
            <a:ext cx="3429000" cy="1828800"/>
          </a:xfrm>
          <a:prstGeom prst="roundRect">
            <a:avLst>
              <a:gd fmla="val 4000" name="adj"/>
            </a:avLst>
          </a:prstGeom>
          <a:solidFill>
            <a:srgbClr val="F5F7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10"/>
          <p:cNvSpPr/>
          <p:nvPr/>
        </p:nvSpPr>
        <p:spPr>
          <a:xfrm>
            <a:off x="868680" y="4389120"/>
            <a:ext cx="2971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NOT THIS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10"/>
          <p:cNvSpPr/>
          <p:nvPr/>
        </p:nvSpPr>
        <p:spPr>
          <a:xfrm>
            <a:off x="868680" y="4754880"/>
            <a:ext cx="297180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E2A38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1E2A38"/>
                </a:solidFill>
                <a:latin typeface="Calibri"/>
                <a:ea typeface="Calibri"/>
                <a:cs typeface="Calibri"/>
                <a:sym typeface="Calibri"/>
              </a:rPr>
              <a:t>A disposable tutorial project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10"/>
          <p:cNvSpPr/>
          <p:nvPr/>
        </p:nvSpPr>
        <p:spPr>
          <a:xfrm>
            <a:off x="4434840" y="4206240"/>
            <a:ext cx="6492240" cy="1828800"/>
          </a:xfrm>
          <a:prstGeom prst="roundRect">
            <a:avLst>
              <a:gd fmla="val 4000" name="adj"/>
            </a:avLst>
          </a:prstGeom>
          <a:solidFill>
            <a:srgbClr val="EAF2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10"/>
          <p:cNvSpPr/>
          <p:nvPr/>
        </p:nvSpPr>
        <p:spPr>
          <a:xfrm>
            <a:off x="4663440" y="4389120"/>
            <a:ext cx="3429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86AB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2E86AB"/>
                </a:solidFill>
                <a:latin typeface="Calibri"/>
                <a:ea typeface="Calibri"/>
                <a:cs typeface="Calibri"/>
                <a:sym typeface="Calibri"/>
              </a:rPr>
              <a:t>INSTEAD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10"/>
          <p:cNvSpPr/>
          <p:nvPr/>
        </p:nvSpPr>
        <p:spPr>
          <a:xfrm>
            <a:off x="4663440" y="4754880"/>
            <a:ext cx="608076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E2A38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1E2A38"/>
                </a:solidFill>
                <a:latin typeface="Calibri"/>
                <a:ea typeface="Calibri"/>
                <a:cs typeface="Calibri"/>
                <a:sym typeface="Calibri"/>
              </a:rPr>
              <a:t>A real, working service — live in your own GitHub repo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10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AI Engineering · Week 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10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A38"/>
        </a:solidFill>
      </p:bgPr>
    </p:bg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11"/>
          <p:cNvSpPr/>
          <p:nvPr/>
        </p:nvSpPr>
        <p:spPr>
          <a:xfrm>
            <a:off x="8897112" y="3566160"/>
            <a:ext cx="2743200" cy="2743200"/>
          </a:xfrm>
          <a:prstGeom prst="ellipse">
            <a:avLst/>
          </a:prstGeom>
          <a:solidFill>
            <a:srgbClr val="2632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ai-eng-week1/icons/route.png" id="223" name="Google Shape;223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610344" y="4279392"/>
            <a:ext cx="1316736" cy="1316736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11"/>
          <p:cNvSpPr/>
          <p:nvPr/>
        </p:nvSpPr>
        <p:spPr>
          <a:xfrm>
            <a:off x="822960" y="233172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A93B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2A93B"/>
                </a:solidFill>
                <a:latin typeface="Calibri"/>
                <a:ea typeface="Calibri"/>
                <a:cs typeface="Calibri"/>
                <a:sym typeface="Calibri"/>
              </a:rPr>
              <a:t>PART 2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11"/>
          <p:cNvSpPr/>
          <p:nvPr/>
        </p:nvSpPr>
        <p:spPr>
          <a:xfrm>
            <a:off x="822960" y="2788920"/>
            <a:ext cx="960120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mbria"/>
              <a:buNone/>
            </a:pPr>
            <a:r>
              <a:rPr b="1" i="0" lang="en-US" sz="44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Actual Project Setup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11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AI Engineering · Week 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11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12"/>
          <p:cNvSpPr/>
          <p:nvPr/>
        </p:nvSpPr>
        <p:spPr>
          <a:xfrm>
            <a:off x="640080" y="384048"/>
            <a:ext cx="9144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86AB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2E86AB"/>
                </a:solidFill>
                <a:latin typeface="Calibri"/>
                <a:ea typeface="Calibri"/>
                <a:cs typeface="Calibri"/>
                <a:sym typeface="Calibri"/>
              </a:rPr>
              <a:t>BEFORE YOU START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12"/>
          <p:cNvSpPr/>
          <p:nvPr/>
        </p:nvSpPr>
        <p:spPr>
          <a:xfrm>
            <a:off x="640080" y="685800"/>
            <a:ext cx="107899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A38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1E2A38"/>
                </a:solidFill>
                <a:latin typeface="Cambria"/>
                <a:ea typeface="Cambria"/>
                <a:cs typeface="Cambria"/>
                <a:sym typeface="Cambria"/>
              </a:rPr>
              <a:t>Two Paths to Follow Along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12"/>
          <p:cNvSpPr/>
          <p:nvPr/>
        </p:nvSpPr>
        <p:spPr>
          <a:xfrm>
            <a:off x="640080" y="1554480"/>
            <a:ext cx="5257800" cy="2514600"/>
          </a:xfrm>
          <a:prstGeom prst="roundRect">
            <a:avLst>
              <a:gd fmla="val 3636" name="adj"/>
            </a:avLst>
          </a:prstGeom>
          <a:solidFill>
            <a:srgbClr val="F5F7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12"/>
          <p:cNvSpPr/>
          <p:nvPr/>
        </p:nvSpPr>
        <p:spPr>
          <a:xfrm>
            <a:off x="1005840" y="1920240"/>
            <a:ext cx="777240" cy="777240"/>
          </a:xfrm>
          <a:prstGeom prst="ellipse">
            <a:avLst/>
          </a:prstGeom>
          <a:solidFill>
            <a:srgbClr val="1E2A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ai-eng-week1/icons/code.png" id="237" name="Google Shape;237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00150" y="2114550"/>
            <a:ext cx="388620" cy="388620"/>
          </a:xfrm>
          <a:prstGeom prst="rect">
            <a:avLst/>
          </a:prstGeom>
          <a:noFill/>
          <a:ln>
            <a:noFill/>
          </a:ln>
        </p:spPr>
      </p:pic>
      <p:sp>
        <p:nvSpPr>
          <p:cNvPr id="238" name="Google Shape;238;p12"/>
          <p:cNvSpPr/>
          <p:nvPr/>
        </p:nvSpPr>
        <p:spPr>
          <a:xfrm>
            <a:off x="1005840" y="2834640"/>
            <a:ext cx="45262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A38"/>
              </a:buClr>
              <a:buSzPts val="1900"/>
              <a:buFont typeface="Cambria"/>
              <a:buNone/>
            </a:pPr>
            <a:r>
              <a:rPr b="1" i="0" lang="en-US" sz="1900" u="none" cap="none" strike="noStrike">
                <a:solidFill>
                  <a:srgbClr val="1E2A38"/>
                </a:solidFill>
                <a:latin typeface="Cambria"/>
                <a:ea typeface="Cambria"/>
                <a:cs typeface="Cambria"/>
                <a:sym typeface="Cambria"/>
              </a:rPr>
              <a:t>Build From Scratch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12"/>
          <p:cNvSpPr/>
          <p:nvPr/>
        </p:nvSpPr>
        <p:spPr>
          <a:xfrm>
            <a:off x="1005840" y="3337560"/>
            <a:ext cx="45262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Follow every step this week: install the tools yourself, scaffold the project by hand, and use Claude to help structure it from a blank idea.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12"/>
          <p:cNvSpPr/>
          <p:nvPr/>
        </p:nvSpPr>
        <p:spPr>
          <a:xfrm>
            <a:off x="6263640" y="1554480"/>
            <a:ext cx="5257800" cy="2514600"/>
          </a:xfrm>
          <a:prstGeom prst="roundRect">
            <a:avLst>
              <a:gd fmla="val 3636" name="adj"/>
            </a:avLst>
          </a:prstGeom>
          <a:solidFill>
            <a:srgbClr val="EAF2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12"/>
          <p:cNvSpPr/>
          <p:nvPr/>
        </p:nvSpPr>
        <p:spPr>
          <a:xfrm>
            <a:off x="6629400" y="1920240"/>
            <a:ext cx="777240" cy="777240"/>
          </a:xfrm>
          <a:prstGeom prst="ellipse">
            <a:avLst/>
          </a:prstGeom>
          <a:solidFill>
            <a:srgbClr val="1E2A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ai-eng-week1/icons/codebranch.png" id="242" name="Google Shape;242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823710" y="2114550"/>
            <a:ext cx="388620" cy="388620"/>
          </a:xfrm>
          <a:prstGeom prst="rect">
            <a:avLst/>
          </a:prstGeom>
          <a:noFill/>
          <a:ln>
            <a:noFill/>
          </a:ln>
        </p:spPr>
      </p:pic>
      <p:sp>
        <p:nvSpPr>
          <p:cNvPr id="243" name="Google Shape;243;p12"/>
          <p:cNvSpPr/>
          <p:nvPr/>
        </p:nvSpPr>
        <p:spPr>
          <a:xfrm>
            <a:off x="9235440" y="2057400"/>
            <a:ext cx="1920240" cy="365760"/>
          </a:xfrm>
          <a:prstGeom prst="roundRect">
            <a:avLst>
              <a:gd fmla="val 50000" name="adj"/>
            </a:avLst>
          </a:prstGeom>
          <a:solidFill>
            <a:srgbClr val="F2A9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12"/>
          <p:cNvSpPr/>
          <p:nvPr/>
        </p:nvSpPr>
        <p:spPr>
          <a:xfrm>
            <a:off x="9235440" y="2057400"/>
            <a:ext cx="1920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A38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1E2A38"/>
                </a:solidFill>
                <a:latin typeface="Calibri"/>
                <a:ea typeface="Calibri"/>
                <a:cs typeface="Calibri"/>
                <a:sym typeface="Calibri"/>
              </a:rPr>
              <a:t>USING CLAUDE CODE?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12"/>
          <p:cNvSpPr/>
          <p:nvPr/>
        </p:nvSpPr>
        <p:spPr>
          <a:xfrm>
            <a:off x="6629400" y="2834640"/>
            <a:ext cx="45262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A38"/>
              </a:buClr>
              <a:buSzPts val="1900"/>
              <a:buFont typeface="Cambria"/>
              <a:buNone/>
            </a:pPr>
            <a:r>
              <a:rPr b="1" i="0" lang="en-US" sz="1900" u="none" cap="none" strike="noStrike">
                <a:solidFill>
                  <a:srgbClr val="1E2A38"/>
                </a:solidFill>
                <a:latin typeface="Cambria"/>
                <a:ea typeface="Cambria"/>
                <a:cs typeface="Cambria"/>
                <a:sym typeface="Cambria"/>
              </a:rPr>
              <a:t>Clone the Starter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12"/>
          <p:cNvSpPr/>
          <p:nvPr/>
        </p:nvSpPr>
        <p:spPr>
          <a:xfrm>
            <a:off x="6629400" y="3337560"/>
            <a:ext cx="45262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E2A38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1E2A38"/>
                </a:solidFill>
                <a:latin typeface="Calibri"/>
                <a:ea typeface="Calibri"/>
                <a:cs typeface="Calibri"/>
                <a:sym typeface="Calibri"/>
              </a:rPr>
              <a:t>Prefer to dive straight into working code? Clone the Week 1 branch of the course repo and follow along from there.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12"/>
          <p:cNvSpPr/>
          <p:nvPr/>
        </p:nvSpPr>
        <p:spPr>
          <a:xfrm>
            <a:off x="640080" y="4389120"/>
            <a:ext cx="10908792" cy="960120"/>
          </a:xfrm>
          <a:prstGeom prst="roundRect">
            <a:avLst>
              <a:gd fmla="val 7619" name="adj"/>
            </a:avLst>
          </a:prstGeom>
          <a:solidFill>
            <a:srgbClr val="141B2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12"/>
          <p:cNvSpPr/>
          <p:nvPr/>
        </p:nvSpPr>
        <p:spPr>
          <a:xfrm>
            <a:off x="822960" y="4535424"/>
            <a:ext cx="82296" cy="82296"/>
          </a:xfrm>
          <a:prstGeom prst="ellipse">
            <a:avLst/>
          </a:prstGeom>
          <a:solidFill>
            <a:srgbClr val="F2555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12"/>
          <p:cNvSpPr/>
          <p:nvPr/>
        </p:nvSpPr>
        <p:spPr>
          <a:xfrm>
            <a:off x="987552" y="4535424"/>
            <a:ext cx="82296" cy="82296"/>
          </a:xfrm>
          <a:prstGeom prst="ellipse">
            <a:avLst/>
          </a:prstGeom>
          <a:solidFill>
            <a:srgbClr val="F2C94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12"/>
          <p:cNvSpPr/>
          <p:nvPr/>
        </p:nvSpPr>
        <p:spPr>
          <a:xfrm>
            <a:off x="1152144" y="4535424"/>
            <a:ext cx="82296" cy="82296"/>
          </a:xfrm>
          <a:prstGeom prst="ellipse">
            <a:avLst/>
          </a:prstGeom>
          <a:solidFill>
            <a:srgbClr val="3DD68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12"/>
          <p:cNvSpPr/>
          <p:nvPr/>
        </p:nvSpPr>
        <p:spPr>
          <a:xfrm>
            <a:off x="868680" y="4773168"/>
            <a:ext cx="10451592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2A93B"/>
              </a:buClr>
              <a:buSzPts val="1300"/>
              <a:buFont typeface="Courier New"/>
              <a:buNone/>
            </a:pPr>
            <a:r>
              <a:rPr b="0" i="0" lang="en-US" sz="1300" u="none" cap="none" strike="noStrike">
                <a:solidFill>
                  <a:srgbClr val="F2A93B"/>
                </a:solidFill>
                <a:latin typeface="Courier New"/>
                <a:ea typeface="Courier New"/>
                <a:cs typeface="Courier New"/>
                <a:sym typeface="Courier New"/>
              </a:rPr>
              <a:t>$ git clone -b week-1 https://github.com/lindseypeng/ai-news-api.git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12"/>
          <p:cNvSpPr/>
          <p:nvPr/>
        </p:nvSpPr>
        <p:spPr>
          <a:xfrm>
            <a:off x="640080" y="5486400"/>
            <a:ext cx="5486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86AB"/>
              </a:buClr>
              <a:buSzPts val="1250"/>
              <a:buFont typeface="Calibri"/>
              <a:buNone/>
            </a:pPr>
            <a:r>
              <a:rPr b="0" i="0" lang="en-US" sz="1250" u="sng" cap="none" strike="noStrike">
                <a:solidFill>
                  <a:srgbClr val="2E86AB"/>
                </a:solidFill>
                <a:latin typeface="Calibri"/>
                <a:ea typeface="Calibri"/>
                <a:cs typeface="Calibri"/>
                <a:sym typeface="Calibri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View the repo on GitHub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12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AI Engineering · Week 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12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11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13"/>
          <p:cNvSpPr/>
          <p:nvPr/>
        </p:nvSpPr>
        <p:spPr>
          <a:xfrm>
            <a:off x="640080" y="384048"/>
            <a:ext cx="9144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86AB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2E86AB"/>
                </a:solidFill>
                <a:latin typeface="Calibri"/>
                <a:ea typeface="Calibri"/>
                <a:cs typeface="Calibri"/>
                <a:sym typeface="Calibri"/>
              </a:rPr>
              <a:t>THE PROJECT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13"/>
          <p:cNvSpPr/>
          <p:nvPr/>
        </p:nvSpPr>
        <p:spPr>
          <a:xfrm>
            <a:off x="640080" y="685800"/>
            <a:ext cx="107899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A38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1E2A38"/>
                </a:solidFill>
                <a:latin typeface="Cambria"/>
                <a:ea typeface="Cambria"/>
                <a:cs typeface="Cambria"/>
                <a:sym typeface="Cambria"/>
              </a:rPr>
              <a:t>What We're Building: An AI News API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13"/>
          <p:cNvSpPr/>
          <p:nvPr/>
        </p:nvSpPr>
        <p:spPr>
          <a:xfrm>
            <a:off x="640080" y="1417320"/>
            <a:ext cx="108813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E2A38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1E2A38"/>
                </a:solidFill>
                <a:latin typeface="Calibri"/>
                <a:ea typeface="Calibri"/>
                <a:cs typeface="Calibri"/>
                <a:sym typeface="Calibri"/>
              </a:rPr>
              <a:t>Before we touch a flow diagram — here's the actual project we'll build together this course, piece by piece: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13"/>
          <p:cNvSpPr/>
          <p:nvPr/>
        </p:nvSpPr>
        <p:spPr>
          <a:xfrm>
            <a:off x="822960" y="2286000"/>
            <a:ext cx="548640" cy="548640"/>
          </a:xfrm>
          <a:prstGeom prst="ellipse">
            <a:avLst/>
          </a:prstGeom>
          <a:solidFill>
            <a:srgbClr val="1E2A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ai-eng-week1/icons/rss.png" id="264" name="Google Shape;26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46404" y="2409444"/>
            <a:ext cx="301752" cy="301752"/>
          </a:xfrm>
          <a:prstGeom prst="rect">
            <a:avLst/>
          </a:prstGeom>
          <a:noFill/>
          <a:ln>
            <a:noFill/>
          </a:ln>
        </p:spPr>
      </p:pic>
      <p:sp>
        <p:nvSpPr>
          <p:cNvPr id="265" name="Google Shape;265;p13"/>
          <p:cNvSpPr/>
          <p:nvPr/>
        </p:nvSpPr>
        <p:spPr>
          <a:xfrm>
            <a:off x="1645920" y="2267712"/>
            <a:ext cx="91440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A38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1E2A38"/>
                </a:solidFill>
                <a:latin typeface="Calibri"/>
                <a:ea typeface="Calibri"/>
                <a:cs typeface="Calibri"/>
                <a:sym typeface="Calibri"/>
              </a:rPr>
              <a:t>Collects AI news from multiple sources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13"/>
          <p:cNvSpPr/>
          <p:nvPr/>
        </p:nvSpPr>
        <p:spPr>
          <a:xfrm>
            <a:off x="822960" y="3063240"/>
            <a:ext cx="548640" cy="548640"/>
          </a:xfrm>
          <a:prstGeom prst="ellipse">
            <a:avLst/>
          </a:prstGeom>
          <a:solidFill>
            <a:srgbClr val="1E2A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ai-eng-week1/icons/shuffle.png" id="267" name="Google Shape;267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46404" y="3186684"/>
            <a:ext cx="301752" cy="301752"/>
          </a:xfrm>
          <a:prstGeom prst="rect">
            <a:avLst/>
          </a:prstGeom>
          <a:noFill/>
          <a:ln>
            <a:noFill/>
          </a:ln>
        </p:spPr>
      </p:pic>
      <p:sp>
        <p:nvSpPr>
          <p:cNvPr id="268" name="Google Shape;268;p13"/>
          <p:cNvSpPr/>
          <p:nvPr/>
        </p:nvSpPr>
        <p:spPr>
          <a:xfrm>
            <a:off x="1645920" y="3044952"/>
            <a:ext cx="91440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A38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1E2A38"/>
                </a:solidFill>
                <a:latin typeface="Calibri"/>
                <a:ea typeface="Calibri"/>
                <a:cs typeface="Calibri"/>
                <a:sym typeface="Calibri"/>
              </a:rPr>
              <a:t>Normalizes all sources into one NewsItem format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13"/>
          <p:cNvSpPr/>
          <p:nvPr/>
        </p:nvSpPr>
        <p:spPr>
          <a:xfrm>
            <a:off x="822960" y="3840480"/>
            <a:ext cx="548640" cy="548640"/>
          </a:xfrm>
          <a:prstGeom prst="ellipse">
            <a:avLst/>
          </a:prstGeom>
          <a:solidFill>
            <a:srgbClr val="1E2A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ai-eng-week1/icons/wand.png" id="270" name="Google Shape;270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46404" y="3963924"/>
            <a:ext cx="301752" cy="301752"/>
          </a:xfrm>
          <a:prstGeom prst="rect">
            <a:avLst/>
          </a:prstGeom>
          <a:noFill/>
          <a:ln>
            <a:noFill/>
          </a:ln>
        </p:spPr>
      </p:pic>
      <p:sp>
        <p:nvSpPr>
          <p:cNvPr id="271" name="Google Shape;271;p13"/>
          <p:cNvSpPr/>
          <p:nvPr/>
        </p:nvSpPr>
        <p:spPr>
          <a:xfrm>
            <a:off x="1645920" y="3822192"/>
            <a:ext cx="91440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A38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1E2A38"/>
                </a:solidFill>
                <a:latin typeface="Calibri"/>
                <a:ea typeface="Calibri"/>
                <a:cs typeface="Calibri"/>
                <a:sym typeface="Calibri"/>
              </a:rPr>
              <a:t>Enriches news using an LLM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13"/>
          <p:cNvSpPr/>
          <p:nvPr/>
        </p:nvSpPr>
        <p:spPr>
          <a:xfrm>
            <a:off x="822960" y="4617720"/>
            <a:ext cx="548640" cy="548640"/>
          </a:xfrm>
          <a:prstGeom prst="ellipse">
            <a:avLst/>
          </a:prstGeom>
          <a:solidFill>
            <a:srgbClr val="1E2A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ai-eng-week1/icons/postgresql.png" id="273" name="Google Shape;273;p1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46404" y="4741164"/>
            <a:ext cx="301752" cy="301752"/>
          </a:xfrm>
          <a:prstGeom prst="rect">
            <a:avLst/>
          </a:prstGeom>
          <a:noFill/>
          <a:ln>
            <a:noFill/>
          </a:ln>
        </p:spPr>
      </p:pic>
      <p:sp>
        <p:nvSpPr>
          <p:cNvPr id="274" name="Google Shape;274;p13"/>
          <p:cNvSpPr/>
          <p:nvPr/>
        </p:nvSpPr>
        <p:spPr>
          <a:xfrm>
            <a:off x="1645920" y="4599432"/>
            <a:ext cx="91440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A38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1E2A38"/>
                </a:solidFill>
                <a:latin typeface="Calibri"/>
                <a:ea typeface="Calibri"/>
                <a:cs typeface="Calibri"/>
                <a:sym typeface="Calibri"/>
              </a:rPr>
              <a:t>Stores results in PostgreSQL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13"/>
          <p:cNvSpPr/>
          <p:nvPr/>
        </p:nvSpPr>
        <p:spPr>
          <a:xfrm>
            <a:off x="822960" y="5394960"/>
            <a:ext cx="548640" cy="548640"/>
          </a:xfrm>
          <a:prstGeom prst="ellipse">
            <a:avLst/>
          </a:prstGeom>
          <a:solidFill>
            <a:srgbClr val="1E2A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ai-eng-week1/icons/fastapi.png" id="276" name="Google Shape;276;p1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46404" y="5518404"/>
            <a:ext cx="301752" cy="301752"/>
          </a:xfrm>
          <a:prstGeom prst="rect">
            <a:avLst/>
          </a:prstGeom>
          <a:noFill/>
          <a:ln>
            <a:noFill/>
          </a:ln>
        </p:spPr>
      </p:pic>
      <p:sp>
        <p:nvSpPr>
          <p:cNvPr id="277" name="Google Shape;277;p13"/>
          <p:cNvSpPr/>
          <p:nvPr/>
        </p:nvSpPr>
        <p:spPr>
          <a:xfrm>
            <a:off x="1645920" y="5376672"/>
            <a:ext cx="91440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A38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1E2A38"/>
                </a:solidFill>
                <a:latin typeface="Calibri"/>
                <a:ea typeface="Calibri"/>
                <a:cs typeface="Calibri"/>
                <a:sym typeface="Calibri"/>
              </a:rPr>
              <a:t>Exposes stored news through FastAPI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13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AI Engineering · Week 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13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12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14"/>
          <p:cNvSpPr/>
          <p:nvPr/>
        </p:nvSpPr>
        <p:spPr>
          <a:xfrm>
            <a:off x="640080" y="384048"/>
            <a:ext cx="9144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86AB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2E86AB"/>
                </a:solidFill>
                <a:latin typeface="Calibri"/>
                <a:ea typeface="Calibri"/>
                <a:cs typeface="Calibri"/>
                <a:sym typeface="Calibri"/>
              </a:rPr>
              <a:t>THE PROJECT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14"/>
          <p:cNvSpPr/>
          <p:nvPr/>
        </p:nvSpPr>
        <p:spPr>
          <a:xfrm>
            <a:off x="640080" y="685800"/>
            <a:ext cx="107899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A38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1E2A38"/>
                </a:solidFill>
                <a:latin typeface="Cambria"/>
                <a:ea typeface="Cambria"/>
                <a:cs typeface="Cambria"/>
                <a:sym typeface="Cambria"/>
              </a:rPr>
              <a:t>The Workflow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14"/>
          <p:cNvSpPr/>
          <p:nvPr/>
        </p:nvSpPr>
        <p:spPr>
          <a:xfrm>
            <a:off x="836676" y="1920240"/>
            <a:ext cx="1600200" cy="1554480"/>
          </a:xfrm>
          <a:prstGeom prst="roundRect">
            <a:avLst>
              <a:gd fmla="val 4706" name="adj"/>
            </a:avLst>
          </a:prstGeom>
          <a:solidFill>
            <a:srgbClr val="F5F7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" name="Google Shape;288;p14"/>
          <p:cNvSpPr/>
          <p:nvPr/>
        </p:nvSpPr>
        <p:spPr>
          <a:xfrm>
            <a:off x="1316736" y="2103120"/>
            <a:ext cx="640080" cy="640080"/>
          </a:xfrm>
          <a:prstGeom prst="ellipse">
            <a:avLst/>
          </a:prstGeom>
          <a:solidFill>
            <a:srgbClr val="1E2A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ai-eng-week1/icons/rss.png" id="289" name="Google Shape;289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76756" y="2263140"/>
            <a:ext cx="320040" cy="320040"/>
          </a:xfrm>
          <a:prstGeom prst="rect">
            <a:avLst/>
          </a:prstGeom>
          <a:noFill/>
          <a:ln>
            <a:noFill/>
          </a:ln>
        </p:spPr>
      </p:pic>
      <p:sp>
        <p:nvSpPr>
          <p:cNvPr id="290" name="Google Shape;290;p14"/>
          <p:cNvSpPr/>
          <p:nvPr/>
        </p:nvSpPr>
        <p:spPr>
          <a:xfrm>
            <a:off x="909828" y="2834640"/>
            <a:ext cx="1453896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E2A38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1E2A38"/>
                </a:solidFill>
                <a:latin typeface="Calibri"/>
                <a:ea typeface="Calibri"/>
                <a:cs typeface="Calibri"/>
                <a:sym typeface="Calibri"/>
              </a:rPr>
              <a:t>External Sources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14"/>
          <p:cNvSpPr/>
          <p:nvPr/>
        </p:nvSpPr>
        <p:spPr>
          <a:xfrm>
            <a:off x="2436876" y="2514600"/>
            <a:ext cx="1828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AA5B1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9AA5B1"/>
                </a:solidFill>
                <a:latin typeface="Calibri"/>
                <a:ea typeface="Calibri"/>
                <a:cs typeface="Calibri"/>
                <a:sym typeface="Calibri"/>
              </a:rPr>
              <a:t>›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14"/>
          <p:cNvSpPr/>
          <p:nvPr/>
        </p:nvSpPr>
        <p:spPr>
          <a:xfrm>
            <a:off x="2619756" y="1920240"/>
            <a:ext cx="1600200" cy="1554480"/>
          </a:xfrm>
          <a:prstGeom prst="roundRect">
            <a:avLst>
              <a:gd fmla="val 4706" name="adj"/>
            </a:avLst>
          </a:prstGeom>
          <a:solidFill>
            <a:srgbClr val="F5F7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14"/>
          <p:cNvSpPr/>
          <p:nvPr/>
        </p:nvSpPr>
        <p:spPr>
          <a:xfrm>
            <a:off x="3099816" y="2103120"/>
            <a:ext cx="640080" cy="640080"/>
          </a:xfrm>
          <a:prstGeom prst="ellipse">
            <a:avLst/>
          </a:prstGeom>
          <a:solidFill>
            <a:srgbClr val="1E2A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ai-eng-week1/icons/spider.png" id="294" name="Google Shape;294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259836" y="2263140"/>
            <a:ext cx="320040" cy="320040"/>
          </a:xfrm>
          <a:prstGeom prst="rect">
            <a:avLst/>
          </a:prstGeom>
          <a:noFill/>
          <a:ln>
            <a:noFill/>
          </a:ln>
        </p:spPr>
      </p:pic>
      <p:sp>
        <p:nvSpPr>
          <p:cNvPr id="295" name="Google Shape;295;p14"/>
          <p:cNvSpPr/>
          <p:nvPr/>
        </p:nvSpPr>
        <p:spPr>
          <a:xfrm>
            <a:off x="2692908" y="2834640"/>
            <a:ext cx="1453896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E2A38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1E2A38"/>
                </a:solidFill>
                <a:latin typeface="Calibri"/>
                <a:ea typeface="Calibri"/>
                <a:cs typeface="Calibri"/>
                <a:sym typeface="Calibri"/>
              </a:rPr>
              <a:t>Scrapers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14"/>
          <p:cNvSpPr/>
          <p:nvPr/>
        </p:nvSpPr>
        <p:spPr>
          <a:xfrm>
            <a:off x="4219956" y="2514600"/>
            <a:ext cx="1828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AA5B1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9AA5B1"/>
                </a:solidFill>
                <a:latin typeface="Calibri"/>
                <a:ea typeface="Calibri"/>
                <a:cs typeface="Calibri"/>
                <a:sym typeface="Calibri"/>
              </a:rPr>
              <a:t>›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14"/>
          <p:cNvSpPr/>
          <p:nvPr/>
        </p:nvSpPr>
        <p:spPr>
          <a:xfrm>
            <a:off x="4402836" y="1920240"/>
            <a:ext cx="1600200" cy="1554480"/>
          </a:xfrm>
          <a:prstGeom prst="roundRect">
            <a:avLst>
              <a:gd fmla="val 4706" name="adj"/>
            </a:avLst>
          </a:prstGeom>
          <a:solidFill>
            <a:srgbClr val="F5F7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8" name="Google Shape;298;p14"/>
          <p:cNvSpPr/>
          <p:nvPr/>
        </p:nvSpPr>
        <p:spPr>
          <a:xfrm>
            <a:off x="4882896" y="2103120"/>
            <a:ext cx="640080" cy="640080"/>
          </a:xfrm>
          <a:prstGeom prst="ellipse">
            <a:avLst/>
          </a:prstGeom>
          <a:solidFill>
            <a:srgbClr val="1E2A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ai-eng-week1/icons/shuffle.png" id="299" name="Google Shape;299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042916" y="2263140"/>
            <a:ext cx="320040" cy="320040"/>
          </a:xfrm>
          <a:prstGeom prst="rect">
            <a:avLst/>
          </a:prstGeom>
          <a:noFill/>
          <a:ln>
            <a:noFill/>
          </a:ln>
        </p:spPr>
      </p:pic>
      <p:sp>
        <p:nvSpPr>
          <p:cNvPr id="300" name="Google Shape;300;p14"/>
          <p:cNvSpPr/>
          <p:nvPr/>
        </p:nvSpPr>
        <p:spPr>
          <a:xfrm>
            <a:off x="4475988" y="2834640"/>
            <a:ext cx="1453896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E2A38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1E2A38"/>
                </a:solidFill>
                <a:latin typeface="Calibri"/>
                <a:ea typeface="Calibri"/>
                <a:cs typeface="Calibri"/>
                <a:sym typeface="Calibri"/>
              </a:rPr>
              <a:t>Normalization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14"/>
          <p:cNvSpPr/>
          <p:nvPr/>
        </p:nvSpPr>
        <p:spPr>
          <a:xfrm>
            <a:off x="6003036" y="2514600"/>
            <a:ext cx="1828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AA5B1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9AA5B1"/>
                </a:solidFill>
                <a:latin typeface="Calibri"/>
                <a:ea typeface="Calibri"/>
                <a:cs typeface="Calibri"/>
                <a:sym typeface="Calibri"/>
              </a:rPr>
              <a:t>›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14"/>
          <p:cNvSpPr/>
          <p:nvPr/>
        </p:nvSpPr>
        <p:spPr>
          <a:xfrm>
            <a:off x="6185916" y="1920240"/>
            <a:ext cx="1600200" cy="1554480"/>
          </a:xfrm>
          <a:prstGeom prst="roundRect">
            <a:avLst>
              <a:gd fmla="val 4706" name="adj"/>
            </a:avLst>
          </a:prstGeom>
          <a:solidFill>
            <a:srgbClr val="F5F7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" name="Google Shape;303;p14"/>
          <p:cNvSpPr/>
          <p:nvPr/>
        </p:nvSpPr>
        <p:spPr>
          <a:xfrm>
            <a:off x="6665976" y="2103120"/>
            <a:ext cx="640080" cy="640080"/>
          </a:xfrm>
          <a:prstGeom prst="ellipse">
            <a:avLst/>
          </a:prstGeom>
          <a:solidFill>
            <a:srgbClr val="1E2A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ai-eng-week1/icons/wand.png" id="304" name="Google Shape;304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825996" y="2263140"/>
            <a:ext cx="320040" cy="320040"/>
          </a:xfrm>
          <a:prstGeom prst="rect">
            <a:avLst/>
          </a:prstGeom>
          <a:noFill/>
          <a:ln>
            <a:noFill/>
          </a:ln>
        </p:spPr>
      </p:pic>
      <p:sp>
        <p:nvSpPr>
          <p:cNvPr id="305" name="Google Shape;305;p14"/>
          <p:cNvSpPr/>
          <p:nvPr/>
        </p:nvSpPr>
        <p:spPr>
          <a:xfrm>
            <a:off x="6259068" y="2834640"/>
            <a:ext cx="1453896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E2A38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1E2A38"/>
                </a:solidFill>
                <a:latin typeface="Calibri"/>
                <a:ea typeface="Calibri"/>
                <a:cs typeface="Calibri"/>
                <a:sym typeface="Calibri"/>
              </a:rPr>
              <a:t>LLM Enrichment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14"/>
          <p:cNvSpPr/>
          <p:nvPr/>
        </p:nvSpPr>
        <p:spPr>
          <a:xfrm>
            <a:off x="7786116" y="2514600"/>
            <a:ext cx="1828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AA5B1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9AA5B1"/>
                </a:solidFill>
                <a:latin typeface="Calibri"/>
                <a:ea typeface="Calibri"/>
                <a:cs typeface="Calibri"/>
                <a:sym typeface="Calibri"/>
              </a:rPr>
              <a:t>›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14"/>
          <p:cNvSpPr/>
          <p:nvPr/>
        </p:nvSpPr>
        <p:spPr>
          <a:xfrm>
            <a:off x="7968996" y="1920240"/>
            <a:ext cx="1600200" cy="1554480"/>
          </a:xfrm>
          <a:prstGeom prst="roundRect">
            <a:avLst>
              <a:gd fmla="val 4706" name="adj"/>
            </a:avLst>
          </a:prstGeom>
          <a:solidFill>
            <a:srgbClr val="F5F7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" name="Google Shape;308;p14"/>
          <p:cNvSpPr/>
          <p:nvPr/>
        </p:nvSpPr>
        <p:spPr>
          <a:xfrm>
            <a:off x="8449056" y="2103120"/>
            <a:ext cx="640080" cy="640080"/>
          </a:xfrm>
          <a:prstGeom prst="ellipse">
            <a:avLst/>
          </a:prstGeom>
          <a:solidFill>
            <a:srgbClr val="2E86A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ai-eng-week1/icons/postgresql.png" id="309" name="Google Shape;309;p1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609076" y="2263140"/>
            <a:ext cx="320040" cy="320040"/>
          </a:xfrm>
          <a:prstGeom prst="rect">
            <a:avLst/>
          </a:prstGeom>
          <a:noFill/>
          <a:ln>
            <a:noFill/>
          </a:ln>
        </p:spPr>
      </p:pic>
      <p:sp>
        <p:nvSpPr>
          <p:cNvPr id="310" name="Google Shape;310;p14"/>
          <p:cNvSpPr/>
          <p:nvPr/>
        </p:nvSpPr>
        <p:spPr>
          <a:xfrm>
            <a:off x="8042148" y="2834640"/>
            <a:ext cx="1453896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E2A38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1E2A38"/>
                </a:solidFill>
                <a:latin typeface="Calibri"/>
                <a:ea typeface="Calibri"/>
                <a:cs typeface="Calibri"/>
                <a:sym typeface="Calibri"/>
              </a:rPr>
              <a:t>PostgreSQL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14"/>
          <p:cNvSpPr/>
          <p:nvPr/>
        </p:nvSpPr>
        <p:spPr>
          <a:xfrm>
            <a:off x="9569196" y="2514600"/>
            <a:ext cx="1828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AA5B1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9AA5B1"/>
                </a:solidFill>
                <a:latin typeface="Calibri"/>
                <a:ea typeface="Calibri"/>
                <a:cs typeface="Calibri"/>
                <a:sym typeface="Calibri"/>
              </a:rPr>
              <a:t>›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14"/>
          <p:cNvSpPr/>
          <p:nvPr/>
        </p:nvSpPr>
        <p:spPr>
          <a:xfrm>
            <a:off x="9752076" y="1920240"/>
            <a:ext cx="1600200" cy="1554480"/>
          </a:xfrm>
          <a:prstGeom prst="roundRect">
            <a:avLst>
              <a:gd fmla="val 4706" name="adj"/>
            </a:avLst>
          </a:prstGeom>
          <a:solidFill>
            <a:srgbClr val="F5F7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" name="Google Shape;313;p14"/>
          <p:cNvSpPr/>
          <p:nvPr/>
        </p:nvSpPr>
        <p:spPr>
          <a:xfrm>
            <a:off x="10232136" y="2103120"/>
            <a:ext cx="640080" cy="640080"/>
          </a:xfrm>
          <a:prstGeom prst="ellipse">
            <a:avLst/>
          </a:prstGeom>
          <a:solidFill>
            <a:srgbClr val="F2A9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ai-eng-week1/icons/fastapi.png" id="314" name="Google Shape;314;p1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0392156" y="2263140"/>
            <a:ext cx="320040" cy="320040"/>
          </a:xfrm>
          <a:prstGeom prst="rect">
            <a:avLst/>
          </a:prstGeom>
          <a:noFill/>
          <a:ln>
            <a:noFill/>
          </a:ln>
        </p:spPr>
      </p:pic>
      <p:sp>
        <p:nvSpPr>
          <p:cNvPr id="315" name="Google Shape;315;p14"/>
          <p:cNvSpPr/>
          <p:nvPr/>
        </p:nvSpPr>
        <p:spPr>
          <a:xfrm>
            <a:off x="9825228" y="2834640"/>
            <a:ext cx="1453896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E2A38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1E2A38"/>
                </a:solidFill>
                <a:latin typeface="Calibri"/>
                <a:ea typeface="Calibri"/>
                <a:cs typeface="Calibri"/>
                <a:sym typeface="Calibri"/>
              </a:rPr>
              <a:t>FastAPI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14"/>
          <p:cNvSpPr/>
          <p:nvPr/>
        </p:nvSpPr>
        <p:spPr>
          <a:xfrm>
            <a:off x="836676" y="3840480"/>
            <a:ext cx="10515600" cy="777240"/>
          </a:xfrm>
          <a:prstGeom prst="roundRect">
            <a:avLst>
              <a:gd fmla="val 9412" name="adj"/>
            </a:avLst>
          </a:prstGeom>
          <a:solidFill>
            <a:srgbClr val="F5F7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" name="Google Shape;317;p14"/>
          <p:cNvSpPr/>
          <p:nvPr/>
        </p:nvSpPr>
        <p:spPr>
          <a:xfrm>
            <a:off x="1110996" y="3840480"/>
            <a:ext cx="996696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A38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E2A38"/>
                </a:solidFill>
                <a:latin typeface="Calibri"/>
                <a:ea typeface="Calibri"/>
                <a:cs typeface="Calibri"/>
                <a:sym typeface="Calibri"/>
              </a:rPr>
              <a:t>Batch pipeline: </a:t>
            </a:r>
            <a:r>
              <a:rPr b="0" i="0" lang="en-US" sz="14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writes news to PostgreSQL.   </a:t>
            </a:r>
            <a:r>
              <a:rPr b="1" i="0" lang="en-US" sz="1400" u="none" cap="none" strike="noStrike">
                <a:solidFill>
                  <a:srgbClr val="1E2A38"/>
                </a:solidFill>
                <a:latin typeface="Calibri"/>
                <a:ea typeface="Calibri"/>
                <a:cs typeface="Calibri"/>
                <a:sym typeface="Calibri"/>
              </a:rPr>
              <a:t>FastAPI service: </a:t>
            </a:r>
            <a:r>
              <a:rPr b="0" i="0" lang="en-US" sz="14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reads news from PostgreSQL.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14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AI Engineering · Week 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14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13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15"/>
          <p:cNvSpPr/>
          <p:nvPr/>
        </p:nvSpPr>
        <p:spPr>
          <a:xfrm>
            <a:off x="640080" y="384048"/>
            <a:ext cx="9144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86AB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2E86AB"/>
                </a:solidFill>
                <a:latin typeface="Calibri"/>
                <a:ea typeface="Calibri"/>
                <a:cs typeface="Calibri"/>
                <a:sym typeface="Calibri"/>
              </a:rPr>
              <a:t>THE PROJECT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15"/>
          <p:cNvSpPr/>
          <p:nvPr/>
        </p:nvSpPr>
        <p:spPr>
          <a:xfrm>
            <a:off x="640080" y="685800"/>
            <a:ext cx="107899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A38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1E2A38"/>
                </a:solidFill>
                <a:latin typeface="Cambria"/>
                <a:ea typeface="Cambria"/>
                <a:cs typeface="Cambria"/>
                <a:sym typeface="Cambria"/>
              </a:rPr>
              <a:t>Tech Stack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15"/>
          <p:cNvSpPr/>
          <p:nvPr/>
        </p:nvSpPr>
        <p:spPr>
          <a:xfrm>
            <a:off x="2208276" y="1691640"/>
            <a:ext cx="2377440" cy="1280160"/>
          </a:xfrm>
          <a:prstGeom prst="roundRect">
            <a:avLst>
              <a:gd fmla="val 5714" name="adj"/>
            </a:avLst>
          </a:prstGeom>
          <a:solidFill>
            <a:srgbClr val="F5F7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8" name="Google Shape;328;p15"/>
          <p:cNvSpPr/>
          <p:nvPr/>
        </p:nvSpPr>
        <p:spPr>
          <a:xfrm>
            <a:off x="3122676" y="1874520"/>
            <a:ext cx="548640" cy="548640"/>
          </a:xfrm>
          <a:prstGeom prst="ellipse">
            <a:avLst/>
          </a:prstGeom>
          <a:solidFill>
            <a:srgbClr val="1E2A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ai-eng-week1/icons/python.png" id="329" name="Google Shape;329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54350" y="2006194"/>
            <a:ext cx="285293" cy="285293"/>
          </a:xfrm>
          <a:prstGeom prst="rect">
            <a:avLst/>
          </a:prstGeom>
          <a:noFill/>
          <a:ln>
            <a:noFill/>
          </a:ln>
        </p:spPr>
      </p:pic>
      <p:sp>
        <p:nvSpPr>
          <p:cNvPr id="330" name="Google Shape;330;p15"/>
          <p:cNvSpPr/>
          <p:nvPr/>
        </p:nvSpPr>
        <p:spPr>
          <a:xfrm>
            <a:off x="2299716" y="2560320"/>
            <a:ext cx="21945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A38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E2A38"/>
                </a:solidFill>
                <a:latin typeface="Calibri"/>
                <a:ea typeface="Calibri"/>
                <a:cs typeface="Calibri"/>
                <a:sym typeface="Calibri"/>
              </a:rPr>
              <a:t>Python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15"/>
          <p:cNvSpPr/>
          <p:nvPr/>
        </p:nvSpPr>
        <p:spPr>
          <a:xfrm>
            <a:off x="4905756" y="1691640"/>
            <a:ext cx="2377440" cy="1280160"/>
          </a:xfrm>
          <a:prstGeom prst="roundRect">
            <a:avLst>
              <a:gd fmla="val 5714" name="adj"/>
            </a:avLst>
          </a:prstGeom>
          <a:solidFill>
            <a:srgbClr val="F5F7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2" name="Google Shape;332;p15"/>
          <p:cNvSpPr/>
          <p:nvPr/>
        </p:nvSpPr>
        <p:spPr>
          <a:xfrm>
            <a:off x="5820156" y="1874520"/>
            <a:ext cx="548640" cy="548640"/>
          </a:xfrm>
          <a:prstGeom prst="ellipse">
            <a:avLst/>
          </a:prstGeom>
          <a:solidFill>
            <a:srgbClr val="1E2A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ai-eng-week1/icons/pydantic.png" id="333" name="Google Shape;333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951830" y="2006194"/>
            <a:ext cx="285293" cy="285293"/>
          </a:xfrm>
          <a:prstGeom prst="rect">
            <a:avLst/>
          </a:prstGeom>
          <a:noFill/>
          <a:ln>
            <a:noFill/>
          </a:ln>
        </p:spPr>
      </p:pic>
      <p:sp>
        <p:nvSpPr>
          <p:cNvPr id="334" name="Google Shape;334;p15"/>
          <p:cNvSpPr/>
          <p:nvPr/>
        </p:nvSpPr>
        <p:spPr>
          <a:xfrm>
            <a:off x="4997196" y="2560320"/>
            <a:ext cx="21945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A38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E2A38"/>
                </a:solidFill>
                <a:latin typeface="Calibri"/>
                <a:ea typeface="Calibri"/>
                <a:cs typeface="Calibri"/>
                <a:sym typeface="Calibri"/>
              </a:rPr>
              <a:t>Pydantic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15"/>
          <p:cNvSpPr/>
          <p:nvPr/>
        </p:nvSpPr>
        <p:spPr>
          <a:xfrm>
            <a:off x="7603236" y="1691640"/>
            <a:ext cx="2377440" cy="1280160"/>
          </a:xfrm>
          <a:prstGeom prst="roundRect">
            <a:avLst>
              <a:gd fmla="val 5714" name="adj"/>
            </a:avLst>
          </a:prstGeom>
          <a:solidFill>
            <a:srgbClr val="F5F7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6" name="Google Shape;336;p15"/>
          <p:cNvSpPr/>
          <p:nvPr/>
        </p:nvSpPr>
        <p:spPr>
          <a:xfrm>
            <a:off x="8517636" y="1874520"/>
            <a:ext cx="548640" cy="548640"/>
          </a:xfrm>
          <a:prstGeom prst="ellipse">
            <a:avLst/>
          </a:prstGeom>
          <a:solidFill>
            <a:srgbClr val="1E2A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ai-eng-week1/icons/openai.png" id="337" name="Google Shape;337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649310" y="2006194"/>
            <a:ext cx="285293" cy="285293"/>
          </a:xfrm>
          <a:prstGeom prst="rect">
            <a:avLst/>
          </a:prstGeom>
          <a:noFill/>
          <a:ln>
            <a:noFill/>
          </a:ln>
        </p:spPr>
      </p:pic>
      <p:sp>
        <p:nvSpPr>
          <p:cNvPr id="338" name="Google Shape;338;p15"/>
          <p:cNvSpPr/>
          <p:nvPr/>
        </p:nvSpPr>
        <p:spPr>
          <a:xfrm>
            <a:off x="7694676" y="2560320"/>
            <a:ext cx="21945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A38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E2A38"/>
                </a:solidFill>
                <a:latin typeface="Calibri"/>
                <a:ea typeface="Calibri"/>
                <a:cs typeface="Calibri"/>
                <a:sym typeface="Calibri"/>
              </a:rPr>
              <a:t>OpenAI API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15"/>
          <p:cNvSpPr/>
          <p:nvPr/>
        </p:nvSpPr>
        <p:spPr>
          <a:xfrm>
            <a:off x="2208276" y="3200400"/>
            <a:ext cx="2377440" cy="1280160"/>
          </a:xfrm>
          <a:prstGeom prst="roundRect">
            <a:avLst>
              <a:gd fmla="val 5714" name="adj"/>
            </a:avLst>
          </a:prstGeom>
          <a:solidFill>
            <a:srgbClr val="F5F7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0" name="Google Shape;340;p15"/>
          <p:cNvSpPr/>
          <p:nvPr/>
        </p:nvSpPr>
        <p:spPr>
          <a:xfrm>
            <a:off x="3122676" y="3383280"/>
            <a:ext cx="548640" cy="548640"/>
          </a:xfrm>
          <a:prstGeom prst="ellipse">
            <a:avLst/>
          </a:prstGeom>
          <a:solidFill>
            <a:srgbClr val="1E2A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ai-eng-week1/icons/fastapi.png" id="341" name="Google Shape;341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254350" y="3514954"/>
            <a:ext cx="285293" cy="285293"/>
          </a:xfrm>
          <a:prstGeom prst="rect">
            <a:avLst/>
          </a:prstGeom>
          <a:noFill/>
          <a:ln>
            <a:noFill/>
          </a:ln>
        </p:spPr>
      </p:pic>
      <p:sp>
        <p:nvSpPr>
          <p:cNvPr id="342" name="Google Shape;342;p15"/>
          <p:cNvSpPr/>
          <p:nvPr/>
        </p:nvSpPr>
        <p:spPr>
          <a:xfrm>
            <a:off x="2299716" y="4069080"/>
            <a:ext cx="21945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A38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E2A38"/>
                </a:solidFill>
                <a:latin typeface="Calibri"/>
                <a:ea typeface="Calibri"/>
                <a:cs typeface="Calibri"/>
                <a:sym typeface="Calibri"/>
              </a:rPr>
              <a:t>FastAPI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15"/>
          <p:cNvSpPr/>
          <p:nvPr/>
        </p:nvSpPr>
        <p:spPr>
          <a:xfrm>
            <a:off x="4905756" y="3200400"/>
            <a:ext cx="2377440" cy="1280160"/>
          </a:xfrm>
          <a:prstGeom prst="roundRect">
            <a:avLst>
              <a:gd fmla="val 5714" name="adj"/>
            </a:avLst>
          </a:prstGeom>
          <a:solidFill>
            <a:srgbClr val="F5F7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4" name="Google Shape;344;p15"/>
          <p:cNvSpPr/>
          <p:nvPr/>
        </p:nvSpPr>
        <p:spPr>
          <a:xfrm>
            <a:off x="5820156" y="3383280"/>
            <a:ext cx="548640" cy="548640"/>
          </a:xfrm>
          <a:prstGeom prst="ellipse">
            <a:avLst/>
          </a:prstGeom>
          <a:solidFill>
            <a:srgbClr val="1E2A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ai-eng-week1/icons/sqlalchemy.png" id="345" name="Google Shape;345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951830" y="3514954"/>
            <a:ext cx="285293" cy="285293"/>
          </a:xfrm>
          <a:prstGeom prst="rect">
            <a:avLst/>
          </a:prstGeom>
          <a:noFill/>
          <a:ln>
            <a:noFill/>
          </a:ln>
        </p:spPr>
      </p:pic>
      <p:sp>
        <p:nvSpPr>
          <p:cNvPr id="346" name="Google Shape;346;p15"/>
          <p:cNvSpPr/>
          <p:nvPr/>
        </p:nvSpPr>
        <p:spPr>
          <a:xfrm>
            <a:off x="4997196" y="4069080"/>
            <a:ext cx="21945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A38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E2A38"/>
                </a:solidFill>
                <a:latin typeface="Calibri"/>
                <a:ea typeface="Calibri"/>
                <a:cs typeface="Calibri"/>
                <a:sym typeface="Calibri"/>
              </a:rPr>
              <a:t>SQLAlchemy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15"/>
          <p:cNvSpPr/>
          <p:nvPr/>
        </p:nvSpPr>
        <p:spPr>
          <a:xfrm>
            <a:off x="7603236" y="3200400"/>
            <a:ext cx="2377440" cy="1280160"/>
          </a:xfrm>
          <a:prstGeom prst="roundRect">
            <a:avLst>
              <a:gd fmla="val 5714" name="adj"/>
            </a:avLst>
          </a:prstGeom>
          <a:solidFill>
            <a:srgbClr val="F5F7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8" name="Google Shape;348;p15"/>
          <p:cNvSpPr/>
          <p:nvPr/>
        </p:nvSpPr>
        <p:spPr>
          <a:xfrm>
            <a:off x="8517636" y="3383280"/>
            <a:ext cx="548640" cy="548640"/>
          </a:xfrm>
          <a:prstGeom prst="ellipse">
            <a:avLst/>
          </a:prstGeom>
          <a:solidFill>
            <a:srgbClr val="1E2A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ai-eng-week1/icons/postgresql.png" id="349" name="Google Shape;349;p1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649310" y="3514954"/>
            <a:ext cx="285293" cy="285293"/>
          </a:xfrm>
          <a:prstGeom prst="rect">
            <a:avLst/>
          </a:prstGeom>
          <a:noFill/>
          <a:ln>
            <a:noFill/>
          </a:ln>
        </p:spPr>
      </p:pic>
      <p:sp>
        <p:nvSpPr>
          <p:cNvPr id="350" name="Google Shape;350;p15"/>
          <p:cNvSpPr/>
          <p:nvPr/>
        </p:nvSpPr>
        <p:spPr>
          <a:xfrm>
            <a:off x="7694676" y="4069080"/>
            <a:ext cx="21945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A38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E2A38"/>
                </a:solidFill>
                <a:latin typeface="Calibri"/>
                <a:ea typeface="Calibri"/>
                <a:cs typeface="Calibri"/>
                <a:sym typeface="Calibri"/>
              </a:rPr>
              <a:t>PostgreSQL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15"/>
          <p:cNvSpPr/>
          <p:nvPr/>
        </p:nvSpPr>
        <p:spPr>
          <a:xfrm>
            <a:off x="2208276" y="4709160"/>
            <a:ext cx="2377440" cy="1280160"/>
          </a:xfrm>
          <a:prstGeom prst="roundRect">
            <a:avLst>
              <a:gd fmla="val 5714" name="adj"/>
            </a:avLst>
          </a:prstGeom>
          <a:solidFill>
            <a:srgbClr val="F5F7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2" name="Google Shape;352;p15"/>
          <p:cNvSpPr/>
          <p:nvPr/>
        </p:nvSpPr>
        <p:spPr>
          <a:xfrm>
            <a:off x="3122676" y="4892040"/>
            <a:ext cx="548640" cy="548640"/>
          </a:xfrm>
          <a:prstGeom prst="ellipse">
            <a:avLst/>
          </a:prstGeom>
          <a:solidFill>
            <a:srgbClr val="1E2A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ai-eng-week1/icons/docker.png" id="353" name="Google Shape;353;p1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3254350" y="5023714"/>
            <a:ext cx="285293" cy="285293"/>
          </a:xfrm>
          <a:prstGeom prst="rect">
            <a:avLst/>
          </a:prstGeom>
          <a:noFill/>
          <a:ln>
            <a:noFill/>
          </a:ln>
        </p:spPr>
      </p:pic>
      <p:sp>
        <p:nvSpPr>
          <p:cNvPr id="354" name="Google Shape;354;p15"/>
          <p:cNvSpPr/>
          <p:nvPr/>
        </p:nvSpPr>
        <p:spPr>
          <a:xfrm>
            <a:off x="2299716" y="5577840"/>
            <a:ext cx="21945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A38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E2A38"/>
                </a:solidFill>
                <a:latin typeface="Calibri"/>
                <a:ea typeface="Calibri"/>
                <a:cs typeface="Calibri"/>
                <a:sym typeface="Calibri"/>
              </a:rPr>
              <a:t>Docker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15"/>
          <p:cNvSpPr/>
          <p:nvPr/>
        </p:nvSpPr>
        <p:spPr>
          <a:xfrm>
            <a:off x="4905756" y="4709160"/>
            <a:ext cx="2377440" cy="1280160"/>
          </a:xfrm>
          <a:prstGeom prst="roundRect">
            <a:avLst>
              <a:gd fmla="val 5714" name="adj"/>
            </a:avLst>
          </a:prstGeom>
          <a:solidFill>
            <a:srgbClr val="F5F7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6" name="Google Shape;356;p15"/>
          <p:cNvSpPr/>
          <p:nvPr/>
        </p:nvSpPr>
        <p:spPr>
          <a:xfrm>
            <a:off x="5820156" y="4892040"/>
            <a:ext cx="548640" cy="548640"/>
          </a:xfrm>
          <a:prstGeom prst="ellipse">
            <a:avLst/>
          </a:prstGeom>
          <a:solidFill>
            <a:srgbClr val="1E2A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ai-eng-week1/icons/cubes.png" id="357" name="Google Shape;357;p15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5951830" y="5023714"/>
            <a:ext cx="285293" cy="285293"/>
          </a:xfrm>
          <a:prstGeom prst="rect">
            <a:avLst/>
          </a:prstGeom>
          <a:noFill/>
          <a:ln>
            <a:noFill/>
          </a:ln>
        </p:spPr>
      </p:pic>
      <p:sp>
        <p:nvSpPr>
          <p:cNvPr id="358" name="Google Shape;358;p15"/>
          <p:cNvSpPr/>
          <p:nvPr/>
        </p:nvSpPr>
        <p:spPr>
          <a:xfrm>
            <a:off x="4997196" y="5577840"/>
            <a:ext cx="21945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A38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E2A38"/>
                </a:solidFill>
                <a:latin typeface="Calibri"/>
                <a:ea typeface="Calibri"/>
                <a:cs typeface="Calibri"/>
                <a:sym typeface="Calibri"/>
              </a:rPr>
              <a:t>uv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15"/>
          <p:cNvSpPr/>
          <p:nvPr/>
        </p:nvSpPr>
        <p:spPr>
          <a:xfrm>
            <a:off x="7603236" y="4709160"/>
            <a:ext cx="2377440" cy="1280160"/>
          </a:xfrm>
          <a:prstGeom prst="roundRect">
            <a:avLst>
              <a:gd fmla="val 5714" name="adj"/>
            </a:avLst>
          </a:prstGeom>
          <a:solidFill>
            <a:srgbClr val="F5F7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0" name="Google Shape;360;p15"/>
          <p:cNvSpPr/>
          <p:nvPr/>
        </p:nvSpPr>
        <p:spPr>
          <a:xfrm>
            <a:off x="8517636" y="4892040"/>
            <a:ext cx="548640" cy="548640"/>
          </a:xfrm>
          <a:prstGeom prst="ellipse">
            <a:avLst/>
          </a:prstGeom>
          <a:solidFill>
            <a:srgbClr val="1E2A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ai-eng-week1/icons/render.png" id="361" name="Google Shape;361;p15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8649310" y="5023714"/>
            <a:ext cx="285293" cy="285293"/>
          </a:xfrm>
          <a:prstGeom prst="rect">
            <a:avLst/>
          </a:prstGeom>
          <a:noFill/>
          <a:ln>
            <a:noFill/>
          </a:ln>
        </p:spPr>
      </p:pic>
      <p:sp>
        <p:nvSpPr>
          <p:cNvPr id="362" name="Google Shape;362;p15"/>
          <p:cNvSpPr/>
          <p:nvPr/>
        </p:nvSpPr>
        <p:spPr>
          <a:xfrm>
            <a:off x="7694676" y="5577840"/>
            <a:ext cx="21945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A38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E2A38"/>
                </a:solidFill>
                <a:latin typeface="Calibri"/>
                <a:ea typeface="Calibri"/>
                <a:cs typeface="Calibri"/>
                <a:sym typeface="Calibri"/>
              </a:rPr>
              <a:t>Render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15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AI Engineering · Week 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15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14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16"/>
          <p:cNvSpPr/>
          <p:nvPr/>
        </p:nvSpPr>
        <p:spPr>
          <a:xfrm>
            <a:off x="640080" y="384048"/>
            <a:ext cx="9144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86AB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2E86AB"/>
                </a:solidFill>
                <a:latin typeface="Calibri"/>
                <a:ea typeface="Calibri"/>
                <a:cs typeface="Calibri"/>
                <a:sym typeface="Calibri"/>
              </a:rPr>
              <a:t>THE PROJECT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16"/>
          <p:cNvSpPr/>
          <p:nvPr/>
        </p:nvSpPr>
        <p:spPr>
          <a:xfrm>
            <a:off x="640080" y="685800"/>
            <a:ext cx="107899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A38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1E2A38"/>
                </a:solidFill>
                <a:latin typeface="Cambria"/>
                <a:ea typeface="Cambria"/>
                <a:cs typeface="Cambria"/>
                <a:sym typeface="Cambria"/>
              </a:rPr>
              <a:t>Project Structure &amp; Responsibilities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16"/>
          <p:cNvSpPr/>
          <p:nvPr/>
        </p:nvSpPr>
        <p:spPr>
          <a:xfrm>
            <a:off x="640080" y="1417320"/>
            <a:ext cx="108813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A38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1E2A38"/>
                </a:solidFill>
                <a:latin typeface="Calibri"/>
                <a:ea typeface="Calibri"/>
                <a:cs typeface="Calibri"/>
                <a:sym typeface="Calibri"/>
              </a:rPr>
              <a:t>Every folder in the AI News API has exactly one job: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p16"/>
          <p:cNvSpPr/>
          <p:nvPr/>
        </p:nvSpPr>
        <p:spPr>
          <a:xfrm>
            <a:off x="640080" y="1965960"/>
            <a:ext cx="10908792" cy="3200400"/>
          </a:xfrm>
          <a:prstGeom prst="roundRect">
            <a:avLst>
              <a:gd fmla="val 2286" name="adj"/>
            </a:avLst>
          </a:prstGeom>
          <a:solidFill>
            <a:srgbClr val="141B2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4" name="Google Shape;374;p16"/>
          <p:cNvSpPr/>
          <p:nvPr/>
        </p:nvSpPr>
        <p:spPr>
          <a:xfrm>
            <a:off x="822960" y="2112264"/>
            <a:ext cx="82296" cy="82296"/>
          </a:xfrm>
          <a:prstGeom prst="ellipse">
            <a:avLst/>
          </a:prstGeom>
          <a:solidFill>
            <a:srgbClr val="F2555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5" name="Google Shape;375;p16"/>
          <p:cNvSpPr/>
          <p:nvPr/>
        </p:nvSpPr>
        <p:spPr>
          <a:xfrm>
            <a:off x="987552" y="2112264"/>
            <a:ext cx="82296" cy="82296"/>
          </a:xfrm>
          <a:prstGeom prst="ellipse">
            <a:avLst/>
          </a:prstGeom>
          <a:solidFill>
            <a:srgbClr val="F2C94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6" name="Google Shape;376;p16"/>
          <p:cNvSpPr/>
          <p:nvPr/>
        </p:nvSpPr>
        <p:spPr>
          <a:xfrm>
            <a:off x="1152144" y="2112264"/>
            <a:ext cx="82296" cy="82296"/>
          </a:xfrm>
          <a:prstGeom prst="ellipse">
            <a:avLst/>
          </a:prstGeom>
          <a:solidFill>
            <a:srgbClr val="3DD68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7" name="Google Shape;377;p16"/>
          <p:cNvSpPr/>
          <p:nvPr/>
        </p:nvSpPr>
        <p:spPr>
          <a:xfrm>
            <a:off x="868680" y="2350008"/>
            <a:ext cx="10451592" cy="2697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2A93B"/>
              </a:buClr>
              <a:buSzPts val="1300"/>
              <a:buFont typeface="Courier New"/>
              <a:buNone/>
            </a:pPr>
            <a:r>
              <a:rPr b="0" i="0" lang="en-US" sz="1300" u="none" cap="none" strike="noStrike">
                <a:solidFill>
                  <a:srgbClr val="F2A93B"/>
                </a:solidFill>
                <a:latin typeface="Courier New"/>
                <a:ea typeface="Courier New"/>
                <a:cs typeface="Courier New"/>
                <a:sym typeface="Courier New"/>
              </a:rPr>
              <a:t>ai-news-api/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300"/>
              <a:buFont typeface="Courier New"/>
              <a:buNone/>
            </a:pPr>
            <a:r>
              <a:rPr b="0" i="0" lang="en-US" sz="1300" u="none" cap="none" strike="noStrike">
                <a:solidFill>
                  <a:srgbClr val="E5E7EB"/>
                </a:solidFill>
                <a:latin typeface="Courier New"/>
                <a:ea typeface="Courier New"/>
                <a:cs typeface="Courier New"/>
                <a:sym typeface="Courier New"/>
              </a:rPr>
              <a:t>└── app/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300"/>
              <a:buFont typeface="Courier New"/>
              <a:buNone/>
            </a:pPr>
            <a:r>
              <a:rPr b="0" i="0" lang="en-US" sz="1300" u="none" cap="none" strike="noStrike">
                <a:solidFill>
                  <a:srgbClr val="E5E7EB"/>
                </a:solidFill>
                <a:latin typeface="Courier New"/>
                <a:ea typeface="Courier New"/>
                <a:cs typeface="Courier New"/>
                <a:sym typeface="Courier New"/>
              </a:rPr>
              <a:t>    ├── main.py         # start the API, listen for requests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300"/>
              <a:buFont typeface="Courier New"/>
              <a:buNone/>
            </a:pPr>
            <a:r>
              <a:rPr b="0" i="0" lang="en-US" sz="1300" u="none" cap="none" strike="noStrike">
                <a:solidFill>
                  <a:srgbClr val="E5E7EB"/>
                </a:solidFill>
                <a:latin typeface="Courier New"/>
                <a:ea typeface="Courier New"/>
                <a:cs typeface="Courier New"/>
                <a:sym typeface="Courier New"/>
              </a:rPr>
              <a:t>    ├── pipeline.py     # run the daily news collection pipeline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300"/>
              <a:buFont typeface="Courier New"/>
              <a:buNone/>
            </a:pPr>
            <a:r>
              <a:rPr b="0" i="0" lang="en-US" sz="1300" u="none" cap="none" strike="noStrike">
                <a:solidFill>
                  <a:srgbClr val="E5E7EB"/>
                </a:solidFill>
                <a:latin typeface="Courier New"/>
                <a:ea typeface="Courier New"/>
                <a:cs typeface="Courier New"/>
                <a:sym typeface="Courier New"/>
              </a:rPr>
              <a:t>    ├── api/routes/     # HTTP endpoints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300"/>
              <a:buFont typeface="Courier New"/>
              <a:buNone/>
            </a:pPr>
            <a:r>
              <a:rPr b="0" i="0" lang="en-US" sz="1300" u="none" cap="none" strike="noStrike">
                <a:solidFill>
                  <a:srgbClr val="E5E7EB"/>
                </a:solidFill>
                <a:latin typeface="Courier New"/>
                <a:ea typeface="Courier New"/>
                <a:cs typeface="Courier New"/>
                <a:sym typeface="Courier New"/>
              </a:rPr>
              <a:t>    ├── scrapers/       # retrieve external news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300"/>
              <a:buFont typeface="Courier New"/>
              <a:buNone/>
            </a:pPr>
            <a:r>
              <a:rPr b="0" i="0" lang="en-US" sz="1300" u="none" cap="none" strike="noStrike">
                <a:solidFill>
                  <a:srgbClr val="E5E7EB"/>
                </a:solidFill>
                <a:latin typeface="Courier New"/>
                <a:ea typeface="Courier New"/>
                <a:cs typeface="Courier New"/>
                <a:sym typeface="Courier New"/>
              </a:rPr>
              <a:t>    ├── agents/         # LLM logic: summarize &amp; enrich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300"/>
              <a:buFont typeface="Courier New"/>
              <a:buNone/>
            </a:pPr>
            <a:r>
              <a:rPr b="0" i="0" lang="en-US" sz="1300" u="none" cap="none" strike="noStrike">
                <a:solidFill>
                  <a:srgbClr val="E5E7EB"/>
                </a:solidFill>
                <a:latin typeface="Courier New"/>
                <a:ea typeface="Courier New"/>
                <a:cs typeface="Courier New"/>
                <a:sym typeface="Courier New"/>
              </a:rPr>
              <a:t>    ├── services/       # coordinate ingestion &amp; enrichment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300"/>
              <a:buFont typeface="Courier New"/>
              <a:buNone/>
            </a:pPr>
            <a:r>
              <a:rPr b="0" i="0" lang="en-US" sz="1300" u="none" cap="none" strike="noStrike">
                <a:solidFill>
                  <a:srgbClr val="E5E7EB"/>
                </a:solidFill>
                <a:latin typeface="Courier New"/>
                <a:ea typeface="Courier New"/>
                <a:cs typeface="Courier New"/>
                <a:sym typeface="Courier New"/>
              </a:rPr>
              <a:t>    ├── database/       # connection, models, queries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300"/>
              <a:buFont typeface="Courier New"/>
              <a:buNone/>
            </a:pPr>
            <a:r>
              <a:rPr b="0" i="0" lang="en-US" sz="1300" u="none" cap="none" strike="noStrike">
                <a:solidFill>
                  <a:srgbClr val="E5E7EB"/>
                </a:solidFill>
                <a:latin typeface="Courier New"/>
                <a:ea typeface="Courier New"/>
                <a:cs typeface="Courier New"/>
                <a:sym typeface="Courier New"/>
              </a:rPr>
              <a:t>    └── schemas/        # shared NewsItem format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p16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AI Engineering · Week 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" name="Google Shape;379;p16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15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17"/>
          <p:cNvSpPr/>
          <p:nvPr/>
        </p:nvSpPr>
        <p:spPr>
          <a:xfrm>
            <a:off x="640080" y="384048"/>
            <a:ext cx="9144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86AB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2E86AB"/>
                </a:solidFill>
                <a:latin typeface="Calibri"/>
                <a:ea typeface="Calibri"/>
                <a:cs typeface="Calibri"/>
                <a:sym typeface="Calibri"/>
              </a:rPr>
              <a:t>THE PROJECT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p17"/>
          <p:cNvSpPr/>
          <p:nvPr/>
        </p:nvSpPr>
        <p:spPr>
          <a:xfrm>
            <a:off x="640080" y="685800"/>
            <a:ext cx="107899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A38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1E2A38"/>
                </a:solidFill>
                <a:latin typeface="Cambria"/>
                <a:ea typeface="Cambria"/>
                <a:cs typeface="Cambria"/>
                <a:sym typeface="Cambria"/>
              </a:rPr>
              <a:t>Guiding Principles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" name="Google Shape;387;p17"/>
          <p:cNvSpPr/>
          <p:nvPr/>
        </p:nvSpPr>
        <p:spPr>
          <a:xfrm>
            <a:off x="640080" y="1600200"/>
            <a:ext cx="2103120" cy="2468880"/>
          </a:xfrm>
          <a:prstGeom prst="roundRect">
            <a:avLst>
              <a:gd fmla="val 3478" name="adj"/>
            </a:avLst>
          </a:prstGeom>
          <a:solidFill>
            <a:srgbClr val="F5F7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8" name="Google Shape;388;p17"/>
          <p:cNvSpPr/>
          <p:nvPr/>
        </p:nvSpPr>
        <p:spPr>
          <a:xfrm>
            <a:off x="1371600" y="1920240"/>
            <a:ext cx="640080" cy="640080"/>
          </a:xfrm>
          <a:prstGeom prst="ellipse">
            <a:avLst/>
          </a:prstGeom>
          <a:solidFill>
            <a:srgbClr val="F2A9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ai-eng-week1/icons/check.png" id="389" name="Google Shape;389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31620" y="2080260"/>
            <a:ext cx="320040" cy="320040"/>
          </a:xfrm>
          <a:prstGeom prst="rect">
            <a:avLst/>
          </a:prstGeom>
          <a:noFill/>
          <a:ln>
            <a:noFill/>
          </a:ln>
        </p:spPr>
      </p:pic>
      <p:sp>
        <p:nvSpPr>
          <p:cNvPr id="390" name="Google Shape;390;p17"/>
          <p:cNvSpPr/>
          <p:nvPr/>
        </p:nvSpPr>
        <p:spPr>
          <a:xfrm>
            <a:off x="777240" y="2743200"/>
            <a:ext cx="1828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E2A38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E2A38"/>
                </a:solidFill>
                <a:latin typeface="Calibri"/>
                <a:ea typeface="Calibri"/>
                <a:cs typeface="Calibri"/>
                <a:sym typeface="Calibri"/>
              </a:rPr>
              <a:t>Keep the project simple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1" name="Google Shape;391;p17"/>
          <p:cNvSpPr/>
          <p:nvPr/>
        </p:nvSpPr>
        <p:spPr>
          <a:xfrm>
            <a:off x="2880360" y="1600200"/>
            <a:ext cx="2103120" cy="2468880"/>
          </a:xfrm>
          <a:prstGeom prst="roundRect">
            <a:avLst>
              <a:gd fmla="val 3478" name="adj"/>
            </a:avLst>
          </a:prstGeom>
          <a:solidFill>
            <a:srgbClr val="F5F7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2" name="Google Shape;392;p17"/>
          <p:cNvSpPr/>
          <p:nvPr/>
        </p:nvSpPr>
        <p:spPr>
          <a:xfrm>
            <a:off x="3611880" y="1920240"/>
            <a:ext cx="640080" cy="640080"/>
          </a:xfrm>
          <a:prstGeom prst="ellipse">
            <a:avLst/>
          </a:prstGeom>
          <a:solidFill>
            <a:srgbClr val="F2A9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ai-eng-week1/icons/check.png" id="393" name="Google Shape;393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771900" y="2080260"/>
            <a:ext cx="320040" cy="320040"/>
          </a:xfrm>
          <a:prstGeom prst="rect">
            <a:avLst/>
          </a:prstGeom>
          <a:noFill/>
          <a:ln>
            <a:noFill/>
          </a:ln>
        </p:spPr>
      </p:pic>
      <p:sp>
        <p:nvSpPr>
          <p:cNvPr id="394" name="Google Shape;394;p17"/>
          <p:cNvSpPr/>
          <p:nvPr/>
        </p:nvSpPr>
        <p:spPr>
          <a:xfrm>
            <a:off x="3017520" y="2743200"/>
            <a:ext cx="1828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E2A38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E2A38"/>
                </a:solidFill>
                <a:latin typeface="Calibri"/>
                <a:ea typeface="Calibri"/>
                <a:cs typeface="Calibri"/>
                <a:sym typeface="Calibri"/>
              </a:rPr>
              <a:t>Use one canonical NewsItem schema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" name="Google Shape;395;p17"/>
          <p:cNvSpPr/>
          <p:nvPr/>
        </p:nvSpPr>
        <p:spPr>
          <a:xfrm>
            <a:off x="5120640" y="1600200"/>
            <a:ext cx="2103120" cy="2468880"/>
          </a:xfrm>
          <a:prstGeom prst="roundRect">
            <a:avLst>
              <a:gd fmla="val 3478" name="adj"/>
            </a:avLst>
          </a:prstGeom>
          <a:solidFill>
            <a:srgbClr val="F5F7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6" name="Google Shape;396;p17"/>
          <p:cNvSpPr/>
          <p:nvPr/>
        </p:nvSpPr>
        <p:spPr>
          <a:xfrm>
            <a:off x="5852160" y="1920240"/>
            <a:ext cx="640080" cy="640080"/>
          </a:xfrm>
          <a:prstGeom prst="ellipse">
            <a:avLst/>
          </a:prstGeom>
          <a:solidFill>
            <a:srgbClr val="F2A9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ai-eng-week1/icons/check.png" id="397" name="Google Shape;397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12180" y="2080260"/>
            <a:ext cx="320040" cy="320040"/>
          </a:xfrm>
          <a:prstGeom prst="rect">
            <a:avLst/>
          </a:prstGeom>
          <a:noFill/>
          <a:ln>
            <a:noFill/>
          </a:ln>
        </p:spPr>
      </p:pic>
      <p:sp>
        <p:nvSpPr>
          <p:cNvPr id="398" name="Google Shape;398;p17"/>
          <p:cNvSpPr/>
          <p:nvPr/>
        </p:nvSpPr>
        <p:spPr>
          <a:xfrm>
            <a:off x="5257800" y="2743200"/>
            <a:ext cx="1828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E2A38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E2A38"/>
                </a:solidFill>
                <a:latin typeface="Calibri"/>
                <a:ea typeface="Calibri"/>
                <a:cs typeface="Calibri"/>
                <a:sym typeface="Calibri"/>
              </a:rPr>
              <a:t>Keep scraping, LLM, database, and API logic separate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" name="Google Shape;399;p17"/>
          <p:cNvSpPr/>
          <p:nvPr/>
        </p:nvSpPr>
        <p:spPr>
          <a:xfrm>
            <a:off x="1760220" y="4251960"/>
            <a:ext cx="2103120" cy="2468880"/>
          </a:xfrm>
          <a:prstGeom prst="roundRect">
            <a:avLst>
              <a:gd fmla="val 3478" name="adj"/>
            </a:avLst>
          </a:prstGeom>
          <a:solidFill>
            <a:srgbClr val="F5F7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0" name="Google Shape;400;p17"/>
          <p:cNvSpPr/>
          <p:nvPr/>
        </p:nvSpPr>
        <p:spPr>
          <a:xfrm>
            <a:off x="2491740" y="4572000"/>
            <a:ext cx="640080" cy="640080"/>
          </a:xfrm>
          <a:prstGeom prst="ellipse">
            <a:avLst/>
          </a:prstGeom>
          <a:solidFill>
            <a:srgbClr val="F2A9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ai-eng-week1/icons/check.png" id="401" name="Google Shape;401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51760" y="4732020"/>
            <a:ext cx="320040" cy="320040"/>
          </a:xfrm>
          <a:prstGeom prst="rect">
            <a:avLst/>
          </a:prstGeom>
          <a:noFill/>
          <a:ln>
            <a:noFill/>
          </a:ln>
        </p:spPr>
      </p:pic>
      <p:sp>
        <p:nvSpPr>
          <p:cNvPr id="402" name="Google Shape;402;p17"/>
          <p:cNvSpPr/>
          <p:nvPr/>
        </p:nvSpPr>
        <p:spPr>
          <a:xfrm>
            <a:off x="1897380" y="5394960"/>
            <a:ext cx="1828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E2A38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E2A38"/>
                </a:solidFill>
                <a:latin typeface="Calibri"/>
                <a:ea typeface="Calibri"/>
                <a:cs typeface="Calibri"/>
                <a:sym typeface="Calibri"/>
              </a:rPr>
              <a:t>The API should not scrape news during a request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" name="Google Shape;403;p17"/>
          <p:cNvSpPr/>
          <p:nvPr/>
        </p:nvSpPr>
        <p:spPr>
          <a:xfrm>
            <a:off x="4000500" y="4251960"/>
            <a:ext cx="2103120" cy="2468880"/>
          </a:xfrm>
          <a:prstGeom prst="roundRect">
            <a:avLst>
              <a:gd fmla="val 3478" name="adj"/>
            </a:avLst>
          </a:prstGeom>
          <a:solidFill>
            <a:srgbClr val="F5F7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4" name="Google Shape;404;p17"/>
          <p:cNvSpPr/>
          <p:nvPr/>
        </p:nvSpPr>
        <p:spPr>
          <a:xfrm>
            <a:off x="4732020" y="4572000"/>
            <a:ext cx="640080" cy="640080"/>
          </a:xfrm>
          <a:prstGeom prst="ellipse">
            <a:avLst/>
          </a:prstGeom>
          <a:solidFill>
            <a:srgbClr val="F2A9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ai-eng-week1/icons/check.png" id="405" name="Google Shape;405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92040" y="4732020"/>
            <a:ext cx="320040" cy="320040"/>
          </a:xfrm>
          <a:prstGeom prst="rect">
            <a:avLst/>
          </a:prstGeom>
          <a:noFill/>
          <a:ln>
            <a:noFill/>
          </a:ln>
        </p:spPr>
      </p:pic>
      <p:sp>
        <p:nvSpPr>
          <p:cNvPr id="406" name="Google Shape;406;p17"/>
          <p:cNvSpPr/>
          <p:nvPr/>
        </p:nvSpPr>
        <p:spPr>
          <a:xfrm>
            <a:off x="4137660" y="5394960"/>
            <a:ext cx="1828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E2A38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E2A38"/>
                </a:solidFill>
                <a:latin typeface="Calibri"/>
                <a:ea typeface="Calibri"/>
                <a:cs typeface="Calibri"/>
                <a:sym typeface="Calibri"/>
              </a:rPr>
              <a:t>Build incrementally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" name="Google Shape;407;p17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AI Engineering · Week 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8" name="Google Shape;408;p17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16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p18"/>
          <p:cNvSpPr/>
          <p:nvPr/>
        </p:nvSpPr>
        <p:spPr>
          <a:xfrm>
            <a:off x="640080" y="457200"/>
            <a:ext cx="777240" cy="777240"/>
          </a:xfrm>
          <a:prstGeom prst="ellipse">
            <a:avLst/>
          </a:prstGeom>
          <a:solidFill>
            <a:srgbClr val="F2A9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5" name="Google Shape;415;p18"/>
          <p:cNvSpPr/>
          <p:nvPr/>
        </p:nvSpPr>
        <p:spPr>
          <a:xfrm>
            <a:off x="640080" y="438912"/>
            <a:ext cx="7772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A38"/>
              </a:buClr>
              <a:buSzPts val="2890"/>
              <a:buFont typeface="Cambria"/>
              <a:buNone/>
            </a:pPr>
            <a:r>
              <a:rPr b="1" i="0" lang="en-US" sz="2890" u="none" cap="none" strike="noStrike">
                <a:solidFill>
                  <a:srgbClr val="1E2A38"/>
                </a:solidFill>
                <a:latin typeface="Cambria"/>
                <a:ea typeface="Cambria"/>
                <a:cs typeface="Cambria"/>
                <a:sym typeface="Cambria"/>
              </a:rPr>
              <a:t>0</a:t>
            </a:r>
            <a:endParaRPr b="0" i="0" sz="289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6" name="Google Shape;416;p18"/>
          <p:cNvSpPr/>
          <p:nvPr/>
        </p:nvSpPr>
        <p:spPr>
          <a:xfrm>
            <a:off x="1600200" y="457200"/>
            <a:ext cx="73152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86AB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2E86AB"/>
                </a:solidFill>
                <a:latin typeface="Calibri"/>
                <a:ea typeface="Calibri"/>
                <a:cs typeface="Calibri"/>
                <a:sym typeface="Calibri"/>
              </a:rPr>
              <a:t>PROJECT SETUP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7" name="Google Shape;417;p18"/>
          <p:cNvSpPr/>
          <p:nvPr/>
        </p:nvSpPr>
        <p:spPr>
          <a:xfrm>
            <a:off x="1600200" y="749808"/>
            <a:ext cx="98755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A38"/>
              </a:buClr>
              <a:buSzPts val="2700"/>
              <a:buFont typeface="Cambria"/>
              <a:buNone/>
            </a:pPr>
            <a:r>
              <a:rPr b="1" i="0" lang="en-US" sz="2700" u="none" cap="none" strike="noStrike">
                <a:solidFill>
                  <a:srgbClr val="1E2A38"/>
                </a:solidFill>
                <a:latin typeface="Cambria"/>
                <a:ea typeface="Cambria"/>
                <a:cs typeface="Cambria"/>
                <a:sym typeface="Cambria"/>
              </a:rPr>
              <a:t>Design First — Draw Your Flow Diagram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8" name="Google Shape;418;p18"/>
          <p:cNvSpPr/>
          <p:nvPr/>
        </p:nvSpPr>
        <p:spPr>
          <a:xfrm>
            <a:off x="640080" y="1783080"/>
            <a:ext cx="822960" cy="822960"/>
          </a:xfrm>
          <a:prstGeom prst="ellipse">
            <a:avLst/>
          </a:prstGeom>
          <a:solidFill>
            <a:srgbClr val="1E2A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ai-eng-week1/icons/compass.png" id="419" name="Google Shape;419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5820" y="1988820"/>
            <a:ext cx="411480" cy="411480"/>
          </a:xfrm>
          <a:prstGeom prst="rect">
            <a:avLst/>
          </a:prstGeom>
          <a:noFill/>
          <a:ln>
            <a:noFill/>
          </a:ln>
        </p:spPr>
      </p:pic>
      <p:sp>
        <p:nvSpPr>
          <p:cNvPr id="420" name="Google Shape;420;p18"/>
          <p:cNvSpPr/>
          <p:nvPr/>
        </p:nvSpPr>
        <p:spPr>
          <a:xfrm>
            <a:off x="1600200" y="1783080"/>
            <a:ext cx="987552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E2A38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1E2A38"/>
                </a:solidFill>
                <a:latin typeface="Calibri"/>
                <a:ea typeface="Calibri"/>
                <a:cs typeface="Calibri"/>
                <a:sym typeface="Calibri"/>
              </a:rPr>
              <a:t>Now that you've seen how the AI News API's pieces fit together, do the same for your own idea: before writing any code, sketch your project as an interactive flow diagram — map the pieces and how data moves between them.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1" name="Google Shape;421;p18"/>
          <p:cNvSpPr/>
          <p:nvPr/>
        </p:nvSpPr>
        <p:spPr>
          <a:xfrm>
            <a:off x="1600200" y="3246120"/>
            <a:ext cx="9875520" cy="685800"/>
          </a:xfrm>
          <a:prstGeom prst="roundRect">
            <a:avLst>
              <a:gd fmla="val 10667" name="adj"/>
            </a:avLst>
          </a:prstGeom>
          <a:solidFill>
            <a:srgbClr val="F5F7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2" name="Google Shape;422;p18"/>
          <p:cNvSpPr/>
          <p:nvPr/>
        </p:nvSpPr>
        <p:spPr>
          <a:xfrm>
            <a:off x="1828800" y="3246120"/>
            <a:ext cx="94183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50"/>
              <a:buFont typeface="Calibri"/>
              <a:buNone/>
            </a:pPr>
            <a:r>
              <a:rPr b="0" i="1" lang="en-US" sz="125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Tip: tools like Excalidraw or FigJam work well for this — and Claude can help you talk through the design out loud.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3" name="Google Shape;423;p18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AI Engineering · Week 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4" name="Google Shape;424;p18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17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p19"/>
          <p:cNvSpPr/>
          <p:nvPr/>
        </p:nvSpPr>
        <p:spPr>
          <a:xfrm>
            <a:off x="640080" y="457200"/>
            <a:ext cx="777240" cy="777240"/>
          </a:xfrm>
          <a:prstGeom prst="ellipse">
            <a:avLst/>
          </a:prstGeom>
          <a:solidFill>
            <a:srgbClr val="F2A9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1" name="Google Shape;431;p19"/>
          <p:cNvSpPr/>
          <p:nvPr/>
        </p:nvSpPr>
        <p:spPr>
          <a:xfrm>
            <a:off x="640080" y="438912"/>
            <a:ext cx="7772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A38"/>
              </a:buClr>
              <a:buSzPts val="2890"/>
              <a:buFont typeface="Cambria"/>
              <a:buNone/>
            </a:pPr>
            <a:r>
              <a:rPr b="1" i="0" lang="en-US" sz="2890" u="none" cap="none" strike="noStrike">
                <a:solidFill>
                  <a:srgbClr val="1E2A38"/>
                </a:solidFill>
                <a:latin typeface="Cambria"/>
                <a:ea typeface="Cambria"/>
                <a:cs typeface="Cambria"/>
                <a:sym typeface="Cambria"/>
              </a:rPr>
              <a:t>1</a:t>
            </a:r>
            <a:endParaRPr b="0" i="0" sz="289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2" name="Google Shape;432;p19"/>
          <p:cNvSpPr/>
          <p:nvPr/>
        </p:nvSpPr>
        <p:spPr>
          <a:xfrm>
            <a:off x="1600200" y="457200"/>
            <a:ext cx="73152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86AB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2E86AB"/>
                </a:solidFill>
                <a:latin typeface="Calibri"/>
                <a:ea typeface="Calibri"/>
                <a:cs typeface="Calibri"/>
                <a:sym typeface="Calibri"/>
              </a:rPr>
              <a:t>PROJECT SETUP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3" name="Google Shape;433;p19"/>
          <p:cNvSpPr/>
          <p:nvPr/>
        </p:nvSpPr>
        <p:spPr>
          <a:xfrm>
            <a:off x="1600200" y="749808"/>
            <a:ext cx="98755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A38"/>
              </a:buClr>
              <a:buSzPts val="2700"/>
              <a:buFont typeface="Cambria"/>
              <a:buNone/>
            </a:pPr>
            <a:r>
              <a:rPr b="1" i="0" lang="en-US" sz="2700" u="none" cap="none" strike="noStrike">
                <a:solidFill>
                  <a:srgbClr val="1E2A38"/>
                </a:solidFill>
                <a:latin typeface="Cambria"/>
                <a:ea typeface="Cambria"/>
                <a:cs typeface="Cambria"/>
                <a:sym typeface="Cambria"/>
              </a:rPr>
              <a:t>Install Python &amp; Git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4" name="Google Shape;434;p19"/>
          <p:cNvSpPr/>
          <p:nvPr/>
        </p:nvSpPr>
        <p:spPr>
          <a:xfrm>
            <a:off x="640080" y="1783080"/>
            <a:ext cx="822960" cy="822960"/>
          </a:xfrm>
          <a:prstGeom prst="ellipse">
            <a:avLst/>
          </a:prstGeom>
          <a:solidFill>
            <a:srgbClr val="1E2A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ai-eng-week1/icons/python.png" id="435" name="Google Shape;435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5820" y="1988820"/>
            <a:ext cx="411480" cy="411480"/>
          </a:xfrm>
          <a:prstGeom prst="rect">
            <a:avLst/>
          </a:prstGeom>
          <a:noFill/>
          <a:ln>
            <a:noFill/>
          </a:ln>
        </p:spPr>
      </p:pic>
      <p:sp>
        <p:nvSpPr>
          <p:cNvPr id="436" name="Google Shape;436;p19"/>
          <p:cNvSpPr/>
          <p:nvPr/>
        </p:nvSpPr>
        <p:spPr>
          <a:xfrm>
            <a:off x="1600200" y="1783080"/>
            <a:ext cx="987552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E2A38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1E2A38"/>
                </a:solidFill>
                <a:latin typeface="Calibri"/>
                <a:ea typeface="Calibri"/>
                <a:cs typeface="Calibri"/>
                <a:sym typeface="Calibri"/>
              </a:rPr>
              <a:t>Install Python 3.10+ and Git — the two foundational tools every project in this course builds on.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7" name="Google Shape;437;p19"/>
          <p:cNvSpPr/>
          <p:nvPr/>
        </p:nvSpPr>
        <p:spPr>
          <a:xfrm>
            <a:off x="1600200" y="3246120"/>
            <a:ext cx="9875520" cy="1371600"/>
          </a:xfrm>
          <a:prstGeom prst="roundRect">
            <a:avLst>
              <a:gd fmla="val 5333" name="adj"/>
            </a:avLst>
          </a:prstGeom>
          <a:solidFill>
            <a:srgbClr val="141B2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8" name="Google Shape;438;p19"/>
          <p:cNvSpPr/>
          <p:nvPr/>
        </p:nvSpPr>
        <p:spPr>
          <a:xfrm>
            <a:off x="1783080" y="3392424"/>
            <a:ext cx="82296" cy="82296"/>
          </a:xfrm>
          <a:prstGeom prst="ellipse">
            <a:avLst/>
          </a:prstGeom>
          <a:solidFill>
            <a:srgbClr val="F2555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9" name="Google Shape;439;p19"/>
          <p:cNvSpPr/>
          <p:nvPr/>
        </p:nvSpPr>
        <p:spPr>
          <a:xfrm>
            <a:off x="1947672" y="3392424"/>
            <a:ext cx="82296" cy="82296"/>
          </a:xfrm>
          <a:prstGeom prst="ellipse">
            <a:avLst/>
          </a:prstGeom>
          <a:solidFill>
            <a:srgbClr val="F2C94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0" name="Google Shape;440;p19"/>
          <p:cNvSpPr/>
          <p:nvPr/>
        </p:nvSpPr>
        <p:spPr>
          <a:xfrm>
            <a:off x="2112264" y="3392424"/>
            <a:ext cx="82296" cy="82296"/>
          </a:xfrm>
          <a:prstGeom prst="ellipse">
            <a:avLst/>
          </a:prstGeom>
          <a:solidFill>
            <a:srgbClr val="3DD68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1" name="Google Shape;441;p19"/>
          <p:cNvSpPr/>
          <p:nvPr/>
        </p:nvSpPr>
        <p:spPr>
          <a:xfrm>
            <a:off x="1828800" y="3630168"/>
            <a:ext cx="9418320" cy="868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2A93B"/>
              </a:buClr>
              <a:buSzPts val="1300"/>
              <a:buFont typeface="Courier New"/>
              <a:buNone/>
            </a:pPr>
            <a:r>
              <a:rPr b="0" i="0" lang="en-US" sz="1300" u="none" cap="none" strike="noStrike">
                <a:solidFill>
                  <a:srgbClr val="F2A93B"/>
                </a:solidFill>
                <a:latin typeface="Courier New"/>
                <a:ea typeface="Courier New"/>
                <a:cs typeface="Courier New"/>
                <a:sym typeface="Courier New"/>
              </a:rPr>
              <a:t>$ python3 --version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2A93B"/>
              </a:buClr>
              <a:buSzPts val="1300"/>
              <a:buFont typeface="Courier New"/>
              <a:buNone/>
            </a:pPr>
            <a:r>
              <a:rPr b="0" i="0" lang="en-US" sz="1300" u="none" cap="none" strike="noStrike">
                <a:solidFill>
                  <a:srgbClr val="F2A93B"/>
                </a:solidFill>
                <a:latin typeface="Courier New"/>
                <a:ea typeface="Courier New"/>
                <a:cs typeface="Courier New"/>
                <a:sym typeface="Courier New"/>
              </a:rPr>
              <a:t>$ git --version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2" name="Google Shape;442;p19"/>
          <p:cNvSpPr/>
          <p:nvPr/>
        </p:nvSpPr>
        <p:spPr>
          <a:xfrm>
            <a:off x="1600200" y="4937760"/>
            <a:ext cx="47091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86AB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2E86AB"/>
                </a:solidFill>
                <a:latin typeface="Calibri"/>
                <a:ea typeface="Calibri"/>
                <a:cs typeface="Calibri"/>
                <a:sym typeface="Calibri"/>
              </a:rPr>
              <a:t>PYTHON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3" name="Google Shape;443;p19"/>
          <p:cNvSpPr/>
          <p:nvPr/>
        </p:nvSpPr>
        <p:spPr>
          <a:xfrm>
            <a:off x="1600200" y="5230368"/>
            <a:ext cx="4709160" cy="6766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E86AB"/>
              </a:buClr>
              <a:buSzPts val="1200"/>
              <a:buFont typeface="Calibri"/>
              <a:buChar char="→"/>
            </a:pPr>
            <a:r>
              <a:rPr b="0" i="0" lang="en-US" sz="1200" u="sng" cap="none" strike="noStrike">
                <a:solidFill>
                  <a:srgbClr val="2E86AB"/>
                </a:solidFill>
                <a:latin typeface="Calibri"/>
                <a:ea typeface="Calibri"/>
                <a:cs typeface="Calibri"/>
                <a:sym typeface="Calibri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Python Downloads Page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Clr>
                <a:srgbClr val="2E86AB"/>
              </a:buClr>
              <a:buSzPts val="1200"/>
              <a:buFont typeface="Calibri"/>
              <a:buChar char="→"/>
            </a:pPr>
            <a:r>
              <a:rPr b="0" i="0" lang="en-US" sz="1200" u="sng" cap="none" strike="noStrike">
                <a:solidFill>
                  <a:srgbClr val="2E86AB"/>
                </a:solidFill>
                <a:latin typeface="Calibri"/>
                <a:ea typeface="Calibri"/>
                <a:cs typeface="Calibri"/>
                <a:sym typeface="Calibri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Official Installation Guide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4" name="Google Shape;444;p19"/>
          <p:cNvSpPr/>
          <p:nvPr/>
        </p:nvSpPr>
        <p:spPr>
          <a:xfrm>
            <a:off x="6766560" y="4937760"/>
            <a:ext cx="47091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86AB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2E86AB"/>
                </a:solidFill>
                <a:latin typeface="Calibri"/>
                <a:ea typeface="Calibri"/>
                <a:cs typeface="Calibri"/>
                <a:sym typeface="Calibri"/>
              </a:rPr>
              <a:t>GIT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5" name="Google Shape;445;p19"/>
          <p:cNvSpPr/>
          <p:nvPr/>
        </p:nvSpPr>
        <p:spPr>
          <a:xfrm>
            <a:off x="6766560" y="5230368"/>
            <a:ext cx="4709160" cy="6766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E86AB"/>
              </a:buClr>
              <a:buSzPts val="1200"/>
              <a:buFont typeface="Calibri"/>
              <a:buChar char="→"/>
            </a:pPr>
            <a:r>
              <a:rPr b="0" i="0" lang="en-US" sz="1200" u="sng" cap="none" strike="noStrike">
                <a:solidFill>
                  <a:srgbClr val="2E86AB"/>
                </a:solidFill>
                <a:latin typeface="Calibri"/>
                <a:ea typeface="Calibri"/>
                <a:cs typeface="Calibri"/>
                <a:sym typeface="Calibri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Git Downloads Page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Clr>
                <a:srgbClr val="2E86AB"/>
              </a:buClr>
              <a:buSzPts val="1200"/>
              <a:buFont typeface="Calibri"/>
              <a:buChar char="→"/>
            </a:pPr>
            <a:r>
              <a:rPr b="0" i="0" lang="en-US" sz="1200" u="sng" cap="none" strike="noStrike">
                <a:solidFill>
                  <a:srgbClr val="2E86AB"/>
                </a:solidFill>
                <a:latin typeface="Calibri"/>
                <a:ea typeface="Calibri"/>
                <a:cs typeface="Calibri"/>
                <a:sym typeface="Calibri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Git Installation Guide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6" name="Google Shape;446;p19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AI Engineering · Week 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7" name="Google Shape;447;p19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18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52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p20"/>
          <p:cNvSpPr/>
          <p:nvPr/>
        </p:nvSpPr>
        <p:spPr>
          <a:xfrm>
            <a:off x="640080" y="457200"/>
            <a:ext cx="777240" cy="777240"/>
          </a:xfrm>
          <a:prstGeom prst="ellipse">
            <a:avLst/>
          </a:prstGeom>
          <a:solidFill>
            <a:srgbClr val="F2A9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ai-eng-week1/icons/wand.png" id="454" name="Google Shape;454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4390" y="651510"/>
            <a:ext cx="388620" cy="388620"/>
          </a:xfrm>
          <a:prstGeom prst="rect">
            <a:avLst/>
          </a:prstGeom>
          <a:noFill/>
          <a:ln>
            <a:noFill/>
          </a:ln>
        </p:spPr>
      </p:pic>
      <p:sp>
        <p:nvSpPr>
          <p:cNvPr id="455" name="Google Shape;455;p20"/>
          <p:cNvSpPr/>
          <p:nvPr/>
        </p:nvSpPr>
        <p:spPr>
          <a:xfrm>
            <a:off x="1600200" y="457200"/>
            <a:ext cx="73152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86AB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2E86AB"/>
                </a:solidFill>
                <a:latin typeface="Calibri"/>
                <a:ea typeface="Calibri"/>
                <a:cs typeface="Calibri"/>
                <a:sym typeface="Calibri"/>
              </a:rPr>
              <a:t>PROJECT SETUP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6" name="Google Shape;456;p20"/>
          <p:cNvSpPr/>
          <p:nvPr/>
        </p:nvSpPr>
        <p:spPr>
          <a:xfrm>
            <a:off x="1600200" y="786384"/>
            <a:ext cx="2743200" cy="310896"/>
          </a:xfrm>
          <a:prstGeom prst="roundRect">
            <a:avLst>
              <a:gd fmla="val 50000" name="adj"/>
            </a:avLst>
          </a:prstGeom>
          <a:solidFill>
            <a:srgbClr val="FDF1DC"/>
          </a:solidFill>
          <a:ln cap="flat" cmpd="sng" w="12700">
            <a:solidFill>
              <a:srgbClr val="F2A9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7" name="Google Shape;457;p20"/>
          <p:cNvSpPr/>
          <p:nvPr/>
        </p:nvSpPr>
        <p:spPr>
          <a:xfrm>
            <a:off x="1600200" y="786384"/>
            <a:ext cx="27432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5750A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B5750A"/>
                </a:solidFill>
                <a:latin typeface="Calibri"/>
                <a:ea typeface="Calibri"/>
                <a:cs typeface="Calibri"/>
                <a:sym typeface="Calibri"/>
              </a:rPr>
              <a:t>RECOMMENDED TOOLING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8" name="Google Shape;458;p20"/>
          <p:cNvSpPr/>
          <p:nvPr/>
        </p:nvSpPr>
        <p:spPr>
          <a:xfrm>
            <a:off x="1600200" y="1115568"/>
            <a:ext cx="98755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A38"/>
              </a:buClr>
              <a:buSzPts val="2700"/>
              <a:buFont typeface="Cambria"/>
              <a:buNone/>
            </a:pPr>
            <a:r>
              <a:rPr b="1" i="0" lang="en-US" sz="2700" u="none" cap="none" strike="noStrike">
                <a:solidFill>
                  <a:srgbClr val="1E2A38"/>
                </a:solidFill>
                <a:latin typeface="Cambria"/>
                <a:ea typeface="Cambria"/>
                <a:cs typeface="Cambria"/>
                <a:sym typeface="Cambria"/>
              </a:rPr>
              <a:t>Set Up Your IDE: Cursor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9" name="Google Shape;459;p20"/>
          <p:cNvSpPr/>
          <p:nvPr/>
        </p:nvSpPr>
        <p:spPr>
          <a:xfrm>
            <a:off x="1600200" y="1874520"/>
            <a:ext cx="9875520" cy="1234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E2A38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1E2A38"/>
                </a:solidFill>
                <a:latin typeface="Calibri"/>
                <a:ea typeface="Calibri"/>
                <a:cs typeface="Calibri"/>
                <a:sym typeface="Calibri"/>
              </a:rPr>
              <a:t>Cursor is a VS Code–based editor built for AI-assisted coding: intelligent autocomplete, refactoring suggestions, and contextual help are built directly into your workflow. Many engineers find that tools like this meaningfully speed up day-to-day development — it's worth a session to get comfortable with it.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0" name="Google Shape;460;p20"/>
          <p:cNvSpPr/>
          <p:nvPr/>
        </p:nvSpPr>
        <p:spPr>
          <a:xfrm>
            <a:off x="1600200" y="3246120"/>
            <a:ext cx="98755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86AB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2E86AB"/>
                </a:solidFill>
                <a:latin typeface="Calibri"/>
                <a:ea typeface="Calibri"/>
                <a:cs typeface="Calibri"/>
                <a:sym typeface="Calibri"/>
              </a:rPr>
              <a:t>SETUP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1" name="Google Shape;461;p20"/>
          <p:cNvSpPr/>
          <p:nvPr/>
        </p:nvSpPr>
        <p:spPr>
          <a:xfrm>
            <a:off x="1600200" y="3538728"/>
            <a:ext cx="9875520" cy="9692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E86AB"/>
              </a:buClr>
              <a:buSzPts val="1200"/>
              <a:buFont typeface="Calibri"/>
              <a:buChar char="→"/>
            </a:pPr>
            <a:r>
              <a:rPr b="0" i="0" lang="en-US" sz="1200" u="sng" cap="none" strike="noStrike">
                <a:solidFill>
                  <a:srgbClr val="2E86AB"/>
                </a:solidFill>
                <a:latin typeface="Calibri"/>
                <a:ea typeface="Calibri"/>
                <a:cs typeface="Calibri"/>
                <a:sym typeface="Calibri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Cursor Download Page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Clr>
                <a:srgbClr val="2E86AB"/>
              </a:buClr>
              <a:buSzPts val="1200"/>
              <a:buFont typeface="Calibri"/>
              <a:buChar char="→"/>
            </a:pPr>
            <a:r>
              <a:rPr b="0" i="0" lang="en-US" sz="1200" u="sng" cap="none" strike="noStrike">
                <a:solidFill>
                  <a:srgbClr val="2E86AB"/>
                </a:solidFill>
                <a:latin typeface="Calibri"/>
                <a:ea typeface="Calibri"/>
                <a:cs typeface="Calibri"/>
                <a:sym typeface="Calibri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Video: How I Set Up VS Code for AI Projects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Clr>
                <a:srgbClr val="2E86AB"/>
              </a:buClr>
              <a:buSzPts val="1200"/>
              <a:buFont typeface="Calibri"/>
              <a:buChar char="→"/>
            </a:pPr>
            <a:r>
              <a:rPr b="0" i="0" lang="en-US" sz="1200" u="sng" cap="none" strike="noStrike">
                <a:solidFill>
                  <a:srgbClr val="2E86AB"/>
                </a:solidFill>
                <a:latin typeface="Calibri"/>
                <a:ea typeface="Calibri"/>
                <a:cs typeface="Calibri"/>
                <a:sym typeface="Calibri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Video: How to Work With Cursor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2" name="Google Shape;462;p20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AI Engineering · Week 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3" name="Google Shape;463;p20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19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68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p21"/>
          <p:cNvSpPr/>
          <p:nvPr/>
        </p:nvSpPr>
        <p:spPr>
          <a:xfrm>
            <a:off x="640080" y="457200"/>
            <a:ext cx="777240" cy="777240"/>
          </a:xfrm>
          <a:prstGeom prst="ellipse">
            <a:avLst/>
          </a:prstGeom>
          <a:solidFill>
            <a:srgbClr val="F2A9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0" name="Google Shape;470;p21"/>
          <p:cNvSpPr/>
          <p:nvPr/>
        </p:nvSpPr>
        <p:spPr>
          <a:xfrm>
            <a:off x="640080" y="438912"/>
            <a:ext cx="7772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A38"/>
              </a:buClr>
              <a:buSzPts val="2890"/>
              <a:buFont typeface="Cambria"/>
              <a:buNone/>
            </a:pPr>
            <a:r>
              <a:rPr b="1" i="0" lang="en-US" sz="2890" u="none" cap="none" strike="noStrike">
                <a:solidFill>
                  <a:srgbClr val="1E2A38"/>
                </a:solidFill>
                <a:latin typeface="Cambria"/>
                <a:ea typeface="Cambria"/>
                <a:cs typeface="Cambria"/>
                <a:sym typeface="Cambria"/>
              </a:rPr>
              <a:t>2</a:t>
            </a:r>
            <a:endParaRPr b="0" i="0" sz="289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1" name="Google Shape;471;p21"/>
          <p:cNvSpPr/>
          <p:nvPr/>
        </p:nvSpPr>
        <p:spPr>
          <a:xfrm>
            <a:off x="1600200" y="457200"/>
            <a:ext cx="73152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86AB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2E86AB"/>
                </a:solidFill>
                <a:latin typeface="Calibri"/>
                <a:ea typeface="Calibri"/>
                <a:cs typeface="Calibri"/>
                <a:sym typeface="Calibri"/>
              </a:rPr>
              <a:t>PROJECT SETUP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2" name="Google Shape;472;p21"/>
          <p:cNvSpPr/>
          <p:nvPr/>
        </p:nvSpPr>
        <p:spPr>
          <a:xfrm>
            <a:off x="1600200" y="749808"/>
            <a:ext cx="98755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A38"/>
              </a:buClr>
              <a:buSzPts val="2700"/>
              <a:buFont typeface="Cambria"/>
              <a:buNone/>
            </a:pPr>
            <a:r>
              <a:rPr b="1" i="0" lang="en-US" sz="2700" u="none" cap="none" strike="noStrike">
                <a:solidFill>
                  <a:srgbClr val="1E2A38"/>
                </a:solidFill>
                <a:latin typeface="Cambria"/>
                <a:ea typeface="Cambria"/>
                <a:cs typeface="Cambria"/>
                <a:sym typeface="Cambria"/>
              </a:rPr>
              <a:t>Install Packages: uv &amp; Docker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3" name="Google Shape;473;p21"/>
          <p:cNvSpPr/>
          <p:nvPr/>
        </p:nvSpPr>
        <p:spPr>
          <a:xfrm>
            <a:off x="640080" y="1783080"/>
            <a:ext cx="822960" cy="822960"/>
          </a:xfrm>
          <a:prstGeom prst="ellipse">
            <a:avLst/>
          </a:prstGeom>
          <a:solidFill>
            <a:srgbClr val="1E2A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ai-eng-week1/icons/cubes.png" id="474" name="Google Shape;474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5820" y="1988820"/>
            <a:ext cx="411480" cy="411480"/>
          </a:xfrm>
          <a:prstGeom prst="rect">
            <a:avLst/>
          </a:prstGeom>
          <a:noFill/>
          <a:ln>
            <a:noFill/>
          </a:ln>
        </p:spPr>
      </p:pic>
      <p:sp>
        <p:nvSpPr>
          <p:cNvPr id="475" name="Google Shape;475;p21"/>
          <p:cNvSpPr/>
          <p:nvPr/>
        </p:nvSpPr>
        <p:spPr>
          <a:xfrm>
            <a:off x="1600200" y="1783080"/>
            <a:ext cx="987552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E2A38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1E2A38"/>
                </a:solidFill>
                <a:latin typeface="Calibri"/>
                <a:ea typeface="Calibri"/>
                <a:cs typeface="Calibri"/>
                <a:sym typeface="Calibri"/>
              </a:rPr>
              <a:t>uv is a fast Python package and dependency manager. Docker lets us containerize the app so it runs the same way on every machine.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6" name="Google Shape;476;p21"/>
          <p:cNvSpPr/>
          <p:nvPr/>
        </p:nvSpPr>
        <p:spPr>
          <a:xfrm>
            <a:off x="1600200" y="3246120"/>
            <a:ext cx="9875520" cy="1737360"/>
          </a:xfrm>
          <a:prstGeom prst="roundRect">
            <a:avLst>
              <a:gd fmla="val 4211" name="adj"/>
            </a:avLst>
          </a:prstGeom>
          <a:solidFill>
            <a:srgbClr val="141B2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7" name="Google Shape;477;p21"/>
          <p:cNvSpPr/>
          <p:nvPr/>
        </p:nvSpPr>
        <p:spPr>
          <a:xfrm>
            <a:off x="1783080" y="3392424"/>
            <a:ext cx="82296" cy="82296"/>
          </a:xfrm>
          <a:prstGeom prst="ellipse">
            <a:avLst/>
          </a:prstGeom>
          <a:solidFill>
            <a:srgbClr val="F2555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8" name="Google Shape;478;p21"/>
          <p:cNvSpPr/>
          <p:nvPr/>
        </p:nvSpPr>
        <p:spPr>
          <a:xfrm>
            <a:off x="1947672" y="3392424"/>
            <a:ext cx="82296" cy="82296"/>
          </a:xfrm>
          <a:prstGeom prst="ellipse">
            <a:avLst/>
          </a:prstGeom>
          <a:solidFill>
            <a:srgbClr val="F2C94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9" name="Google Shape;479;p21"/>
          <p:cNvSpPr/>
          <p:nvPr/>
        </p:nvSpPr>
        <p:spPr>
          <a:xfrm>
            <a:off x="2112264" y="3392424"/>
            <a:ext cx="82296" cy="82296"/>
          </a:xfrm>
          <a:prstGeom prst="ellipse">
            <a:avLst/>
          </a:prstGeom>
          <a:solidFill>
            <a:srgbClr val="3DD68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0" name="Google Shape;480;p21"/>
          <p:cNvSpPr/>
          <p:nvPr/>
        </p:nvSpPr>
        <p:spPr>
          <a:xfrm>
            <a:off x="1828800" y="3630168"/>
            <a:ext cx="9418320" cy="12344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300"/>
              <a:buFont typeface="Courier New"/>
              <a:buNone/>
            </a:pPr>
            <a:r>
              <a:rPr b="0" i="0" lang="en-US" sz="1300" u="none" cap="none" strike="noStrike">
                <a:solidFill>
                  <a:srgbClr val="E5E7EB"/>
                </a:solidFill>
                <a:latin typeface="Courier New"/>
                <a:ea typeface="Courier New"/>
                <a:cs typeface="Courier New"/>
                <a:sym typeface="Courier New"/>
              </a:rPr>
              <a:t># install uv (see official docs for your OS)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2A93B"/>
              </a:buClr>
              <a:buSzPts val="1300"/>
              <a:buFont typeface="Courier New"/>
              <a:buNone/>
            </a:pPr>
            <a:r>
              <a:rPr b="0" i="0" lang="en-US" sz="1300" u="none" cap="none" strike="noStrike">
                <a:solidFill>
                  <a:srgbClr val="F2A93B"/>
                </a:solidFill>
                <a:latin typeface="Courier New"/>
                <a:ea typeface="Courier New"/>
                <a:cs typeface="Courier New"/>
                <a:sym typeface="Courier New"/>
              </a:rPr>
              <a:t>$ curl -LsSf https://astral.sh/uv/install.sh | sh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300"/>
              <a:buFont typeface="Courier New"/>
              <a:buNone/>
            </a:pPr>
            <a:r>
              <a:rPr b="0" i="0" lang="en-US" sz="1300" u="none" cap="none" strike="noStrike">
                <a:solidFill>
                  <a:srgbClr val="E5E7EB"/>
                </a:solidFill>
                <a:latin typeface="Courier New"/>
                <a:ea typeface="Courier New"/>
                <a:cs typeface="Courier New"/>
                <a:sym typeface="Courier New"/>
              </a:rPr>
              <a:t># install Docker Desktop from docker.com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1" name="Google Shape;481;p21"/>
          <p:cNvSpPr/>
          <p:nvPr/>
        </p:nvSpPr>
        <p:spPr>
          <a:xfrm>
            <a:off x="1600200" y="5303520"/>
            <a:ext cx="98755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86AB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2E86AB"/>
                </a:solidFill>
                <a:latin typeface="Calibri"/>
                <a:ea typeface="Calibri"/>
                <a:cs typeface="Calibri"/>
                <a:sym typeface="Calibri"/>
              </a:rPr>
              <a:t>UV PACKAGE MANAGER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2" name="Google Shape;482;p21"/>
          <p:cNvSpPr/>
          <p:nvPr/>
        </p:nvSpPr>
        <p:spPr>
          <a:xfrm>
            <a:off x="1600200" y="5596128"/>
            <a:ext cx="98755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E86AB"/>
              </a:buClr>
              <a:buSzPts val="1200"/>
              <a:buFont typeface="Calibri"/>
              <a:buChar char="→"/>
            </a:pPr>
            <a:r>
              <a:rPr b="0" i="0" lang="en-US" sz="1200" u="sng" cap="none" strike="noStrike">
                <a:solidFill>
                  <a:srgbClr val="2E86AB"/>
                </a:solidFill>
                <a:latin typeface="Calibri"/>
                <a:ea typeface="Calibri"/>
                <a:cs typeface="Calibri"/>
                <a:sym typeface="Calibri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Getting Started with uv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3" name="Google Shape;483;p21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AI Engineering · Week 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4" name="Google Shape;484;p21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20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89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Google Shape;490;p22"/>
          <p:cNvSpPr/>
          <p:nvPr/>
        </p:nvSpPr>
        <p:spPr>
          <a:xfrm>
            <a:off x="640080" y="457200"/>
            <a:ext cx="777240" cy="777240"/>
          </a:xfrm>
          <a:prstGeom prst="ellipse">
            <a:avLst/>
          </a:prstGeom>
          <a:solidFill>
            <a:srgbClr val="F2A9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ai-eng-week1/icons/broom.png" id="491" name="Google Shape;491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4390" y="651510"/>
            <a:ext cx="388620" cy="388620"/>
          </a:xfrm>
          <a:prstGeom prst="rect">
            <a:avLst/>
          </a:prstGeom>
          <a:noFill/>
          <a:ln>
            <a:noFill/>
          </a:ln>
        </p:spPr>
      </p:pic>
      <p:sp>
        <p:nvSpPr>
          <p:cNvPr id="492" name="Google Shape;492;p22"/>
          <p:cNvSpPr/>
          <p:nvPr/>
        </p:nvSpPr>
        <p:spPr>
          <a:xfrm>
            <a:off x="1600200" y="457200"/>
            <a:ext cx="73152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86AB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2E86AB"/>
                </a:solidFill>
                <a:latin typeface="Calibri"/>
                <a:ea typeface="Calibri"/>
                <a:cs typeface="Calibri"/>
                <a:sym typeface="Calibri"/>
              </a:rPr>
              <a:t>PROJECT SETUP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3" name="Google Shape;493;p22"/>
          <p:cNvSpPr/>
          <p:nvPr/>
        </p:nvSpPr>
        <p:spPr>
          <a:xfrm>
            <a:off x="1600200" y="786384"/>
            <a:ext cx="2743200" cy="310896"/>
          </a:xfrm>
          <a:prstGeom prst="roundRect">
            <a:avLst>
              <a:gd fmla="val 50000" name="adj"/>
            </a:avLst>
          </a:prstGeom>
          <a:solidFill>
            <a:srgbClr val="FDF1DC"/>
          </a:solidFill>
          <a:ln cap="flat" cmpd="sng" w="12700">
            <a:solidFill>
              <a:srgbClr val="F2A9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4" name="Google Shape;494;p22"/>
          <p:cNvSpPr/>
          <p:nvPr/>
        </p:nvSpPr>
        <p:spPr>
          <a:xfrm>
            <a:off x="1600200" y="786384"/>
            <a:ext cx="27432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5750A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B5750A"/>
                </a:solidFill>
                <a:latin typeface="Calibri"/>
                <a:ea typeface="Calibri"/>
                <a:cs typeface="Calibri"/>
                <a:sym typeface="Calibri"/>
              </a:rPr>
              <a:t>RECOMMENDED TOOLING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5" name="Google Shape;495;p22"/>
          <p:cNvSpPr/>
          <p:nvPr/>
        </p:nvSpPr>
        <p:spPr>
          <a:xfrm>
            <a:off x="1600200" y="1115568"/>
            <a:ext cx="98755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A38"/>
              </a:buClr>
              <a:buSzPts val="2700"/>
              <a:buFont typeface="Cambria"/>
              <a:buNone/>
            </a:pPr>
            <a:r>
              <a:rPr b="1" i="0" lang="en-US" sz="2700" u="none" cap="none" strike="noStrike">
                <a:solidFill>
                  <a:srgbClr val="1E2A38"/>
                </a:solidFill>
                <a:latin typeface="Cambria"/>
                <a:ea typeface="Cambria"/>
                <a:cs typeface="Cambria"/>
                <a:sym typeface="Cambria"/>
              </a:rPr>
              <a:t>Ruff — Linter &amp; Formatter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6" name="Google Shape;496;p22"/>
          <p:cNvSpPr/>
          <p:nvPr/>
        </p:nvSpPr>
        <p:spPr>
          <a:xfrm>
            <a:off x="1600200" y="1874520"/>
            <a:ext cx="9875520" cy="1234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E2A38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1E2A38"/>
                </a:solidFill>
                <a:latin typeface="Calibri"/>
                <a:ea typeface="Calibri"/>
                <a:cs typeface="Calibri"/>
                <a:sym typeface="Calibri"/>
              </a:rPr>
              <a:t>Ruff is an extremely fast Python linter and formatter written in Rust. It combines the functionality of multiple tools — flake8, black, isort, and more — into a single, high-performance package, and can auto-fix many issues for you.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7" name="Google Shape;497;p22"/>
          <p:cNvSpPr/>
          <p:nvPr/>
        </p:nvSpPr>
        <p:spPr>
          <a:xfrm>
            <a:off x="1600200" y="3246120"/>
            <a:ext cx="9875520" cy="1600200"/>
          </a:xfrm>
          <a:prstGeom prst="roundRect">
            <a:avLst>
              <a:gd fmla="val 4571" name="adj"/>
            </a:avLst>
          </a:prstGeom>
          <a:solidFill>
            <a:srgbClr val="141B2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8" name="Google Shape;498;p22"/>
          <p:cNvSpPr/>
          <p:nvPr/>
        </p:nvSpPr>
        <p:spPr>
          <a:xfrm>
            <a:off x="1783080" y="3392424"/>
            <a:ext cx="82296" cy="82296"/>
          </a:xfrm>
          <a:prstGeom prst="ellipse">
            <a:avLst/>
          </a:prstGeom>
          <a:solidFill>
            <a:srgbClr val="F2555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9" name="Google Shape;499;p22"/>
          <p:cNvSpPr/>
          <p:nvPr/>
        </p:nvSpPr>
        <p:spPr>
          <a:xfrm>
            <a:off x="1947672" y="3392424"/>
            <a:ext cx="82296" cy="82296"/>
          </a:xfrm>
          <a:prstGeom prst="ellipse">
            <a:avLst/>
          </a:prstGeom>
          <a:solidFill>
            <a:srgbClr val="F2C94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0" name="Google Shape;500;p22"/>
          <p:cNvSpPr/>
          <p:nvPr/>
        </p:nvSpPr>
        <p:spPr>
          <a:xfrm>
            <a:off x="2112264" y="3392424"/>
            <a:ext cx="82296" cy="82296"/>
          </a:xfrm>
          <a:prstGeom prst="ellipse">
            <a:avLst/>
          </a:prstGeom>
          <a:solidFill>
            <a:srgbClr val="3DD68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1" name="Google Shape;501;p22"/>
          <p:cNvSpPr/>
          <p:nvPr/>
        </p:nvSpPr>
        <p:spPr>
          <a:xfrm>
            <a:off x="1828800" y="3630168"/>
            <a:ext cx="941832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300"/>
              <a:buFont typeface="Courier New"/>
              <a:buNone/>
            </a:pPr>
            <a:r>
              <a:rPr b="0" i="0" lang="en-US" sz="1300" u="none" cap="none" strike="noStrike">
                <a:solidFill>
                  <a:srgbClr val="6B7280"/>
                </a:solidFill>
                <a:latin typeface="Courier New"/>
                <a:ea typeface="Courier New"/>
                <a:cs typeface="Courier New"/>
                <a:sym typeface="Courier New"/>
              </a:rPr>
              <a:t>// settings.json — format Python on save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300"/>
              <a:buFont typeface="Courier New"/>
              <a:buNone/>
            </a:pPr>
            <a:r>
              <a:rPr b="0" i="0" lang="en-US" sz="1300" u="none" cap="none" strike="noStrike">
                <a:solidFill>
                  <a:srgbClr val="E5E7EB"/>
                </a:solidFill>
                <a:latin typeface="Courier New"/>
                <a:ea typeface="Courier New"/>
                <a:cs typeface="Courier New"/>
                <a:sym typeface="Courier New"/>
              </a:rPr>
              <a:t>{ "editor.formatOnSave": true,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2A93B"/>
              </a:buClr>
              <a:buSzPts val="1300"/>
              <a:buFont typeface="Courier New"/>
              <a:buNone/>
            </a:pPr>
            <a:r>
              <a:rPr b="0" i="0" lang="en-US" sz="1300" u="none" cap="none" strike="noStrike">
                <a:solidFill>
                  <a:srgbClr val="F2A93B"/>
                </a:solidFill>
                <a:latin typeface="Courier New"/>
                <a:ea typeface="Courier New"/>
                <a:cs typeface="Courier New"/>
                <a:sym typeface="Courier New"/>
              </a:rPr>
              <a:t>  "[python]": { "editor.defaultFormatter": "charliermarsh.ruff" } }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2" name="Google Shape;502;p22"/>
          <p:cNvSpPr/>
          <p:nvPr/>
        </p:nvSpPr>
        <p:spPr>
          <a:xfrm>
            <a:off x="1600200" y="5166360"/>
            <a:ext cx="98755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86AB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2E86AB"/>
                </a:solidFill>
                <a:latin typeface="Calibri"/>
                <a:ea typeface="Calibri"/>
                <a:cs typeface="Calibri"/>
                <a:sym typeface="Calibri"/>
              </a:rPr>
              <a:t>RESOURCES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3" name="Google Shape;503;p22"/>
          <p:cNvSpPr/>
          <p:nvPr/>
        </p:nvSpPr>
        <p:spPr>
          <a:xfrm>
            <a:off x="1600200" y="5458968"/>
            <a:ext cx="9875520" cy="6766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E86AB"/>
              </a:buClr>
              <a:buSzPts val="1200"/>
              <a:buFont typeface="Calibri"/>
              <a:buChar char="→"/>
            </a:pPr>
            <a:r>
              <a:rPr b="0" i="0" lang="en-US" sz="1200" u="sng" cap="none" strike="noStrike">
                <a:solidFill>
                  <a:srgbClr val="2E86AB"/>
                </a:solidFill>
                <a:latin typeface="Calibri"/>
                <a:ea typeface="Calibri"/>
                <a:cs typeface="Calibri"/>
                <a:sym typeface="Calibri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Ruff Documentation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Clr>
                <a:srgbClr val="2E86AB"/>
              </a:buClr>
              <a:buSzPts val="1200"/>
              <a:buFont typeface="Calibri"/>
              <a:buChar char="→"/>
            </a:pPr>
            <a:r>
              <a:rPr b="0" i="0" lang="en-US" sz="1200" u="sng" cap="none" strike="noStrike">
                <a:solidFill>
                  <a:srgbClr val="2E86AB"/>
                </a:solidFill>
                <a:latin typeface="Calibri"/>
                <a:ea typeface="Calibri"/>
                <a:cs typeface="Calibri"/>
                <a:sym typeface="Calibri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VS Code / Cursor Extension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4" name="Google Shape;504;p22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AI Engineering · Week 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5" name="Google Shape;505;p22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21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10" name="Shape 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" name="Google Shape;511;p23"/>
          <p:cNvSpPr/>
          <p:nvPr/>
        </p:nvSpPr>
        <p:spPr>
          <a:xfrm>
            <a:off x="640080" y="457200"/>
            <a:ext cx="777240" cy="777240"/>
          </a:xfrm>
          <a:prstGeom prst="ellipse">
            <a:avLst/>
          </a:prstGeom>
          <a:solidFill>
            <a:srgbClr val="F2A9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2" name="Google Shape;512;p23"/>
          <p:cNvSpPr/>
          <p:nvPr/>
        </p:nvSpPr>
        <p:spPr>
          <a:xfrm>
            <a:off x="640080" y="438912"/>
            <a:ext cx="7772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A38"/>
              </a:buClr>
              <a:buSzPts val="2890"/>
              <a:buFont typeface="Cambria"/>
              <a:buNone/>
            </a:pPr>
            <a:r>
              <a:rPr b="1" i="0" lang="en-US" sz="2890" u="none" cap="none" strike="noStrike">
                <a:solidFill>
                  <a:srgbClr val="1E2A38"/>
                </a:solidFill>
                <a:latin typeface="Cambria"/>
                <a:ea typeface="Cambria"/>
                <a:cs typeface="Cambria"/>
                <a:sym typeface="Cambria"/>
              </a:rPr>
              <a:t>3</a:t>
            </a:r>
            <a:endParaRPr b="0" i="0" sz="289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3" name="Google Shape;513;p23"/>
          <p:cNvSpPr/>
          <p:nvPr/>
        </p:nvSpPr>
        <p:spPr>
          <a:xfrm>
            <a:off x="1600200" y="457200"/>
            <a:ext cx="73152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86AB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2E86AB"/>
                </a:solidFill>
                <a:latin typeface="Calibri"/>
                <a:ea typeface="Calibri"/>
                <a:cs typeface="Calibri"/>
                <a:sym typeface="Calibri"/>
              </a:rPr>
              <a:t>PROJECT SETUP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4" name="Google Shape;514;p23"/>
          <p:cNvSpPr/>
          <p:nvPr/>
        </p:nvSpPr>
        <p:spPr>
          <a:xfrm>
            <a:off x="1600200" y="786384"/>
            <a:ext cx="2468880" cy="310896"/>
          </a:xfrm>
          <a:prstGeom prst="roundRect">
            <a:avLst>
              <a:gd fmla="val 50000" name="adj"/>
            </a:avLst>
          </a:prstGeom>
          <a:solidFill>
            <a:srgbClr val="FDF1DC"/>
          </a:solidFill>
          <a:ln cap="flat" cmpd="sng" w="12700">
            <a:solidFill>
              <a:srgbClr val="F2A9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5" name="Google Shape;515;p23"/>
          <p:cNvSpPr/>
          <p:nvPr/>
        </p:nvSpPr>
        <p:spPr>
          <a:xfrm>
            <a:off x="1600200" y="786384"/>
            <a:ext cx="246888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5750A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B5750A"/>
                </a:solidFill>
                <a:latin typeface="Calibri"/>
                <a:ea typeface="Calibri"/>
                <a:cs typeface="Calibri"/>
                <a:sym typeface="Calibri"/>
              </a:rPr>
              <a:t>OPTIONAL · RECOMMENDED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6" name="Google Shape;516;p23"/>
          <p:cNvSpPr/>
          <p:nvPr/>
        </p:nvSpPr>
        <p:spPr>
          <a:xfrm>
            <a:off x="1600200" y="1115568"/>
            <a:ext cx="98755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A38"/>
              </a:buClr>
              <a:buSzPts val="2700"/>
              <a:buFont typeface="Cambria"/>
              <a:buNone/>
            </a:pPr>
            <a:r>
              <a:rPr b="1" i="0" lang="en-US" sz="2700" u="none" cap="none" strike="noStrike">
                <a:solidFill>
                  <a:srgbClr val="1E2A38"/>
                </a:solidFill>
                <a:latin typeface="Cambria"/>
                <a:ea typeface="Cambria"/>
                <a:cs typeface="Cambria"/>
                <a:sym typeface="Cambria"/>
              </a:rPr>
              <a:t>Install Claude CLI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7" name="Google Shape;517;p23"/>
          <p:cNvSpPr/>
          <p:nvPr/>
        </p:nvSpPr>
        <p:spPr>
          <a:xfrm>
            <a:off x="640080" y="1783080"/>
            <a:ext cx="822960" cy="822960"/>
          </a:xfrm>
          <a:prstGeom prst="ellipse">
            <a:avLst/>
          </a:prstGeom>
          <a:solidFill>
            <a:srgbClr val="1E2A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ai-eng-week1/icons/terminal.png" id="518" name="Google Shape;518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5820" y="1988820"/>
            <a:ext cx="411480" cy="411480"/>
          </a:xfrm>
          <a:prstGeom prst="rect">
            <a:avLst/>
          </a:prstGeom>
          <a:noFill/>
          <a:ln>
            <a:noFill/>
          </a:ln>
        </p:spPr>
      </p:pic>
      <p:sp>
        <p:nvSpPr>
          <p:cNvPr id="519" name="Google Shape;519;p23"/>
          <p:cNvSpPr/>
          <p:nvPr/>
        </p:nvSpPr>
        <p:spPr>
          <a:xfrm>
            <a:off x="1600200" y="1783080"/>
            <a:ext cx="987552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E2A38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1E2A38"/>
                </a:solidFill>
                <a:latin typeface="Calibri"/>
                <a:ea typeface="Calibri"/>
                <a:cs typeface="Calibri"/>
                <a:sym typeface="Calibri"/>
              </a:rPr>
              <a:t>The Claude CLI lets you work with Claude directly from your terminal — reading, writing, and running code alongside you.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0" name="Google Shape;520;p23"/>
          <p:cNvSpPr/>
          <p:nvPr/>
        </p:nvSpPr>
        <p:spPr>
          <a:xfrm>
            <a:off x="1600200" y="3246120"/>
            <a:ext cx="9875520" cy="1188720"/>
          </a:xfrm>
          <a:prstGeom prst="roundRect">
            <a:avLst>
              <a:gd fmla="val 6154" name="adj"/>
            </a:avLst>
          </a:prstGeom>
          <a:solidFill>
            <a:srgbClr val="141B2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1" name="Google Shape;521;p23"/>
          <p:cNvSpPr/>
          <p:nvPr/>
        </p:nvSpPr>
        <p:spPr>
          <a:xfrm>
            <a:off x="1783080" y="3392424"/>
            <a:ext cx="82296" cy="82296"/>
          </a:xfrm>
          <a:prstGeom prst="ellipse">
            <a:avLst/>
          </a:prstGeom>
          <a:solidFill>
            <a:srgbClr val="F2555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2" name="Google Shape;522;p23"/>
          <p:cNvSpPr/>
          <p:nvPr/>
        </p:nvSpPr>
        <p:spPr>
          <a:xfrm>
            <a:off x="1947672" y="3392424"/>
            <a:ext cx="82296" cy="82296"/>
          </a:xfrm>
          <a:prstGeom prst="ellipse">
            <a:avLst/>
          </a:prstGeom>
          <a:solidFill>
            <a:srgbClr val="F2C94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3" name="Google Shape;523;p23"/>
          <p:cNvSpPr/>
          <p:nvPr/>
        </p:nvSpPr>
        <p:spPr>
          <a:xfrm>
            <a:off x="2112264" y="3392424"/>
            <a:ext cx="82296" cy="82296"/>
          </a:xfrm>
          <a:prstGeom prst="ellipse">
            <a:avLst/>
          </a:prstGeom>
          <a:solidFill>
            <a:srgbClr val="3DD68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4" name="Google Shape;524;p23"/>
          <p:cNvSpPr/>
          <p:nvPr/>
        </p:nvSpPr>
        <p:spPr>
          <a:xfrm>
            <a:off x="1828800" y="3630168"/>
            <a:ext cx="94183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2A93B"/>
              </a:buClr>
              <a:buSzPts val="1300"/>
              <a:buFont typeface="Courier New"/>
              <a:buNone/>
            </a:pPr>
            <a:r>
              <a:rPr b="0" i="0" lang="en-US" sz="1300" u="none" cap="none" strike="noStrike">
                <a:solidFill>
                  <a:srgbClr val="F2A93B"/>
                </a:solidFill>
                <a:latin typeface="Courier New"/>
                <a:ea typeface="Courier New"/>
                <a:cs typeface="Courier New"/>
                <a:sym typeface="Courier New"/>
              </a:rPr>
              <a:t>$ claude --version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300"/>
              <a:buFont typeface="Courier New"/>
              <a:buNone/>
            </a:pPr>
            <a:r>
              <a:rPr b="0" i="0" lang="en-US" sz="1300" u="none" cap="none" strike="noStrike">
                <a:solidFill>
                  <a:srgbClr val="E5E7EB"/>
                </a:solidFill>
                <a:latin typeface="Courier New"/>
                <a:ea typeface="Courier New"/>
                <a:cs typeface="Courier New"/>
                <a:sym typeface="Courier New"/>
              </a:rPr>
              <a:t># follow the official install guide for your OS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5" name="Google Shape;525;p23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AI Engineering · Week 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6" name="Google Shape;526;p23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22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31" name="Shape 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p24"/>
          <p:cNvSpPr/>
          <p:nvPr/>
        </p:nvSpPr>
        <p:spPr>
          <a:xfrm>
            <a:off x="640080" y="457200"/>
            <a:ext cx="777240" cy="777240"/>
          </a:xfrm>
          <a:prstGeom prst="ellipse">
            <a:avLst/>
          </a:prstGeom>
          <a:solidFill>
            <a:srgbClr val="F2A9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3" name="Google Shape;533;p24"/>
          <p:cNvSpPr/>
          <p:nvPr/>
        </p:nvSpPr>
        <p:spPr>
          <a:xfrm>
            <a:off x="640080" y="438912"/>
            <a:ext cx="7772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A38"/>
              </a:buClr>
              <a:buSzPts val="2890"/>
              <a:buFont typeface="Cambria"/>
              <a:buNone/>
            </a:pPr>
            <a:r>
              <a:rPr b="1" i="0" lang="en-US" sz="2890" u="none" cap="none" strike="noStrike">
                <a:solidFill>
                  <a:srgbClr val="1E2A38"/>
                </a:solidFill>
                <a:latin typeface="Cambria"/>
                <a:ea typeface="Cambria"/>
                <a:cs typeface="Cambria"/>
                <a:sym typeface="Cambria"/>
              </a:rPr>
              <a:t>4</a:t>
            </a:r>
            <a:endParaRPr b="0" i="0" sz="289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4" name="Google Shape;534;p24"/>
          <p:cNvSpPr/>
          <p:nvPr/>
        </p:nvSpPr>
        <p:spPr>
          <a:xfrm>
            <a:off x="1600200" y="457200"/>
            <a:ext cx="73152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86AB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2E86AB"/>
                </a:solidFill>
                <a:latin typeface="Calibri"/>
                <a:ea typeface="Calibri"/>
                <a:cs typeface="Calibri"/>
                <a:sym typeface="Calibri"/>
              </a:rPr>
              <a:t>PROJECT SETUP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5" name="Google Shape;535;p24"/>
          <p:cNvSpPr/>
          <p:nvPr/>
        </p:nvSpPr>
        <p:spPr>
          <a:xfrm>
            <a:off x="1600200" y="749808"/>
            <a:ext cx="98755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A38"/>
              </a:buClr>
              <a:buSzPts val="2700"/>
              <a:buFont typeface="Cambria"/>
              <a:buNone/>
            </a:pPr>
            <a:r>
              <a:rPr b="1" i="0" lang="en-US" sz="2700" u="none" cap="none" strike="noStrike">
                <a:solidFill>
                  <a:srgbClr val="1E2A38"/>
                </a:solidFill>
                <a:latin typeface="Cambria"/>
                <a:ea typeface="Cambria"/>
                <a:cs typeface="Cambria"/>
                <a:sym typeface="Cambria"/>
              </a:rPr>
              <a:t>Give Claude Context: CLAUDE.md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6" name="Google Shape;536;p24"/>
          <p:cNvSpPr/>
          <p:nvPr/>
        </p:nvSpPr>
        <p:spPr>
          <a:xfrm>
            <a:off x="640080" y="1783080"/>
            <a:ext cx="822960" cy="822960"/>
          </a:xfrm>
          <a:prstGeom prst="ellipse">
            <a:avLst/>
          </a:prstGeom>
          <a:solidFill>
            <a:srgbClr val="1E2A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ai-eng-week1/icons/filealt.png" id="537" name="Google Shape;537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5820" y="1988820"/>
            <a:ext cx="411480" cy="411480"/>
          </a:xfrm>
          <a:prstGeom prst="rect">
            <a:avLst/>
          </a:prstGeom>
          <a:noFill/>
          <a:ln>
            <a:noFill/>
          </a:ln>
        </p:spPr>
      </p:pic>
      <p:sp>
        <p:nvSpPr>
          <p:cNvPr id="538" name="Google Shape;538;p24"/>
          <p:cNvSpPr/>
          <p:nvPr/>
        </p:nvSpPr>
        <p:spPr>
          <a:xfrm>
            <a:off x="1600200" y="1783080"/>
            <a:ext cx="987552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E2A38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1E2A38"/>
                </a:solidFill>
                <a:latin typeface="Calibri"/>
                <a:ea typeface="Calibri"/>
                <a:cs typeface="Calibri"/>
                <a:sym typeface="Calibri"/>
              </a:rPr>
              <a:t>Create a CLAUDE.md file with general context Claude should know about the project — background it needs, but nothing that requires immediate action.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9" name="Google Shape;539;p24"/>
          <p:cNvSpPr/>
          <p:nvPr/>
        </p:nvSpPr>
        <p:spPr>
          <a:xfrm>
            <a:off x="1600200" y="3246120"/>
            <a:ext cx="9875520" cy="685800"/>
          </a:xfrm>
          <a:prstGeom prst="roundRect">
            <a:avLst>
              <a:gd fmla="val 10667" name="adj"/>
            </a:avLst>
          </a:prstGeom>
          <a:solidFill>
            <a:srgbClr val="F5F7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0" name="Google Shape;540;p24"/>
          <p:cNvSpPr/>
          <p:nvPr/>
        </p:nvSpPr>
        <p:spPr>
          <a:xfrm>
            <a:off x="1828800" y="3246120"/>
            <a:ext cx="94183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50"/>
              <a:buFont typeface="Calibri"/>
              <a:buNone/>
            </a:pPr>
            <a:r>
              <a:rPr b="0" i="1" lang="en-US" sz="125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Include: the project's goal, the tech stack, folder conventions, and your preferred coding style.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1" name="Google Shape;541;p24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AI Engineering · Week 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2" name="Google Shape;542;p24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23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47" name="Shape 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Google Shape;548;p25"/>
          <p:cNvSpPr/>
          <p:nvPr/>
        </p:nvSpPr>
        <p:spPr>
          <a:xfrm>
            <a:off x="640080" y="457200"/>
            <a:ext cx="777240" cy="777240"/>
          </a:xfrm>
          <a:prstGeom prst="ellipse">
            <a:avLst/>
          </a:prstGeom>
          <a:solidFill>
            <a:srgbClr val="F2A9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9" name="Google Shape;549;p25"/>
          <p:cNvSpPr/>
          <p:nvPr/>
        </p:nvSpPr>
        <p:spPr>
          <a:xfrm>
            <a:off x="640080" y="438912"/>
            <a:ext cx="7772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A38"/>
              </a:buClr>
              <a:buSzPts val="2890"/>
              <a:buFont typeface="Cambria"/>
              <a:buNone/>
            </a:pPr>
            <a:r>
              <a:rPr b="1" i="0" lang="en-US" sz="2890" u="none" cap="none" strike="noStrike">
                <a:solidFill>
                  <a:srgbClr val="1E2A38"/>
                </a:solidFill>
                <a:latin typeface="Cambria"/>
                <a:ea typeface="Cambria"/>
                <a:cs typeface="Cambria"/>
                <a:sym typeface="Cambria"/>
              </a:rPr>
              <a:t>5</a:t>
            </a:r>
            <a:endParaRPr b="0" i="0" sz="289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0" name="Google Shape;550;p25"/>
          <p:cNvSpPr/>
          <p:nvPr/>
        </p:nvSpPr>
        <p:spPr>
          <a:xfrm>
            <a:off x="1600200" y="457200"/>
            <a:ext cx="73152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86AB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2E86AB"/>
                </a:solidFill>
                <a:latin typeface="Calibri"/>
                <a:ea typeface="Calibri"/>
                <a:cs typeface="Calibri"/>
                <a:sym typeface="Calibri"/>
              </a:rPr>
              <a:t>PROJECT SETUP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1" name="Google Shape;551;p25"/>
          <p:cNvSpPr/>
          <p:nvPr/>
        </p:nvSpPr>
        <p:spPr>
          <a:xfrm>
            <a:off x="1600200" y="749808"/>
            <a:ext cx="98755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A38"/>
              </a:buClr>
              <a:buSzPts val="2700"/>
              <a:buFont typeface="Cambria"/>
              <a:buNone/>
            </a:pPr>
            <a:r>
              <a:rPr b="1" i="0" lang="en-US" sz="2700" u="none" cap="none" strike="noStrike">
                <a:solidFill>
                  <a:srgbClr val="1E2A38"/>
                </a:solidFill>
                <a:latin typeface="Cambria"/>
                <a:ea typeface="Cambria"/>
                <a:cs typeface="Cambria"/>
                <a:sym typeface="Cambria"/>
              </a:rPr>
              <a:t>Create the Initial Project Structure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2" name="Google Shape;552;p25"/>
          <p:cNvSpPr/>
          <p:nvPr/>
        </p:nvSpPr>
        <p:spPr>
          <a:xfrm>
            <a:off x="640080" y="1783080"/>
            <a:ext cx="822960" cy="822960"/>
          </a:xfrm>
          <a:prstGeom prst="ellipse">
            <a:avLst/>
          </a:prstGeom>
          <a:solidFill>
            <a:srgbClr val="1E2A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ai-eng-week1/icons/sitemap.png" id="553" name="Google Shape;553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5820" y="1988820"/>
            <a:ext cx="411480" cy="411480"/>
          </a:xfrm>
          <a:prstGeom prst="rect">
            <a:avLst/>
          </a:prstGeom>
          <a:noFill/>
          <a:ln>
            <a:noFill/>
          </a:ln>
        </p:spPr>
      </p:pic>
      <p:sp>
        <p:nvSpPr>
          <p:cNvPr id="554" name="Google Shape;554;p25"/>
          <p:cNvSpPr/>
          <p:nvPr/>
        </p:nvSpPr>
        <p:spPr>
          <a:xfrm>
            <a:off x="1600200" y="1783080"/>
            <a:ext cx="987552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E2A38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1E2A38"/>
                </a:solidFill>
                <a:latin typeface="Calibri"/>
                <a:ea typeface="Calibri"/>
                <a:cs typeface="Calibri"/>
                <a:sym typeface="Calibri"/>
              </a:rPr>
              <a:t>“Create the initial project structure exactly as defined in CLAUDE.md. Create the folders and placeholder files only. Do not implement business logic yet.”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5" name="Google Shape;555;p25"/>
          <p:cNvSpPr/>
          <p:nvPr/>
        </p:nvSpPr>
        <p:spPr>
          <a:xfrm>
            <a:off x="1600200" y="3246120"/>
            <a:ext cx="9875520" cy="1828800"/>
          </a:xfrm>
          <a:prstGeom prst="roundRect">
            <a:avLst>
              <a:gd fmla="val 4000" name="adj"/>
            </a:avLst>
          </a:prstGeom>
          <a:solidFill>
            <a:srgbClr val="141B2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6" name="Google Shape;556;p25"/>
          <p:cNvSpPr/>
          <p:nvPr/>
        </p:nvSpPr>
        <p:spPr>
          <a:xfrm>
            <a:off x="1783080" y="3392424"/>
            <a:ext cx="82296" cy="82296"/>
          </a:xfrm>
          <a:prstGeom prst="ellipse">
            <a:avLst/>
          </a:prstGeom>
          <a:solidFill>
            <a:srgbClr val="F2555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7" name="Google Shape;557;p25"/>
          <p:cNvSpPr/>
          <p:nvPr/>
        </p:nvSpPr>
        <p:spPr>
          <a:xfrm>
            <a:off x="1947672" y="3392424"/>
            <a:ext cx="82296" cy="82296"/>
          </a:xfrm>
          <a:prstGeom prst="ellipse">
            <a:avLst/>
          </a:prstGeom>
          <a:solidFill>
            <a:srgbClr val="F2C94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8" name="Google Shape;558;p25"/>
          <p:cNvSpPr/>
          <p:nvPr/>
        </p:nvSpPr>
        <p:spPr>
          <a:xfrm>
            <a:off x="2112264" y="3392424"/>
            <a:ext cx="82296" cy="82296"/>
          </a:xfrm>
          <a:prstGeom prst="ellipse">
            <a:avLst/>
          </a:prstGeom>
          <a:solidFill>
            <a:srgbClr val="3DD68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9" name="Google Shape;559;p25"/>
          <p:cNvSpPr/>
          <p:nvPr/>
        </p:nvSpPr>
        <p:spPr>
          <a:xfrm>
            <a:off x="1828800" y="3630168"/>
            <a:ext cx="9418320" cy="1325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2A93B"/>
              </a:buClr>
              <a:buSzPts val="1300"/>
              <a:buFont typeface="Courier New"/>
              <a:buNone/>
            </a:pPr>
            <a:r>
              <a:rPr b="0" i="0" lang="en-US" sz="1300" u="none" cap="none" strike="noStrike">
                <a:solidFill>
                  <a:srgbClr val="F2A93B"/>
                </a:solidFill>
                <a:latin typeface="Courier New"/>
                <a:ea typeface="Courier New"/>
                <a:cs typeface="Courier New"/>
                <a:sym typeface="Courier New"/>
              </a:rPr>
              <a:t>project/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300"/>
              <a:buFont typeface="Courier New"/>
              <a:buNone/>
            </a:pPr>
            <a:r>
              <a:rPr b="0" i="0" lang="en-US" sz="1300" u="none" cap="none" strike="noStrike">
                <a:solidFill>
                  <a:srgbClr val="E5E7EB"/>
                </a:solidFill>
                <a:latin typeface="Courier New"/>
                <a:ea typeface="Courier New"/>
                <a:cs typeface="Courier New"/>
                <a:sym typeface="Courier New"/>
              </a:rPr>
              <a:t>├── src/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300"/>
              <a:buFont typeface="Courier New"/>
              <a:buNone/>
            </a:pPr>
            <a:r>
              <a:rPr b="0" i="0" lang="en-US" sz="1300" u="none" cap="none" strike="noStrike">
                <a:solidFill>
                  <a:srgbClr val="E5E7EB"/>
                </a:solidFill>
                <a:latin typeface="Courier New"/>
                <a:ea typeface="Courier New"/>
                <a:cs typeface="Courier New"/>
                <a:sym typeface="Courier New"/>
              </a:rPr>
              <a:t>├── tests/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300"/>
              <a:buFont typeface="Courier New"/>
              <a:buNone/>
            </a:pPr>
            <a:r>
              <a:rPr b="0" i="0" lang="en-US" sz="1300" u="none" cap="none" strike="noStrike">
                <a:solidFill>
                  <a:srgbClr val="E5E7EB"/>
                </a:solidFill>
                <a:latin typeface="Courier New"/>
                <a:ea typeface="Courier New"/>
                <a:cs typeface="Courier New"/>
                <a:sym typeface="Courier New"/>
              </a:rPr>
              <a:t>├── main.py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300"/>
              <a:buFont typeface="Courier New"/>
              <a:buNone/>
            </a:pPr>
            <a:r>
              <a:rPr b="0" i="0" lang="en-US" sz="1300" u="none" cap="none" strike="noStrike">
                <a:solidFill>
                  <a:srgbClr val="E5E7EB"/>
                </a:solidFill>
                <a:latin typeface="Courier New"/>
                <a:ea typeface="Courier New"/>
                <a:cs typeface="Courier New"/>
                <a:sym typeface="Courier New"/>
              </a:rPr>
              <a:t>└── CLAUDE.md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0" name="Google Shape;560;p25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AI Engineering · Week 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1" name="Google Shape;561;p25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24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66" name="Shape 5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7" name="Google Shape;567;p26"/>
          <p:cNvSpPr/>
          <p:nvPr/>
        </p:nvSpPr>
        <p:spPr>
          <a:xfrm>
            <a:off x="640080" y="457200"/>
            <a:ext cx="777240" cy="777240"/>
          </a:xfrm>
          <a:prstGeom prst="ellipse">
            <a:avLst/>
          </a:prstGeom>
          <a:solidFill>
            <a:srgbClr val="F2A9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8" name="Google Shape;568;p26"/>
          <p:cNvSpPr/>
          <p:nvPr/>
        </p:nvSpPr>
        <p:spPr>
          <a:xfrm>
            <a:off x="640080" y="438912"/>
            <a:ext cx="7772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A38"/>
              </a:buClr>
              <a:buSzPts val="2890"/>
              <a:buFont typeface="Cambria"/>
              <a:buNone/>
            </a:pPr>
            <a:r>
              <a:rPr b="1" i="0" lang="en-US" sz="2890" u="none" cap="none" strike="noStrike">
                <a:solidFill>
                  <a:srgbClr val="1E2A38"/>
                </a:solidFill>
                <a:latin typeface="Cambria"/>
                <a:ea typeface="Cambria"/>
                <a:cs typeface="Cambria"/>
                <a:sym typeface="Cambria"/>
              </a:rPr>
              <a:t>6</a:t>
            </a:r>
            <a:endParaRPr b="0" i="0" sz="289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9" name="Google Shape;569;p26"/>
          <p:cNvSpPr/>
          <p:nvPr/>
        </p:nvSpPr>
        <p:spPr>
          <a:xfrm>
            <a:off x="1600200" y="457200"/>
            <a:ext cx="73152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86AB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2E86AB"/>
                </a:solidFill>
                <a:latin typeface="Calibri"/>
                <a:ea typeface="Calibri"/>
                <a:cs typeface="Calibri"/>
                <a:sym typeface="Calibri"/>
              </a:rPr>
              <a:t>PROJECT SETUP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0" name="Google Shape;570;p26"/>
          <p:cNvSpPr/>
          <p:nvPr/>
        </p:nvSpPr>
        <p:spPr>
          <a:xfrm>
            <a:off x="1600200" y="749808"/>
            <a:ext cx="98755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A38"/>
              </a:buClr>
              <a:buSzPts val="2700"/>
              <a:buFont typeface="Cambria"/>
              <a:buNone/>
            </a:pPr>
            <a:r>
              <a:rPr b="1" i="0" lang="en-US" sz="2700" u="none" cap="none" strike="noStrike">
                <a:solidFill>
                  <a:srgbClr val="1E2A38"/>
                </a:solidFill>
                <a:latin typeface="Cambria"/>
                <a:ea typeface="Cambria"/>
                <a:cs typeface="Cambria"/>
                <a:sym typeface="Cambria"/>
              </a:rPr>
              <a:t>Hello World in main.py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1" name="Google Shape;571;p26"/>
          <p:cNvSpPr/>
          <p:nvPr/>
        </p:nvSpPr>
        <p:spPr>
          <a:xfrm>
            <a:off x="640080" y="1783080"/>
            <a:ext cx="822960" cy="822960"/>
          </a:xfrm>
          <a:prstGeom prst="ellipse">
            <a:avLst/>
          </a:prstGeom>
          <a:solidFill>
            <a:srgbClr val="1E2A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ai-eng-week1/icons/code.png" id="572" name="Google Shape;572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5820" y="1988820"/>
            <a:ext cx="411480" cy="411480"/>
          </a:xfrm>
          <a:prstGeom prst="rect">
            <a:avLst/>
          </a:prstGeom>
          <a:noFill/>
          <a:ln>
            <a:noFill/>
          </a:ln>
        </p:spPr>
      </p:pic>
      <p:sp>
        <p:nvSpPr>
          <p:cNvPr id="573" name="Google Shape;573;p26"/>
          <p:cNvSpPr/>
          <p:nvPr/>
        </p:nvSpPr>
        <p:spPr>
          <a:xfrm>
            <a:off x="1600200" y="1783080"/>
            <a:ext cx="987552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E2A38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1E2A38"/>
                </a:solidFill>
                <a:latin typeface="Calibri"/>
                <a:ea typeface="Calibri"/>
                <a:cs typeface="Calibri"/>
                <a:sym typeface="Calibri"/>
              </a:rPr>
              <a:t>Confirm the basic structure runs before adding anything else.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4" name="Google Shape;574;p26"/>
          <p:cNvSpPr/>
          <p:nvPr/>
        </p:nvSpPr>
        <p:spPr>
          <a:xfrm>
            <a:off x="1600200" y="3246120"/>
            <a:ext cx="9875520" cy="2148840"/>
          </a:xfrm>
          <a:prstGeom prst="roundRect">
            <a:avLst>
              <a:gd fmla="val 3404" name="adj"/>
            </a:avLst>
          </a:prstGeom>
          <a:solidFill>
            <a:srgbClr val="141B2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5" name="Google Shape;575;p26"/>
          <p:cNvSpPr/>
          <p:nvPr/>
        </p:nvSpPr>
        <p:spPr>
          <a:xfrm>
            <a:off x="1783080" y="3392424"/>
            <a:ext cx="82296" cy="82296"/>
          </a:xfrm>
          <a:prstGeom prst="ellipse">
            <a:avLst/>
          </a:prstGeom>
          <a:solidFill>
            <a:srgbClr val="F2555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6" name="Google Shape;576;p26"/>
          <p:cNvSpPr/>
          <p:nvPr/>
        </p:nvSpPr>
        <p:spPr>
          <a:xfrm>
            <a:off x="1947672" y="3392424"/>
            <a:ext cx="82296" cy="82296"/>
          </a:xfrm>
          <a:prstGeom prst="ellipse">
            <a:avLst/>
          </a:prstGeom>
          <a:solidFill>
            <a:srgbClr val="F2C94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7" name="Google Shape;577;p26"/>
          <p:cNvSpPr/>
          <p:nvPr/>
        </p:nvSpPr>
        <p:spPr>
          <a:xfrm>
            <a:off x="2112264" y="3392424"/>
            <a:ext cx="82296" cy="82296"/>
          </a:xfrm>
          <a:prstGeom prst="ellipse">
            <a:avLst/>
          </a:prstGeom>
          <a:solidFill>
            <a:srgbClr val="3DD68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8" name="Google Shape;578;p26"/>
          <p:cNvSpPr/>
          <p:nvPr/>
        </p:nvSpPr>
        <p:spPr>
          <a:xfrm>
            <a:off x="1828800" y="3630168"/>
            <a:ext cx="9418320" cy="1645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300"/>
              <a:buFont typeface="Courier New"/>
              <a:buNone/>
            </a:pPr>
            <a:r>
              <a:rPr b="0" i="0" lang="en-US" sz="1300" u="none" cap="none" strike="noStrike">
                <a:solidFill>
                  <a:srgbClr val="6B7280"/>
                </a:solidFill>
                <a:latin typeface="Courier New"/>
                <a:ea typeface="Courier New"/>
                <a:cs typeface="Courier New"/>
                <a:sym typeface="Courier New"/>
              </a:rPr>
              <a:t># main.py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300"/>
              <a:buFont typeface="Courier New"/>
              <a:buNone/>
            </a:pPr>
            <a:r>
              <a:rPr b="0" i="0" lang="en-US" sz="1300" u="none" cap="none" strike="noStrike">
                <a:solidFill>
                  <a:srgbClr val="E5E7EB"/>
                </a:solidFill>
                <a:latin typeface="Courier New"/>
                <a:ea typeface="Courier New"/>
                <a:cs typeface="Courier New"/>
                <a:sym typeface="Courier New"/>
              </a:rPr>
              <a:t>def main():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2A93B"/>
              </a:buClr>
              <a:buSzPts val="1300"/>
              <a:buFont typeface="Courier New"/>
              <a:buNone/>
            </a:pPr>
            <a:r>
              <a:rPr b="0" i="0" lang="en-US" sz="1300" u="none" cap="none" strike="noStrike">
                <a:solidFill>
                  <a:srgbClr val="F2A93B"/>
                </a:solidFill>
                <a:latin typeface="Courier New"/>
                <a:ea typeface="Courier New"/>
                <a:cs typeface="Courier New"/>
                <a:sym typeface="Courier New"/>
              </a:rPr>
              <a:t>    print("Hello, AI Engineer!")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</a:pPr>
            <a:r>
              <a:t/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300"/>
              <a:buFont typeface="Courier New"/>
              <a:buNone/>
            </a:pPr>
            <a:r>
              <a:rPr b="0" i="0" lang="en-US" sz="1300" u="none" cap="none" strike="noStrike">
                <a:solidFill>
                  <a:srgbClr val="E5E7EB"/>
                </a:solidFill>
                <a:latin typeface="Courier New"/>
                <a:ea typeface="Courier New"/>
                <a:cs typeface="Courier New"/>
                <a:sym typeface="Courier New"/>
              </a:rPr>
              <a:t>if __name__ == "__main__":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300"/>
              <a:buFont typeface="Courier New"/>
              <a:buNone/>
            </a:pPr>
            <a:r>
              <a:rPr b="0" i="0" lang="en-US" sz="1300" u="none" cap="none" strike="noStrike">
                <a:solidFill>
                  <a:srgbClr val="E5E7EB"/>
                </a:solidFill>
                <a:latin typeface="Courier New"/>
                <a:ea typeface="Courier New"/>
                <a:cs typeface="Courier New"/>
                <a:sym typeface="Courier New"/>
              </a:rPr>
              <a:t>    main()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9" name="Google Shape;579;p26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AI Engineering · Week 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0" name="Google Shape;580;p26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25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85" name="Shape 5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6" name="Google Shape;586;p27"/>
          <p:cNvSpPr/>
          <p:nvPr/>
        </p:nvSpPr>
        <p:spPr>
          <a:xfrm>
            <a:off x="640080" y="457200"/>
            <a:ext cx="777240" cy="777240"/>
          </a:xfrm>
          <a:prstGeom prst="ellipse">
            <a:avLst/>
          </a:prstGeom>
          <a:solidFill>
            <a:srgbClr val="F2A9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7" name="Google Shape;587;p27"/>
          <p:cNvSpPr/>
          <p:nvPr/>
        </p:nvSpPr>
        <p:spPr>
          <a:xfrm>
            <a:off x="640080" y="438912"/>
            <a:ext cx="7772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A38"/>
              </a:buClr>
              <a:buSzPts val="2890"/>
              <a:buFont typeface="Cambria"/>
              <a:buNone/>
            </a:pPr>
            <a:r>
              <a:rPr b="1" i="0" lang="en-US" sz="2890" u="none" cap="none" strike="noStrike">
                <a:solidFill>
                  <a:srgbClr val="1E2A38"/>
                </a:solidFill>
                <a:latin typeface="Cambria"/>
                <a:ea typeface="Cambria"/>
                <a:cs typeface="Cambria"/>
                <a:sym typeface="Cambria"/>
              </a:rPr>
              <a:t>7</a:t>
            </a:r>
            <a:endParaRPr b="0" i="0" sz="289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8" name="Google Shape;588;p27"/>
          <p:cNvSpPr/>
          <p:nvPr/>
        </p:nvSpPr>
        <p:spPr>
          <a:xfrm>
            <a:off x="1600200" y="457200"/>
            <a:ext cx="73152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86AB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2E86AB"/>
                </a:solidFill>
                <a:latin typeface="Calibri"/>
                <a:ea typeface="Calibri"/>
                <a:cs typeface="Calibri"/>
                <a:sym typeface="Calibri"/>
              </a:rPr>
              <a:t>PROJECT SETUP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9" name="Google Shape;589;p27"/>
          <p:cNvSpPr/>
          <p:nvPr/>
        </p:nvSpPr>
        <p:spPr>
          <a:xfrm>
            <a:off x="1600200" y="749808"/>
            <a:ext cx="98755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A38"/>
              </a:buClr>
              <a:buSzPts val="2700"/>
              <a:buFont typeface="Cambria"/>
              <a:buNone/>
            </a:pPr>
            <a:r>
              <a:rPr b="1" i="0" lang="en-US" sz="2700" u="none" cap="none" strike="noStrike">
                <a:solidFill>
                  <a:srgbClr val="1E2A38"/>
                </a:solidFill>
                <a:latin typeface="Cambria"/>
                <a:ea typeface="Cambria"/>
                <a:cs typeface="Cambria"/>
                <a:sym typeface="Cambria"/>
              </a:rPr>
              <a:t>Run uv sync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0" name="Google Shape;590;p27"/>
          <p:cNvSpPr/>
          <p:nvPr/>
        </p:nvSpPr>
        <p:spPr>
          <a:xfrm>
            <a:off x="640080" y="1783080"/>
            <a:ext cx="822960" cy="822960"/>
          </a:xfrm>
          <a:prstGeom prst="ellipse">
            <a:avLst/>
          </a:prstGeom>
          <a:solidFill>
            <a:srgbClr val="1E2A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ai-eng-week1/icons/cubes.png" id="591" name="Google Shape;591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5820" y="1988820"/>
            <a:ext cx="411480" cy="411480"/>
          </a:xfrm>
          <a:prstGeom prst="rect">
            <a:avLst/>
          </a:prstGeom>
          <a:noFill/>
          <a:ln>
            <a:noFill/>
          </a:ln>
        </p:spPr>
      </p:pic>
      <p:sp>
        <p:nvSpPr>
          <p:cNvPr id="592" name="Google Shape;592;p27"/>
          <p:cNvSpPr/>
          <p:nvPr/>
        </p:nvSpPr>
        <p:spPr>
          <a:xfrm>
            <a:off x="1600200" y="1783080"/>
            <a:ext cx="987552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E2A38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1E2A38"/>
                </a:solidFill>
                <a:latin typeface="Calibri"/>
                <a:ea typeface="Calibri"/>
                <a:cs typeface="Calibri"/>
                <a:sym typeface="Calibri"/>
              </a:rPr>
              <a:t>This creates your virtual environment and a uv.lock file — locking exact dependency versions so the project stays reproducible.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3" name="Google Shape;593;p27"/>
          <p:cNvSpPr/>
          <p:nvPr/>
        </p:nvSpPr>
        <p:spPr>
          <a:xfrm>
            <a:off x="1600200" y="3246120"/>
            <a:ext cx="9875520" cy="1005840"/>
          </a:xfrm>
          <a:prstGeom prst="roundRect">
            <a:avLst>
              <a:gd fmla="val 7273" name="adj"/>
            </a:avLst>
          </a:prstGeom>
          <a:solidFill>
            <a:srgbClr val="141B2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4" name="Google Shape;594;p27"/>
          <p:cNvSpPr/>
          <p:nvPr/>
        </p:nvSpPr>
        <p:spPr>
          <a:xfrm>
            <a:off x="1783080" y="3392424"/>
            <a:ext cx="82296" cy="82296"/>
          </a:xfrm>
          <a:prstGeom prst="ellipse">
            <a:avLst/>
          </a:prstGeom>
          <a:solidFill>
            <a:srgbClr val="F2555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5" name="Google Shape;595;p27"/>
          <p:cNvSpPr/>
          <p:nvPr/>
        </p:nvSpPr>
        <p:spPr>
          <a:xfrm>
            <a:off x="1947672" y="3392424"/>
            <a:ext cx="82296" cy="82296"/>
          </a:xfrm>
          <a:prstGeom prst="ellipse">
            <a:avLst/>
          </a:prstGeom>
          <a:solidFill>
            <a:srgbClr val="F2C94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6" name="Google Shape;596;p27"/>
          <p:cNvSpPr/>
          <p:nvPr/>
        </p:nvSpPr>
        <p:spPr>
          <a:xfrm>
            <a:off x="2112264" y="3392424"/>
            <a:ext cx="82296" cy="82296"/>
          </a:xfrm>
          <a:prstGeom prst="ellipse">
            <a:avLst/>
          </a:prstGeom>
          <a:solidFill>
            <a:srgbClr val="3DD68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7" name="Google Shape;597;p27"/>
          <p:cNvSpPr/>
          <p:nvPr/>
        </p:nvSpPr>
        <p:spPr>
          <a:xfrm>
            <a:off x="1828800" y="3630168"/>
            <a:ext cx="94183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2A93B"/>
              </a:buClr>
              <a:buSzPts val="1300"/>
              <a:buFont typeface="Courier New"/>
              <a:buNone/>
            </a:pPr>
            <a:r>
              <a:rPr b="0" i="0" lang="en-US" sz="1300" u="none" cap="none" strike="noStrike">
                <a:solidFill>
                  <a:srgbClr val="F2A93B"/>
                </a:solidFill>
                <a:latin typeface="Courier New"/>
                <a:ea typeface="Courier New"/>
                <a:cs typeface="Courier New"/>
                <a:sym typeface="Courier New"/>
              </a:rPr>
              <a:t>$ uv sync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8" name="Google Shape;598;p27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AI Engineering · Week 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9" name="Google Shape;599;p27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26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04" name="Shape 6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5" name="Google Shape;605;p28"/>
          <p:cNvSpPr/>
          <p:nvPr/>
        </p:nvSpPr>
        <p:spPr>
          <a:xfrm>
            <a:off x="640080" y="457200"/>
            <a:ext cx="777240" cy="777240"/>
          </a:xfrm>
          <a:prstGeom prst="ellipse">
            <a:avLst/>
          </a:prstGeom>
          <a:solidFill>
            <a:srgbClr val="F2A9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6" name="Google Shape;606;p28"/>
          <p:cNvSpPr/>
          <p:nvPr/>
        </p:nvSpPr>
        <p:spPr>
          <a:xfrm>
            <a:off x="640080" y="438912"/>
            <a:ext cx="7772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A38"/>
              </a:buClr>
              <a:buSzPts val="2890"/>
              <a:buFont typeface="Cambria"/>
              <a:buNone/>
            </a:pPr>
            <a:r>
              <a:rPr b="1" i="0" lang="en-US" sz="2890" u="none" cap="none" strike="noStrike">
                <a:solidFill>
                  <a:srgbClr val="1E2A38"/>
                </a:solidFill>
                <a:latin typeface="Cambria"/>
                <a:ea typeface="Cambria"/>
                <a:cs typeface="Cambria"/>
                <a:sym typeface="Cambria"/>
              </a:rPr>
              <a:t>8</a:t>
            </a:r>
            <a:endParaRPr b="0" i="0" sz="289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7" name="Google Shape;607;p28"/>
          <p:cNvSpPr/>
          <p:nvPr/>
        </p:nvSpPr>
        <p:spPr>
          <a:xfrm>
            <a:off x="1600200" y="457200"/>
            <a:ext cx="73152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86AB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2E86AB"/>
                </a:solidFill>
                <a:latin typeface="Calibri"/>
                <a:ea typeface="Calibri"/>
                <a:cs typeface="Calibri"/>
                <a:sym typeface="Calibri"/>
              </a:rPr>
              <a:t>PROJECT SETUP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8" name="Google Shape;608;p28"/>
          <p:cNvSpPr/>
          <p:nvPr/>
        </p:nvSpPr>
        <p:spPr>
          <a:xfrm>
            <a:off x="1600200" y="749808"/>
            <a:ext cx="98755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A38"/>
              </a:buClr>
              <a:buSzPts val="2700"/>
              <a:buFont typeface="Cambria"/>
              <a:buNone/>
            </a:pPr>
            <a:r>
              <a:rPr b="1" i="0" lang="en-US" sz="2700" u="none" cap="none" strike="noStrike">
                <a:solidFill>
                  <a:srgbClr val="1E2A38"/>
                </a:solidFill>
                <a:latin typeface="Cambria"/>
                <a:ea typeface="Cambria"/>
                <a:cs typeface="Cambria"/>
                <a:sym typeface="Cambria"/>
              </a:rPr>
              <a:t>Docker Compose &amp; Docker Run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9" name="Google Shape;609;p28"/>
          <p:cNvSpPr/>
          <p:nvPr/>
        </p:nvSpPr>
        <p:spPr>
          <a:xfrm>
            <a:off x="640080" y="1783080"/>
            <a:ext cx="822960" cy="822960"/>
          </a:xfrm>
          <a:prstGeom prst="ellipse">
            <a:avLst/>
          </a:prstGeom>
          <a:solidFill>
            <a:srgbClr val="1E2A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ai-eng-week1/icons/docker.png" id="610" name="Google Shape;610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5820" y="1988820"/>
            <a:ext cx="411480" cy="411480"/>
          </a:xfrm>
          <a:prstGeom prst="rect">
            <a:avLst/>
          </a:prstGeom>
          <a:noFill/>
          <a:ln>
            <a:noFill/>
          </a:ln>
        </p:spPr>
      </p:pic>
      <p:sp>
        <p:nvSpPr>
          <p:cNvPr id="611" name="Google Shape;611;p28"/>
          <p:cNvSpPr/>
          <p:nvPr/>
        </p:nvSpPr>
        <p:spPr>
          <a:xfrm>
            <a:off x="1600200" y="1783080"/>
            <a:ext cx="987552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E2A38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1E2A38"/>
                </a:solidFill>
                <a:latin typeface="Calibri"/>
                <a:ea typeface="Calibri"/>
                <a:cs typeface="Calibri"/>
                <a:sym typeface="Calibri"/>
              </a:rPr>
              <a:t>Start with the simplest possible setup: a Dockerfile that just copies your current code into the image.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2" name="Google Shape;612;p28"/>
          <p:cNvSpPr/>
          <p:nvPr/>
        </p:nvSpPr>
        <p:spPr>
          <a:xfrm>
            <a:off x="1600200" y="3246120"/>
            <a:ext cx="9875520" cy="1463040"/>
          </a:xfrm>
          <a:prstGeom prst="roundRect">
            <a:avLst>
              <a:gd fmla="val 5000" name="adj"/>
            </a:avLst>
          </a:prstGeom>
          <a:solidFill>
            <a:srgbClr val="141B2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3" name="Google Shape;613;p28"/>
          <p:cNvSpPr/>
          <p:nvPr/>
        </p:nvSpPr>
        <p:spPr>
          <a:xfrm>
            <a:off x="1783080" y="3392424"/>
            <a:ext cx="82296" cy="82296"/>
          </a:xfrm>
          <a:prstGeom prst="ellipse">
            <a:avLst/>
          </a:prstGeom>
          <a:solidFill>
            <a:srgbClr val="F2555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4" name="Google Shape;614;p28"/>
          <p:cNvSpPr/>
          <p:nvPr/>
        </p:nvSpPr>
        <p:spPr>
          <a:xfrm>
            <a:off x="1947672" y="3392424"/>
            <a:ext cx="82296" cy="82296"/>
          </a:xfrm>
          <a:prstGeom prst="ellipse">
            <a:avLst/>
          </a:prstGeom>
          <a:solidFill>
            <a:srgbClr val="F2C94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5" name="Google Shape;615;p28"/>
          <p:cNvSpPr/>
          <p:nvPr/>
        </p:nvSpPr>
        <p:spPr>
          <a:xfrm>
            <a:off x="2112264" y="3392424"/>
            <a:ext cx="82296" cy="82296"/>
          </a:xfrm>
          <a:prstGeom prst="ellipse">
            <a:avLst/>
          </a:prstGeom>
          <a:solidFill>
            <a:srgbClr val="3DD68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6" name="Google Shape;616;p28"/>
          <p:cNvSpPr/>
          <p:nvPr/>
        </p:nvSpPr>
        <p:spPr>
          <a:xfrm>
            <a:off x="1828800" y="3630168"/>
            <a:ext cx="9418320" cy="960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2A93B"/>
              </a:buClr>
              <a:buSzPts val="1300"/>
              <a:buFont typeface="Courier New"/>
              <a:buNone/>
            </a:pPr>
            <a:r>
              <a:rPr b="0" i="0" lang="en-US" sz="1300" u="none" cap="none" strike="noStrike">
                <a:solidFill>
                  <a:srgbClr val="F2A93B"/>
                </a:solidFill>
                <a:latin typeface="Courier New"/>
                <a:ea typeface="Courier New"/>
                <a:cs typeface="Courier New"/>
                <a:sym typeface="Courier New"/>
              </a:rPr>
              <a:t>$ docker compose up --build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2A93B"/>
              </a:buClr>
              <a:buSzPts val="1300"/>
              <a:buFont typeface="Courier New"/>
              <a:buNone/>
            </a:pPr>
            <a:r>
              <a:rPr b="0" i="0" lang="en-US" sz="1300" u="none" cap="none" strike="noStrike">
                <a:solidFill>
                  <a:srgbClr val="F2A93B"/>
                </a:solidFill>
                <a:latin typeface="Courier New"/>
                <a:ea typeface="Courier New"/>
                <a:cs typeface="Courier New"/>
                <a:sym typeface="Courier New"/>
              </a:rPr>
              <a:t>$ docker run your-image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7" name="Google Shape;617;p28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AI Engineering · Week 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8" name="Google Shape;618;p28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27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23" name="Shape 6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" name="Google Shape;624;p29"/>
          <p:cNvSpPr/>
          <p:nvPr/>
        </p:nvSpPr>
        <p:spPr>
          <a:xfrm>
            <a:off x="640080" y="457200"/>
            <a:ext cx="777240" cy="777240"/>
          </a:xfrm>
          <a:prstGeom prst="ellipse">
            <a:avLst/>
          </a:prstGeom>
          <a:solidFill>
            <a:srgbClr val="F2A9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5" name="Google Shape;625;p29"/>
          <p:cNvSpPr/>
          <p:nvPr/>
        </p:nvSpPr>
        <p:spPr>
          <a:xfrm>
            <a:off x="640080" y="438912"/>
            <a:ext cx="7772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A38"/>
              </a:buClr>
              <a:buSzPts val="2890"/>
              <a:buFont typeface="Cambria"/>
              <a:buNone/>
            </a:pPr>
            <a:r>
              <a:rPr b="1" i="0" lang="en-US" sz="2890" u="none" cap="none" strike="noStrike">
                <a:solidFill>
                  <a:srgbClr val="1E2A38"/>
                </a:solidFill>
                <a:latin typeface="Cambria"/>
                <a:ea typeface="Cambria"/>
                <a:cs typeface="Cambria"/>
                <a:sym typeface="Cambria"/>
              </a:rPr>
              <a:t>9</a:t>
            </a:r>
            <a:endParaRPr b="0" i="0" sz="289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6" name="Google Shape;626;p29"/>
          <p:cNvSpPr/>
          <p:nvPr/>
        </p:nvSpPr>
        <p:spPr>
          <a:xfrm>
            <a:off x="1600200" y="457200"/>
            <a:ext cx="73152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86AB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2E86AB"/>
                </a:solidFill>
                <a:latin typeface="Calibri"/>
                <a:ea typeface="Calibri"/>
                <a:cs typeface="Calibri"/>
                <a:sym typeface="Calibri"/>
              </a:rPr>
              <a:t>PROJECT SETUP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7" name="Google Shape;627;p29"/>
          <p:cNvSpPr/>
          <p:nvPr/>
        </p:nvSpPr>
        <p:spPr>
          <a:xfrm>
            <a:off x="1600200" y="749808"/>
            <a:ext cx="98755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A38"/>
              </a:buClr>
              <a:buSzPts val="2700"/>
              <a:buFont typeface="Cambria"/>
              <a:buNone/>
            </a:pPr>
            <a:r>
              <a:rPr b="1" i="0" lang="en-US" sz="2700" u="none" cap="none" strike="noStrike">
                <a:solidFill>
                  <a:srgbClr val="1E2A38"/>
                </a:solidFill>
                <a:latin typeface="Cambria"/>
                <a:ea typeface="Cambria"/>
                <a:cs typeface="Cambria"/>
                <a:sym typeface="Cambria"/>
              </a:rPr>
              <a:t>GitHub Authentication &amp; .env Setup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8" name="Google Shape;628;p29"/>
          <p:cNvSpPr/>
          <p:nvPr/>
        </p:nvSpPr>
        <p:spPr>
          <a:xfrm>
            <a:off x="640080" y="1783080"/>
            <a:ext cx="685800" cy="685800"/>
          </a:xfrm>
          <a:prstGeom prst="ellipse">
            <a:avLst/>
          </a:prstGeom>
          <a:solidFill>
            <a:srgbClr val="1E2A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ai-eng-week1/icons/github.png" id="629" name="Google Shape;629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4385" y="1937385"/>
            <a:ext cx="377190" cy="377190"/>
          </a:xfrm>
          <a:prstGeom prst="rect">
            <a:avLst/>
          </a:prstGeom>
          <a:noFill/>
          <a:ln>
            <a:noFill/>
          </a:ln>
        </p:spPr>
      </p:pic>
      <p:sp>
        <p:nvSpPr>
          <p:cNvPr id="630" name="Google Shape;630;p29"/>
          <p:cNvSpPr/>
          <p:nvPr/>
        </p:nvSpPr>
        <p:spPr>
          <a:xfrm>
            <a:off x="640080" y="2606040"/>
            <a:ext cx="5257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A38"/>
              </a:buClr>
              <a:buSzPts val="1800"/>
              <a:buFont typeface="Cambria"/>
              <a:buNone/>
            </a:pPr>
            <a:r>
              <a:rPr b="1" i="0" lang="en-US" sz="1800" u="none" cap="none" strike="noStrike">
                <a:solidFill>
                  <a:srgbClr val="1E2A38"/>
                </a:solidFill>
                <a:latin typeface="Cambria"/>
                <a:ea typeface="Cambria"/>
                <a:cs typeface="Cambria"/>
                <a:sym typeface="Cambria"/>
              </a:rPr>
              <a:t>GitHub Authentication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1" name="Google Shape;631;p29"/>
          <p:cNvSpPr/>
          <p:nvPr/>
        </p:nvSpPr>
        <p:spPr>
          <a:xfrm>
            <a:off x="640080" y="3108960"/>
            <a:ext cx="52578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E2A38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1E2A38"/>
                </a:solidFill>
                <a:latin typeface="Calibri"/>
                <a:ea typeface="Calibri"/>
                <a:cs typeface="Calibri"/>
                <a:sym typeface="Calibri"/>
              </a:rPr>
              <a:t>Set up SSH or a personal access token so you can push your work. We'll walk through the steps together — or ask Claude/ChatGPT for a guided, step-by-step tutorial.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2" name="Google Shape;632;p29"/>
          <p:cNvSpPr/>
          <p:nvPr/>
        </p:nvSpPr>
        <p:spPr>
          <a:xfrm>
            <a:off x="6263640" y="1783080"/>
            <a:ext cx="685800" cy="685800"/>
          </a:xfrm>
          <a:prstGeom prst="ellipse">
            <a:avLst/>
          </a:prstGeom>
          <a:solidFill>
            <a:srgbClr val="1E2A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ai-eng-week1/icons/key.png" id="633" name="Google Shape;633;p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435090" y="1954530"/>
            <a:ext cx="342900" cy="3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634" name="Google Shape;634;p29"/>
          <p:cNvSpPr/>
          <p:nvPr/>
        </p:nvSpPr>
        <p:spPr>
          <a:xfrm>
            <a:off x="6263640" y="2606040"/>
            <a:ext cx="5257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A38"/>
              </a:buClr>
              <a:buSzPts val="1800"/>
              <a:buFont typeface="Cambria"/>
              <a:buNone/>
            </a:pPr>
            <a:r>
              <a:rPr b="1" i="0" lang="en-US" sz="1800" u="none" cap="none" strike="noStrike">
                <a:solidFill>
                  <a:srgbClr val="1E2A38"/>
                </a:solidFill>
                <a:latin typeface="Cambria"/>
                <a:ea typeface="Cambria"/>
                <a:cs typeface="Cambria"/>
                <a:sym typeface="Cambria"/>
              </a:rPr>
              <a:t>.env Setup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5" name="Google Shape;635;p29"/>
          <p:cNvSpPr/>
          <p:nvPr/>
        </p:nvSpPr>
        <p:spPr>
          <a:xfrm>
            <a:off x="6263640" y="3108960"/>
            <a:ext cx="52578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E2A38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1E2A38"/>
                </a:solidFill>
                <a:latin typeface="Calibri"/>
                <a:ea typeface="Calibri"/>
                <a:cs typeface="Calibri"/>
                <a:sym typeface="Calibri"/>
              </a:rPr>
              <a:t>Copy the example environment file and fill in your own keys (including your OpenAI key).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6" name="Google Shape;636;p29"/>
          <p:cNvSpPr/>
          <p:nvPr/>
        </p:nvSpPr>
        <p:spPr>
          <a:xfrm>
            <a:off x="6263640" y="3886200"/>
            <a:ext cx="5257800" cy="1005840"/>
          </a:xfrm>
          <a:prstGeom prst="roundRect">
            <a:avLst>
              <a:gd fmla="val 7273" name="adj"/>
            </a:avLst>
          </a:prstGeom>
          <a:solidFill>
            <a:srgbClr val="141B2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7" name="Google Shape;637;p29"/>
          <p:cNvSpPr/>
          <p:nvPr/>
        </p:nvSpPr>
        <p:spPr>
          <a:xfrm>
            <a:off x="6446520" y="4032504"/>
            <a:ext cx="82296" cy="82296"/>
          </a:xfrm>
          <a:prstGeom prst="ellipse">
            <a:avLst/>
          </a:prstGeom>
          <a:solidFill>
            <a:srgbClr val="F2555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8" name="Google Shape;638;p29"/>
          <p:cNvSpPr/>
          <p:nvPr/>
        </p:nvSpPr>
        <p:spPr>
          <a:xfrm>
            <a:off x="6611112" y="4032504"/>
            <a:ext cx="82296" cy="82296"/>
          </a:xfrm>
          <a:prstGeom prst="ellipse">
            <a:avLst/>
          </a:prstGeom>
          <a:solidFill>
            <a:srgbClr val="F2C94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9" name="Google Shape;639;p29"/>
          <p:cNvSpPr/>
          <p:nvPr/>
        </p:nvSpPr>
        <p:spPr>
          <a:xfrm>
            <a:off x="6775704" y="4032504"/>
            <a:ext cx="82296" cy="82296"/>
          </a:xfrm>
          <a:prstGeom prst="ellipse">
            <a:avLst/>
          </a:prstGeom>
          <a:solidFill>
            <a:srgbClr val="3DD68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0" name="Google Shape;640;p29"/>
          <p:cNvSpPr/>
          <p:nvPr/>
        </p:nvSpPr>
        <p:spPr>
          <a:xfrm>
            <a:off x="6492240" y="4270248"/>
            <a:ext cx="4800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2A93B"/>
              </a:buClr>
              <a:buSzPts val="1300"/>
              <a:buFont typeface="Courier New"/>
              <a:buNone/>
            </a:pPr>
            <a:r>
              <a:rPr b="0" i="0" lang="en-US" sz="1300" u="none" cap="none" strike="noStrike">
                <a:solidFill>
                  <a:srgbClr val="F2A93B"/>
                </a:solidFill>
                <a:latin typeface="Courier New"/>
                <a:ea typeface="Courier New"/>
                <a:cs typeface="Courier New"/>
                <a:sym typeface="Courier New"/>
              </a:rPr>
              <a:t>$ cp .env.example .env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1" name="Google Shape;641;p29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AI Engineering · Week 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2" name="Google Shape;642;p29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28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47" name="Shape 6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8" name="Google Shape;648;p30"/>
          <p:cNvSpPr/>
          <p:nvPr/>
        </p:nvSpPr>
        <p:spPr>
          <a:xfrm>
            <a:off x="640080" y="457200"/>
            <a:ext cx="777240" cy="777240"/>
          </a:xfrm>
          <a:prstGeom prst="ellipse">
            <a:avLst/>
          </a:prstGeom>
          <a:solidFill>
            <a:srgbClr val="F2A9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9" name="Google Shape;649;p30"/>
          <p:cNvSpPr/>
          <p:nvPr/>
        </p:nvSpPr>
        <p:spPr>
          <a:xfrm>
            <a:off x="640080" y="438912"/>
            <a:ext cx="7772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A38"/>
              </a:buClr>
              <a:buSzPts val="2890"/>
              <a:buFont typeface="Cambria"/>
              <a:buNone/>
            </a:pPr>
            <a:r>
              <a:rPr b="1" i="0" lang="en-US" sz="2890" u="none" cap="none" strike="noStrike">
                <a:solidFill>
                  <a:srgbClr val="1E2A38"/>
                </a:solidFill>
                <a:latin typeface="Cambria"/>
                <a:ea typeface="Cambria"/>
                <a:cs typeface="Cambria"/>
                <a:sym typeface="Cambria"/>
              </a:rPr>
              <a:t>10</a:t>
            </a:r>
            <a:endParaRPr b="0" i="0" sz="289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0" name="Google Shape;650;p30"/>
          <p:cNvSpPr/>
          <p:nvPr/>
        </p:nvSpPr>
        <p:spPr>
          <a:xfrm>
            <a:off x="1600200" y="457200"/>
            <a:ext cx="73152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86AB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2E86AB"/>
                </a:solidFill>
                <a:latin typeface="Calibri"/>
                <a:ea typeface="Calibri"/>
                <a:cs typeface="Calibri"/>
                <a:sym typeface="Calibri"/>
              </a:rPr>
              <a:t>PROJECT SETUP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1" name="Google Shape;651;p30"/>
          <p:cNvSpPr/>
          <p:nvPr/>
        </p:nvSpPr>
        <p:spPr>
          <a:xfrm>
            <a:off x="1600200" y="749808"/>
            <a:ext cx="98755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A38"/>
              </a:buClr>
              <a:buSzPts val="2700"/>
              <a:buFont typeface="Cambria"/>
              <a:buNone/>
            </a:pPr>
            <a:r>
              <a:rPr b="1" i="0" lang="en-US" sz="2700" u="none" cap="none" strike="noStrike">
                <a:solidFill>
                  <a:srgbClr val="1E2A38"/>
                </a:solidFill>
                <a:latin typeface="Cambria"/>
                <a:ea typeface="Cambria"/>
                <a:cs typeface="Cambria"/>
                <a:sym typeface="Cambria"/>
              </a:rPr>
              <a:t>Understanding .env.example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2" name="Google Shape;652;p30"/>
          <p:cNvSpPr/>
          <p:nvPr/>
        </p:nvSpPr>
        <p:spPr>
          <a:xfrm>
            <a:off x="640080" y="1783080"/>
            <a:ext cx="822960" cy="822960"/>
          </a:xfrm>
          <a:prstGeom prst="ellipse">
            <a:avLst/>
          </a:prstGeom>
          <a:solidFill>
            <a:srgbClr val="1E2A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ai-eng-week1/icons/filealt.png" id="653" name="Google Shape;653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5820" y="1988820"/>
            <a:ext cx="411480" cy="411480"/>
          </a:xfrm>
          <a:prstGeom prst="rect">
            <a:avLst/>
          </a:prstGeom>
          <a:noFill/>
          <a:ln>
            <a:noFill/>
          </a:ln>
        </p:spPr>
      </p:pic>
      <p:sp>
        <p:nvSpPr>
          <p:cNvPr id="654" name="Google Shape;654;p30"/>
          <p:cNvSpPr/>
          <p:nvPr/>
        </p:nvSpPr>
        <p:spPr>
          <a:xfrm>
            <a:off x="1600200" y="1783080"/>
            <a:ext cx="987552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E2A38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1E2A38"/>
                </a:solidFill>
                <a:latin typeface="Calibri"/>
                <a:ea typeface="Calibri"/>
                <a:cs typeface="Calibri"/>
                <a:sym typeface="Calibri"/>
              </a:rPr>
              <a:t>If you cloned the repo instead of building from scratch, you'll see a .env.example file — a template listing which secrets and settings the project needs, without any real values filled in. Copy it, rename it to .env, and fill in your own keys there.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5" name="Google Shape;655;p30"/>
          <p:cNvSpPr/>
          <p:nvPr/>
        </p:nvSpPr>
        <p:spPr>
          <a:xfrm>
            <a:off x="1600200" y="3246120"/>
            <a:ext cx="9875520" cy="1874520"/>
          </a:xfrm>
          <a:prstGeom prst="roundRect">
            <a:avLst>
              <a:gd fmla="val 3902" name="adj"/>
            </a:avLst>
          </a:prstGeom>
          <a:solidFill>
            <a:srgbClr val="141B2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6" name="Google Shape;656;p30"/>
          <p:cNvSpPr/>
          <p:nvPr/>
        </p:nvSpPr>
        <p:spPr>
          <a:xfrm>
            <a:off x="1783080" y="3392424"/>
            <a:ext cx="82296" cy="82296"/>
          </a:xfrm>
          <a:prstGeom prst="ellipse">
            <a:avLst/>
          </a:prstGeom>
          <a:solidFill>
            <a:srgbClr val="F2555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7" name="Google Shape;657;p30"/>
          <p:cNvSpPr/>
          <p:nvPr/>
        </p:nvSpPr>
        <p:spPr>
          <a:xfrm>
            <a:off x="1947672" y="3392424"/>
            <a:ext cx="82296" cy="82296"/>
          </a:xfrm>
          <a:prstGeom prst="ellipse">
            <a:avLst/>
          </a:prstGeom>
          <a:solidFill>
            <a:srgbClr val="F2C94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8" name="Google Shape;658;p30"/>
          <p:cNvSpPr/>
          <p:nvPr/>
        </p:nvSpPr>
        <p:spPr>
          <a:xfrm>
            <a:off x="2112264" y="3392424"/>
            <a:ext cx="82296" cy="82296"/>
          </a:xfrm>
          <a:prstGeom prst="ellipse">
            <a:avLst/>
          </a:prstGeom>
          <a:solidFill>
            <a:srgbClr val="3DD68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9" name="Google Shape;659;p30"/>
          <p:cNvSpPr/>
          <p:nvPr/>
        </p:nvSpPr>
        <p:spPr>
          <a:xfrm>
            <a:off x="1828800" y="3630168"/>
            <a:ext cx="941832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300"/>
              <a:buFont typeface="Courier New"/>
              <a:buNone/>
            </a:pPr>
            <a:r>
              <a:rPr b="0" i="0" lang="en-US" sz="1300" u="none" cap="none" strike="noStrike">
                <a:solidFill>
                  <a:srgbClr val="6B7280"/>
                </a:solidFill>
                <a:latin typeface="Courier New"/>
                <a:ea typeface="Courier New"/>
                <a:cs typeface="Courier New"/>
                <a:sym typeface="Courier New"/>
              </a:rPr>
              <a:t># .env.example — checked into the repo (safe to commit)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300"/>
              <a:buFont typeface="Courier New"/>
              <a:buNone/>
            </a:pPr>
            <a:r>
              <a:rPr b="0" i="0" lang="en-US" sz="1300" u="none" cap="none" strike="noStrike">
                <a:solidFill>
                  <a:srgbClr val="E5E7EB"/>
                </a:solidFill>
                <a:latin typeface="Courier New"/>
                <a:ea typeface="Courier New"/>
                <a:cs typeface="Courier New"/>
                <a:sym typeface="Courier New"/>
              </a:rPr>
              <a:t>OPENAI_API_KEY=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300"/>
              <a:buFont typeface="Courier New"/>
              <a:buNone/>
            </a:pPr>
            <a:r>
              <a:rPr b="0" i="0" lang="en-US" sz="1300" u="none" cap="none" strike="noStrike">
                <a:solidFill>
                  <a:srgbClr val="E5E7EB"/>
                </a:solidFill>
                <a:latin typeface="Courier New"/>
                <a:ea typeface="Courier New"/>
                <a:cs typeface="Courier New"/>
                <a:sym typeface="Courier New"/>
              </a:rPr>
              <a:t>DATABASE_URL=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</a:pPr>
            <a:r>
              <a:t/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300"/>
              <a:buFont typeface="Courier New"/>
              <a:buNone/>
            </a:pPr>
            <a:r>
              <a:rPr b="0" i="0" lang="en-US" sz="1300" u="none" cap="none" strike="noStrike">
                <a:solidFill>
                  <a:srgbClr val="6B7280"/>
                </a:solidFill>
                <a:latin typeface="Courier New"/>
                <a:ea typeface="Courier New"/>
                <a:cs typeface="Courier New"/>
                <a:sym typeface="Courier New"/>
              </a:rPr>
              <a:t># your local copy — never committed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2A93B"/>
              </a:buClr>
              <a:buSzPts val="1300"/>
              <a:buFont typeface="Courier New"/>
              <a:buNone/>
            </a:pPr>
            <a:r>
              <a:rPr b="0" i="0" lang="en-US" sz="1300" u="none" cap="none" strike="noStrike">
                <a:solidFill>
                  <a:srgbClr val="F2A93B"/>
                </a:solidFill>
                <a:latin typeface="Courier New"/>
                <a:ea typeface="Courier New"/>
                <a:cs typeface="Courier New"/>
                <a:sym typeface="Courier New"/>
              </a:rPr>
              <a:t>$ cp .env.example .env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0" name="Google Shape;660;p30"/>
          <p:cNvSpPr/>
          <p:nvPr/>
        </p:nvSpPr>
        <p:spPr>
          <a:xfrm>
            <a:off x="1600200" y="5440680"/>
            <a:ext cx="9875520" cy="685800"/>
          </a:xfrm>
          <a:prstGeom prst="roundRect">
            <a:avLst>
              <a:gd fmla="val 10667" name="adj"/>
            </a:avLst>
          </a:prstGeom>
          <a:solidFill>
            <a:srgbClr val="F5F7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1" name="Google Shape;661;p30"/>
          <p:cNvSpPr/>
          <p:nvPr/>
        </p:nvSpPr>
        <p:spPr>
          <a:xfrm>
            <a:off x="1828800" y="5440680"/>
            <a:ext cx="94183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50"/>
              <a:buFont typeface="Calibri"/>
              <a:buNone/>
            </a:pPr>
            <a:r>
              <a:rPr b="0" i="1" lang="en-US" sz="125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.env is already in .gitignore — only .env.example should ever be committed.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2" name="Google Shape;662;p30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AI Engineering · Week 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3" name="Google Shape;663;p30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29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68" name="Shape 6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9" name="Google Shape;669;p31"/>
          <p:cNvSpPr/>
          <p:nvPr/>
        </p:nvSpPr>
        <p:spPr>
          <a:xfrm>
            <a:off x="640080" y="457200"/>
            <a:ext cx="777240" cy="777240"/>
          </a:xfrm>
          <a:prstGeom prst="ellipse">
            <a:avLst/>
          </a:prstGeom>
          <a:solidFill>
            <a:srgbClr val="F2A9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0" name="Google Shape;670;p31"/>
          <p:cNvSpPr/>
          <p:nvPr/>
        </p:nvSpPr>
        <p:spPr>
          <a:xfrm>
            <a:off x="640080" y="438912"/>
            <a:ext cx="7772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A38"/>
              </a:buClr>
              <a:buSzPts val="2890"/>
              <a:buFont typeface="Cambria"/>
              <a:buNone/>
            </a:pPr>
            <a:r>
              <a:rPr b="1" i="0" lang="en-US" sz="2890" u="none" cap="none" strike="noStrike">
                <a:solidFill>
                  <a:srgbClr val="1E2A38"/>
                </a:solidFill>
                <a:latin typeface="Cambria"/>
                <a:ea typeface="Cambria"/>
                <a:cs typeface="Cambria"/>
                <a:sym typeface="Cambria"/>
              </a:rPr>
              <a:t>11</a:t>
            </a:r>
            <a:endParaRPr b="0" i="0" sz="289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1" name="Google Shape;671;p31"/>
          <p:cNvSpPr/>
          <p:nvPr/>
        </p:nvSpPr>
        <p:spPr>
          <a:xfrm>
            <a:off x="1600200" y="457200"/>
            <a:ext cx="73152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86AB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2E86AB"/>
                </a:solidFill>
                <a:latin typeface="Calibri"/>
                <a:ea typeface="Calibri"/>
                <a:cs typeface="Calibri"/>
                <a:sym typeface="Calibri"/>
              </a:rPr>
              <a:t>PROJECT SETUP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2" name="Google Shape;672;p31"/>
          <p:cNvSpPr/>
          <p:nvPr/>
        </p:nvSpPr>
        <p:spPr>
          <a:xfrm>
            <a:off x="1600200" y="749808"/>
            <a:ext cx="98755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A38"/>
              </a:buClr>
              <a:buSzPts val="2700"/>
              <a:buFont typeface="Cambria"/>
              <a:buNone/>
            </a:pPr>
            <a:r>
              <a:rPr b="1" i="0" lang="en-US" sz="2700" u="none" cap="none" strike="noStrike">
                <a:solidFill>
                  <a:srgbClr val="1E2A38"/>
                </a:solidFill>
                <a:latin typeface="Cambria"/>
                <a:ea typeface="Cambria"/>
                <a:cs typeface="Cambria"/>
                <a:sym typeface="Cambria"/>
              </a:rPr>
              <a:t>Set Up Your OpenAI API Key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3" name="Google Shape;673;p31"/>
          <p:cNvSpPr/>
          <p:nvPr/>
        </p:nvSpPr>
        <p:spPr>
          <a:xfrm>
            <a:off x="640080" y="1783080"/>
            <a:ext cx="822960" cy="822960"/>
          </a:xfrm>
          <a:prstGeom prst="ellipse">
            <a:avLst/>
          </a:prstGeom>
          <a:solidFill>
            <a:srgbClr val="1E2A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ai-eng-week1/icons/key.png" id="674" name="Google Shape;674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5820" y="1988820"/>
            <a:ext cx="411480" cy="411480"/>
          </a:xfrm>
          <a:prstGeom prst="rect">
            <a:avLst/>
          </a:prstGeom>
          <a:noFill/>
          <a:ln>
            <a:noFill/>
          </a:ln>
        </p:spPr>
      </p:pic>
      <p:sp>
        <p:nvSpPr>
          <p:cNvPr id="675" name="Google Shape;675;p31"/>
          <p:cNvSpPr/>
          <p:nvPr/>
        </p:nvSpPr>
        <p:spPr>
          <a:xfrm>
            <a:off x="1600200" y="1783080"/>
            <a:ext cx="98755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E2A38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1E2A38"/>
                </a:solidFill>
                <a:latin typeface="Calibri"/>
                <a:ea typeface="Calibri"/>
                <a:cs typeface="Calibri"/>
                <a:sym typeface="Calibri"/>
              </a:rPr>
              <a:t>You'll need an OpenAI account and API key to follow along with the exercises.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6" name="Google Shape;676;p31"/>
          <p:cNvSpPr/>
          <p:nvPr/>
        </p:nvSpPr>
        <p:spPr>
          <a:xfrm>
            <a:off x="1600200" y="2377440"/>
            <a:ext cx="9875520" cy="1554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E2A38"/>
              </a:buClr>
              <a:buSzPts val="1450"/>
              <a:buFont typeface="Calibri"/>
              <a:buAutoNum type="arabicPeriod"/>
            </a:pPr>
            <a:r>
              <a:rPr b="0" i="0" lang="en-US" sz="1450" u="none" cap="none" strike="noStrike">
                <a:solidFill>
                  <a:srgbClr val="1E2A38"/>
                </a:solidFill>
                <a:latin typeface="Calibri"/>
                <a:ea typeface="Calibri"/>
                <a:cs typeface="Calibri"/>
                <a:sym typeface="Calibri"/>
              </a:rPr>
              <a:t>Visit platform.openai.com to create an account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lr>
                <a:srgbClr val="1E2A38"/>
              </a:buClr>
              <a:buSzPts val="1450"/>
              <a:buFont typeface="Calibri"/>
              <a:buAutoNum type="arabicPeriod"/>
            </a:pPr>
            <a:r>
              <a:rPr b="0" i="0" lang="en-US" sz="1450" u="none" cap="none" strike="noStrike">
                <a:solidFill>
                  <a:srgbClr val="1E2A38"/>
                </a:solidFill>
                <a:latin typeface="Calibri"/>
                <a:ea typeface="Calibri"/>
                <a:cs typeface="Calibri"/>
                <a:sym typeface="Calibri"/>
              </a:rPr>
              <a:t>Navigate to the API keys section in your account dashboard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lr>
                <a:srgbClr val="1E2A38"/>
              </a:buClr>
              <a:buSzPts val="1450"/>
              <a:buFont typeface="Calibri"/>
              <a:buAutoNum type="arabicPeriod"/>
            </a:pPr>
            <a:r>
              <a:rPr b="0" i="0" lang="en-US" sz="1450" u="none" cap="none" strike="noStrike">
                <a:solidFill>
                  <a:srgbClr val="1E2A38"/>
                </a:solidFill>
                <a:latin typeface="Calibri"/>
                <a:ea typeface="Calibri"/>
                <a:cs typeface="Calibri"/>
                <a:sym typeface="Calibri"/>
              </a:rPr>
              <a:t>Create a new secret key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lr>
                <a:srgbClr val="1E2A38"/>
              </a:buClr>
              <a:buSzPts val="1450"/>
              <a:buFont typeface="Calibri"/>
              <a:buAutoNum type="arabicPeriod"/>
            </a:pPr>
            <a:r>
              <a:rPr b="0" i="0" lang="en-US" sz="1450" u="none" cap="none" strike="noStrike">
                <a:solidFill>
                  <a:srgbClr val="1E2A38"/>
                </a:solidFill>
                <a:latin typeface="Calibri"/>
                <a:ea typeface="Calibri"/>
                <a:cs typeface="Calibri"/>
                <a:sym typeface="Calibri"/>
              </a:rPr>
              <a:t>Store it securely — we'll use environment variables to manage it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7" name="Google Shape;677;p31"/>
          <p:cNvSpPr/>
          <p:nvPr/>
        </p:nvSpPr>
        <p:spPr>
          <a:xfrm>
            <a:off x="1600200" y="4114800"/>
            <a:ext cx="9875520" cy="1097280"/>
          </a:xfrm>
          <a:prstGeom prst="roundRect">
            <a:avLst>
              <a:gd fmla="val 6667" name="adj"/>
            </a:avLst>
          </a:prstGeom>
          <a:solidFill>
            <a:srgbClr val="141B2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8" name="Google Shape;678;p31"/>
          <p:cNvSpPr/>
          <p:nvPr/>
        </p:nvSpPr>
        <p:spPr>
          <a:xfrm>
            <a:off x="1783080" y="4261104"/>
            <a:ext cx="82296" cy="82296"/>
          </a:xfrm>
          <a:prstGeom prst="ellipse">
            <a:avLst/>
          </a:prstGeom>
          <a:solidFill>
            <a:srgbClr val="F2555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9" name="Google Shape;679;p31"/>
          <p:cNvSpPr/>
          <p:nvPr/>
        </p:nvSpPr>
        <p:spPr>
          <a:xfrm>
            <a:off x="1947672" y="4261104"/>
            <a:ext cx="82296" cy="82296"/>
          </a:xfrm>
          <a:prstGeom prst="ellipse">
            <a:avLst/>
          </a:prstGeom>
          <a:solidFill>
            <a:srgbClr val="F2C94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0" name="Google Shape;680;p31"/>
          <p:cNvSpPr/>
          <p:nvPr/>
        </p:nvSpPr>
        <p:spPr>
          <a:xfrm>
            <a:off x="2112264" y="4261104"/>
            <a:ext cx="82296" cy="82296"/>
          </a:xfrm>
          <a:prstGeom prst="ellipse">
            <a:avLst/>
          </a:prstGeom>
          <a:solidFill>
            <a:srgbClr val="3DD68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1" name="Google Shape;681;p31"/>
          <p:cNvSpPr/>
          <p:nvPr/>
        </p:nvSpPr>
        <p:spPr>
          <a:xfrm>
            <a:off x="1828800" y="4498848"/>
            <a:ext cx="94183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300"/>
              <a:buFont typeface="Courier New"/>
              <a:buNone/>
            </a:pPr>
            <a:r>
              <a:rPr b="0" i="0" lang="en-US" sz="1300" u="none" cap="none" strike="noStrike">
                <a:solidFill>
                  <a:srgbClr val="6B7280"/>
                </a:solidFill>
                <a:latin typeface="Courier New"/>
                <a:ea typeface="Courier New"/>
                <a:cs typeface="Courier New"/>
                <a:sym typeface="Courier New"/>
              </a:rPr>
              <a:t># .env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2A93B"/>
              </a:buClr>
              <a:buSzPts val="1300"/>
              <a:buFont typeface="Courier New"/>
              <a:buNone/>
            </a:pPr>
            <a:r>
              <a:rPr b="0" i="0" lang="en-US" sz="1300" u="none" cap="none" strike="noStrike">
                <a:solidFill>
                  <a:srgbClr val="F2A93B"/>
                </a:solidFill>
                <a:latin typeface="Courier New"/>
                <a:ea typeface="Courier New"/>
                <a:cs typeface="Courier New"/>
                <a:sym typeface="Courier New"/>
              </a:rPr>
              <a:t>OPENAI_API_KEY=sk-...your-key-here...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2" name="Google Shape;682;p31"/>
          <p:cNvSpPr/>
          <p:nvPr/>
        </p:nvSpPr>
        <p:spPr>
          <a:xfrm>
            <a:off x="1600200" y="5394960"/>
            <a:ext cx="5486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86AB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2E86AB"/>
                </a:solidFill>
                <a:latin typeface="Calibri"/>
                <a:ea typeface="Calibri"/>
                <a:cs typeface="Calibri"/>
                <a:sym typeface="Calibri"/>
              </a:rPr>
              <a:t>GET YOUR KEY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3" name="Google Shape;683;p31"/>
          <p:cNvSpPr/>
          <p:nvPr/>
        </p:nvSpPr>
        <p:spPr>
          <a:xfrm>
            <a:off x="1600200" y="5687568"/>
            <a:ext cx="54864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E86AB"/>
              </a:buClr>
              <a:buSzPts val="1200"/>
              <a:buFont typeface="Calibri"/>
              <a:buChar char="→"/>
            </a:pPr>
            <a:r>
              <a:rPr b="0" i="0" lang="en-US" sz="1200" u="sng" cap="none" strike="noStrike">
                <a:solidFill>
                  <a:srgbClr val="2E86AB"/>
                </a:solidFill>
                <a:latin typeface="Calibri"/>
                <a:ea typeface="Calibri"/>
                <a:cs typeface="Calibri"/>
                <a:sym typeface="Calibri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platform.openai.com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4" name="Google Shape;684;p31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AI Engineering · Week 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5" name="Google Shape;685;p31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30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A38"/>
        </a:solidFill>
      </p:bgPr>
    </p:bg>
    <p:spTree>
      <p:nvGrpSpPr>
        <p:cNvPr id="690" name="Shape 6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1" name="Google Shape;691;p32"/>
          <p:cNvSpPr/>
          <p:nvPr/>
        </p:nvSpPr>
        <p:spPr>
          <a:xfrm>
            <a:off x="822960" y="640080"/>
            <a:ext cx="7315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A93B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2A93B"/>
                </a:solidFill>
                <a:latin typeface="Calibri"/>
                <a:ea typeface="Calibri"/>
                <a:cs typeface="Calibri"/>
                <a:sym typeface="Calibri"/>
              </a:rPr>
              <a:t>WEEK 1 — RECAP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2" name="Google Shape;692;p32"/>
          <p:cNvSpPr/>
          <p:nvPr/>
        </p:nvSpPr>
        <p:spPr>
          <a:xfrm>
            <a:off x="822960" y="1005840"/>
            <a:ext cx="100584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mbria"/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You're Set Up — What's Next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3" name="Google Shape;693;p32"/>
          <p:cNvSpPr/>
          <p:nvPr/>
        </p:nvSpPr>
        <p:spPr>
          <a:xfrm>
            <a:off x="822960" y="2148840"/>
            <a:ext cx="6583680" cy="274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50"/>
              <a:buFont typeface="Calibri"/>
              <a:buChar char="✓"/>
            </a:pPr>
            <a:r>
              <a:rPr b="0" i="0" lang="en-US" sz="15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Made the mindset shift: practitioner → orchestrator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550"/>
              <a:buFont typeface="Calibri"/>
              <a:buChar char="✓"/>
            </a:pPr>
            <a:r>
              <a:rPr b="0" i="0" lang="en-US" sz="15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Explored the AI News API — the project we're building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550"/>
              <a:buFont typeface="Calibri"/>
              <a:buChar char="✓"/>
            </a:pPr>
            <a:r>
              <a:rPr b="0" i="0" lang="en-US" sz="15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Installed Python, Git, uv, and Docker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550"/>
              <a:buFont typeface="Calibri"/>
              <a:buChar char="✓"/>
            </a:pPr>
            <a:r>
              <a:rPr b="0" i="0" lang="en-US" sz="15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Scaffolded the project structure from CLAUDE.md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550"/>
              <a:buFont typeface="Calibri"/>
              <a:buChar char="✓"/>
            </a:pPr>
            <a:r>
              <a:rPr b="0" i="0" lang="en-US" sz="15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Ran Hello World, uv sync, and docker compose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550"/>
              <a:buFont typeface="Calibri"/>
              <a:buChar char="✓"/>
            </a:pPr>
            <a:r>
              <a:rPr b="0" i="0" lang="en-US" sz="15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Connected GitHub and set up your .env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550"/>
              <a:buFont typeface="Calibri"/>
              <a:buChar char="✓"/>
            </a:pPr>
            <a:r>
              <a:rPr b="0" i="0" lang="en-US" sz="15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Got your OpenAI API key configured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4" name="Google Shape;694;p32"/>
          <p:cNvSpPr/>
          <p:nvPr/>
        </p:nvSpPr>
        <p:spPr>
          <a:xfrm>
            <a:off x="7680960" y="2148840"/>
            <a:ext cx="3840480" cy="2011680"/>
          </a:xfrm>
          <a:prstGeom prst="roundRect">
            <a:avLst>
              <a:gd fmla="val 4545" name="adj"/>
            </a:avLst>
          </a:prstGeom>
          <a:solidFill>
            <a:srgbClr val="2632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5" name="Google Shape;695;p32"/>
          <p:cNvSpPr/>
          <p:nvPr/>
        </p:nvSpPr>
        <p:spPr>
          <a:xfrm>
            <a:off x="7955280" y="2377440"/>
            <a:ext cx="32918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A93B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2A93B"/>
                </a:solidFill>
                <a:latin typeface="Calibri"/>
                <a:ea typeface="Calibri"/>
                <a:cs typeface="Calibri"/>
                <a:sym typeface="Calibri"/>
              </a:rPr>
              <a:t>NEXT SATURDAY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6" name="Google Shape;696;p32"/>
          <p:cNvSpPr/>
          <p:nvPr/>
        </p:nvSpPr>
        <p:spPr>
          <a:xfrm>
            <a:off x="7955280" y="2697480"/>
            <a:ext cx="32918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mbria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Week 2: The LLM Layer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7" name="Google Shape;697;p32"/>
          <p:cNvSpPr/>
          <p:nvPr/>
        </p:nvSpPr>
        <p:spPr>
          <a:xfrm>
            <a:off x="7955280" y="3246120"/>
            <a:ext cx="32918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C7D2DE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C7D2DE"/>
                </a:solidFill>
                <a:latin typeface="Calibri"/>
                <a:ea typeface="Calibri"/>
                <a:cs typeface="Calibri"/>
                <a:sym typeface="Calibri"/>
              </a:rPr>
              <a:t>Connecting your first LLM layer and starting the FastAPI backend.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8" name="Google Shape;698;p32"/>
          <p:cNvSpPr/>
          <p:nvPr/>
        </p:nvSpPr>
        <p:spPr>
          <a:xfrm>
            <a:off x="822960" y="5257800"/>
            <a:ext cx="10543032" cy="822960"/>
          </a:xfrm>
          <a:prstGeom prst="roundRect">
            <a:avLst>
              <a:gd fmla="val 8889" name="adj"/>
            </a:avLst>
          </a:prstGeom>
          <a:solidFill>
            <a:srgbClr val="F2A9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9" name="Google Shape;699;p32"/>
          <p:cNvSpPr/>
          <p:nvPr/>
        </p:nvSpPr>
        <p:spPr>
          <a:xfrm>
            <a:off x="822960" y="5257800"/>
            <a:ext cx="10543032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A38"/>
              </a:buClr>
              <a:buSzPts val="1800"/>
              <a:buFont typeface="Cambria"/>
              <a:buNone/>
            </a:pPr>
            <a:r>
              <a:rPr b="1" i="0" lang="en-US" sz="1800" u="none" cap="none" strike="noStrike">
                <a:solidFill>
                  <a:srgbClr val="1E2A38"/>
                </a:solidFill>
                <a:latin typeface="Cambria"/>
                <a:ea typeface="Cambria"/>
                <a:cs typeface="Cambria"/>
                <a:sym typeface="Cambria"/>
              </a:rPr>
              <a:t>Bring your laptop, your curiosity, and your CLAUDE.md.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0" name="Google Shape;700;p32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AI Engineering · Week 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1" name="Google Shape;701;p32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31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2026-08-15T06:02:01Z</dcterms:created>
  <dc:creator>PptxGenJS</dc:creator>
</cp:coreProperties>
</file>